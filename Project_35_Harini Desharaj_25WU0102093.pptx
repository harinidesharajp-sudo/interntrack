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 id="268" r:id="rId14"/>
    <p:sldId id="269" r:id="rId15"/>
    <p:sldId id="270" r:id="rId16"/>
    <p:sldId id="271" r:id="rId17"/>
    <p:sldId id="272" r:id="rId18"/>
    <p:sldId id="279" r:id="rId19"/>
    <p:sldId id="280" r:id="rId20"/>
    <p:sldId id="285" r:id="rId21"/>
    <p:sldId id="28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04" autoAdjust="0"/>
  </p:normalViewPr>
  <p:slideViewPr>
    <p:cSldViewPr snapToGrid="0" snapToObjects="1">
      <p:cViewPr varScale="1">
        <p:scale>
          <a:sx n="74" d="100"/>
          <a:sy n="74" d="100"/>
        </p:scale>
        <p:origin x="35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9887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phased roadmap of our project. Over 16 weeks, the project followed a structured lifecycle: Review 1 established the problem scope and 12-entity ER architecture. Review 2 transformed this conceptual model into a robust 3NF relational database with integrity triggers and advanced queries. Review 3 integrated the database with a functional Python application, enforcing business logic, ACID transactions, and comprehensive testing.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Review 1, we identified four critical points of friction in traditional internship administration: verification gaps, approval bottlenecks, evaluation failures, and administrative vulnerabilities. Colleges lose significant administrative bandwidth managing manual paperwork, and students risk unverified credits.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literature survey revealed that existing solutions fail academic institutions in two distinct ways: spreadsheets lack relational integrity and version control, while commercial platforms like LinkedIn focus purely on recruitment, completely ignoring university academic compliance, faculty approvals, and weekly progress verification.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is structured upon four core architectural pillars: Centralizing all internship records, enforcing rigorous business and relational integrity constraints, enabling robust multi-table analytical reporting, and providing an intuitive user interface with end-to-end CRUD capabilities.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distinct stakeholder roles interact within the system: Students submit applications and weekly logs; Organizations publish opportunities; Faculty Mentors validate academic eligibility and approve assignments; Company Supervisors direct daily activities and submit evaluations; and Administrators oversee system-wide governance.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SRS defines the software, hardware, and non-functional requirements. The backend utilizes MySQL/PostgreSQL with strict ACID guarantees, connected to a Python front-end via native DB-API connectors. Non-functional focus includes transaction isolation, B-Tree indexed performance, and role-based data security.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presents the exact 12-entity ER Diagram established in Review 1. The architecture anchors on the central Assignment entity, which links the approved student application with both an academic Faculty Mentor and an external Company Supervisor. Downstream transactional entities—Weekly Logs, Evaluations, Certificates, and Feedback—depend directly on this verified Assignment.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formally document the cardinalities and business semantics. Notice the critical 1:1 relationships: Application to Approval, Approval to Assignment, Assignment to Evaluation, and Assignment to Certificate. These enforce business linearity: an assignment cannot exist without an approval, and a certificate cannot be issued without an assignment.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Review 2, we formalized the full set of functional dependencies across all 12 relations. Every relation possesses a well-defined determinant that uniquely identifies all non-key attributes. Notice that in every dependency X -&gt; Y, the determinant X is a candidate key of the relation, which establishes our formal path to 3NF and BCNF.</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details the first 6 tables of the Relational Schema exactly as specified in our project proposal: Students, Organizations, Opportunities, Applications, Approvals, and Faculty_Mentors. Every table features a surrogate or natural primary key, and all inter-table dependencies are linked via strict foreign key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covers the remaining 6 tables: Company_Supervisors, Assignments, Weekly_Logs, Evaluations, Certificates, and Feedback. Assignments acts as the operational bridge uniting approvals, faculty guidance, and corporate oversight. Downstream tables track week-by-week progress, final numerical scores, and completion certificates.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verify 1NF and 2NF. First Normal Form is achieved because all attributes are strictly atomic and non-repeating. Second Normal Form requires that no non-prime attribute depends on a partial composite key. Because our relations utilize atomic, single-attribute primary keys (such as Student_ID, App_ID, and Assignment_ID), partial functional dependencies cannot exist, satisfying 2NF by mathematical definition.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Moving to Third Normal Form and BCNF: A relation is in 3NF if no transitive dependencies exist between non-key attributes. By decomposing mentor profiles into Faculty_Mentors and company representatives into Company_Supervisors, all non-key attributes depend directly and solely on the primary key. This guarantees the complete elimination of insertion, update, and deletion anomalies, while preserving dependencies and ensuring lossless joins.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 Dictionary defines column types, sizes, key types, and constraints. In Slide 15, we show the workflow foundation tables. Notice the use of appropriate precision types: VARCHAR with realistic limits, DECIMAL(10,2) for monetary stipends with CHECK constraints, and ENUM/VARCHAR for state transitions.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2 of the Data Dictionary focuses on runtime and completion tables. Key highlights include CHECK constraints ensuring evaluation scores remain strictly between 0 and 100, and a UNIQUE 64-character verification code on Certificates to guarantee tamper-proof authenticity.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Review 2, we implemented the five mandatory business rules: 1) Preventing overlapping active internships per student; 2) Enforcing faculty approval before assignment allocation; 3) Requiring log dates to fall strictly within internship boundaries; 4) Restricting evaluation scores between 0 and 100; and 5) Enforcing log and evaluation completion before issuing a verified certificate.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ensure high scalability, we implemented targeted B-Tree indexes on frequently filtered foreign keys and query search attributes. Composite indexes on (Student_ID, Status) and (Assignment_ID, Week_Number) reduce scan complexity from O(N) full-table scans to O(log N), ensuring sub-millisecond query execution even with tens of thousands of student records.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Entering Review 3: We designed a robust 3-tier software architecture. The Presentation Layer offers clean role-based dashboards in Python. The Business Logic Layer manages session state, client-side input validation, and parameterized query execution. The Data Access Layer communicates with our normalized MySQL/PostgreSQL engine via connection-pooled DB-API drivers.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System testing was conducted across positive, negative, and boundary scenarios. As documented in our test matrix, every constraint—duplicate prevention, overlapping dates, out-of-bound evaluation marks, and SQL injection attacks—was thoroughly verified and passed successfully.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Project 35 successfully delivers an end-to-end relational database management system that resolves manual coordination chaos, guarantees academic integrity, and streamlines corporate collaboration. I thank my advisor Prof. Sahithi and Woxsen University. I am now open to questions from the honorable panel.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94209"/>
            <a:ext cx="91440" cy="6101395"/>
          </a:xfrm>
          <a:prstGeom prst="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05840" y="388660"/>
            <a:ext cx="4114800" cy="347472"/>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50" b="1">
                <a:solidFill>
                  <a:srgbClr val="E5A93C"/>
                </a:solidFill>
                <a:latin typeface="Calibri"/>
              </a:defRPr>
            </a:pPr>
            <a:r>
              <a:rPr sz="1050" dirty="0"/>
              <a:t>PROJECT 35 • </a:t>
            </a:r>
            <a:r>
              <a:rPr lang="en-US" sz="1050" dirty="0"/>
              <a:t>DBMS </a:t>
            </a:r>
            <a:endParaRPr sz="1050" dirty="0"/>
          </a:p>
        </p:txBody>
      </p:sp>
      <p:sp>
        <p:nvSpPr>
          <p:cNvPr id="5" name="TextBox 4"/>
          <p:cNvSpPr txBox="1"/>
          <p:nvPr/>
        </p:nvSpPr>
        <p:spPr>
          <a:xfrm>
            <a:off x="1302173" y="1067782"/>
            <a:ext cx="10611894" cy="984885"/>
          </a:xfrm>
          <a:prstGeom prst="rect">
            <a:avLst/>
          </a:prstGeom>
          <a:noFill/>
        </p:spPr>
        <p:txBody>
          <a:bodyPr wrap="square" lIns="0" tIns="0" rIns="0" bIns="0">
            <a:spAutoFit/>
          </a:bodyPr>
          <a:lstStyle/>
          <a:p>
            <a:pPr>
              <a:spcAft>
                <a:spcPts val="1200"/>
              </a:spcAft>
              <a:defRPr sz="3200" b="1">
                <a:solidFill>
                  <a:srgbClr val="FFFFFF"/>
                </a:solidFill>
                <a:latin typeface="Georgia"/>
              </a:defRPr>
            </a:pPr>
            <a:r>
              <a:rPr dirty="0"/>
              <a:t>Database Management System for</a:t>
            </a:r>
            <a:br>
              <a:rPr dirty="0"/>
            </a:br>
            <a:r>
              <a:rPr dirty="0"/>
              <a:t>Internship Application &amp; Progress Monitoring</a:t>
            </a:r>
          </a:p>
        </p:txBody>
      </p:sp>
      <p:sp>
        <p:nvSpPr>
          <p:cNvPr id="6" name="Rounded Rectangle 5"/>
          <p:cNvSpPr/>
          <p:nvPr/>
        </p:nvSpPr>
        <p:spPr>
          <a:xfrm>
            <a:off x="1078997" y="2320507"/>
            <a:ext cx="10611895" cy="3424838"/>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lIns="274320" tIns="182880" rtlCol="0" anchor="ctr"/>
          <a:lstStyle/>
          <a:p>
            <a:pPr algn="ctr"/>
            <a:r>
              <a:rPr b="1" dirty="0">
                <a:solidFill>
                  <a:srgbClr val="E5A93C"/>
                </a:solidFill>
              </a:rPr>
              <a:t>Candidate: </a:t>
            </a:r>
            <a:r>
              <a:rPr dirty="0">
                <a:solidFill>
                  <a:srgbClr val="FFFFFF"/>
                </a:solidFill>
              </a:rPr>
              <a:t>Harini Desharaj  |  Roll No: 25WU0102093  |  Cohort: AIML Leopards 2025–29
</a:t>
            </a:r>
          </a:p>
          <a:p>
            <a:r>
              <a:rPr b="1" dirty="0">
                <a:solidFill>
                  <a:srgbClr val="E5A93C"/>
                </a:solidFill>
              </a:rPr>
              <a:t>Faculty Advisor: </a:t>
            </a:r>
            <a:r>
              <a:rPr lang="en-US" dirty="0">
                <a:solidFill>
                  <a:schemeClr val="bg1">
                    <a:lumMod val="85000"/>
                  </a:schemeClr>
                </a:solidFill>
              </a:rPr>
              <a:t>Dr. C Nagaraju</a:t>
            </a:r>
            <a:r>
              <a:rPr dirty="0">
                <a:solidFill>
                  <a:srgbClr val="FFFFFF"/>
                </a:solidFill>
              </a:rPr>
              <a:t>| School of Technology (SOT), Woxsen University, </a:t>
            </a:r>
            <a:r>
              <a:rPr dirty="0" err="1">
                <a:solidFill>
                  <a:srgbClr val="FFFFFF"/>
                </a:solidFill>
              </a:rPr>
              <a:t>Kamkole</a:t>
            </a:r>
            <a:r>
              <a:rPr dirty="0">
                <a:solidFill>
                  <a:srgbClr val="FFFFFF"/>
                </a:solidFill>
              </a:rPr>
              <a:t>
</a:t>
            </a:r>
          </a:p>
          <a:p>
            <a:r>
              <a:rPr b="1" dirty="0">
                <a:solidFill>
                  <a:srgbClr val="4ECCA3"/>
                </a:solidFill>
              </a:rPr>
              <a:t>Core Pillars: </a:t>
            </a:r>
            <a:r>
              <a:rPr dirty="0">
                <a:solidFill>
                  <a:srgbClr val="A5ACB9"/>
                </a:solidFill>
              </a:rPr>
              <a:t>Conceptual ER Modeling • 3NF Relational Decomposition • Integrity Constraints • Advanced SQL • Full-Stack CRUD Application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50" b="1">
                <a:solidFill>
                  <a:srgbClr val="E5A93C"/>
                </a:solidFill>
                <a:latin typeface="Calibri"/>
              </a:defRPr>
            </a:pPr>
            <a:r>
              <a:rPr kumimoji="0" sz="950" b="1" i="0" u="none" strike="noStrike" kern="1200" cap="none" spc="0" normalizeH="0" baseline="0" noProof="0">
                <a:ln>
                  <a:noFill/>
                </a:ln>
                <a:solidFill>
                  <a:srgbClr val="E5A93C"/>
                </a:solidFill>
                <a:effectLst/>
                <a:uLnTx/>
                <a:uFillTx/>
                <a:latin typeface="Calibri"/>
                <a:ea typeface="+mn-ea"/>
                <a:cs typeface="+mn-cs"/>
              </a:rPr>
              <a:t>EXECUTIVE SUMMARY</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100" b="1">
                <a:solidFill>
                  <a:srgbClr val="FFFFFF"/>
                </a:solidFill>
                <a:latin typeface="Georgia"/>
              </a:defRPr>
            </a:pPr>
            <a:r>
              <a:rPr kumimoji="0" sz="2100" b="1" i="0" u="none" strike="noStrike" kern="1200" cap="none" spc="0" normalizeH="0" baseline="0" noProof="0">
                <a:ln>
                  <a:noFill/>
                </a:ln>
                <a:solidFill>
                  <a:srgbClr val="FFFFFF"/>
                </a:solidFill>
                <a:effectLst/>
                <a:uLnTx/>
                <a:uFillTx/>
                <a:latin typeface="Georgia"/>
                <a:ea typeface="+mn-ea"/>
                <a:cs typeface="+mn-cs"/>
              </a:rPr>
              <a:t>Project Roadmap: Three-Phase Lifecycle</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50" b="1">
                <a:solidFill>
                  <a:srgbClr val="FFD778"/>
                </a:solidFill>
                <a:latin typeface="Calibri"/>
              </a:defRPr>
            </a:pPr>
            <a:r>
              <a:rPr kumimoji="0" sz="850" b="1" i="0" u="none" strike="noStrike" kern="1200" cap="none" spc="0" normalizeH="0" baseline="0" noProof="0">
                <a:ln>
                  <a:noFill/>
                </a:ln>
                <a:solidFill>
                  <a:srgbClr val="FFD778"/>
                </a:solidFill>
                <a:effectLst/>
                <a:uLnTx/>
                <a:uFillTx/>
                <a:latin typeface="Calibri"/>
                <a:ea typeface="+mn-ea"/>
                <a:cs typeface="+mn-cs"/>
              </a:rPr>
              <a:t>ROADMAP</a:t>
            </a:r>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850">
                <a:solidFill>
                  <a:srgbClr val="737A87"/>
                </a:solidFill>
                <a:latin typeface="Calibri"/>
              </a:defRPr>
            </a:pPr>
            <a:r>
              <a:rPr kumimoji="0" sz="850" b="0" i="0" u="none" strike="noStrike" kern="1200" cap="none" spc="0" normalizeH="0" baseline="0" noProof="0">
                <a:ln>
                  <a:noFill/>
                </a:ln>
                <a:solidFill>
                  <a:srgbClr val="737A87"/>
                </a:solidFill>
                <a:effectLst/>
                <a:uLnTx/>
                <a:uFillTx/>
                <a:latin typeface="Calibri"/>
                <a:ea typeface="+mn-ea"/>
                <a:cs typeface="+mn-cs"/>
              </a:rPr>
              <a:t>Harini Desharaj | 25WU0102093 | AIML Leopards 2025–29 | Advisor: Prof. Sahithi | Woxsen University</a:t>
            </a:r>
          </a:p>
        </p:txBody>
      </p:sp>
      <p:sp>
        <p:nvSpPr>
          <p:cNvPr id="9" name="Rounded Rectangle 8"/>
          <p:cNvSpPr/>
          <p:nvPr/>
        </p:nvSpPr>
        <p:spPr>
          <a:xfrm>
            <a:off x="731520" y="1645920"/>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ounded Rectangle 9"/>
          <p:cNvSpPr/>
          <p:nvPr/>
        </p:nvSpPr>
        <p:spPr>
          <a:xfrm>
            <a:off x="756920" y="1501648"/>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914400" y="1810512"/>
            <a:ext cx="2962656" cy="422452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sz="1300" b="1">
                <a:solidFill>
                  <a:srgbClr val="FFD778"/>
                </a:solidFill>
                <a:latin typeface="Georgia"/>
              </a:defRPr>
            </a:pPr>
            <a:r>
              <a:rPr kumimoji="0" sz="1300" b="1" i="0" u="none" strike="noStrike" kern="1200" cap="none" spc="0" normalizeH="0" baseline="0" noProof="0">
                <a:ln>
                  <a:noFill/>
                </a:ln>
                <a:solidFill>
                  <a:srgbClr val="FFD778"/>
                </a:solidFill>
                <a:effectLst/>
                <a:uLnTx/>
                <a:uFillTx/>
                <a:latin typeface="Georgia"/>
                <a:ea typeface="+mn-ea"/>
                <a:cs typeface="+mn-cs"/>
              </a:rPr>
              <a:t>Phase 1: Conceptual Design</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Timeline: </a:t>
            </a:r>
            <a:r>
              <a:rPr kumimoji="0" sz="1000" b="0" i="0" u="none" strike="noStrike" kern="1200" cap="none" spc="0" normalizeH="0" baseline="0" noProof="0">
                <a:ln>
                  <a:noFill/>
                </a:ln>
                <a:solidFill>
                  <a:srgbClr val="A5ACB9"/>
                </a:solidFill>
                <a:effectLst/>
                <a:uLnTx/>
                <a:uFillTx/>
                <a:latin typeface="Calibri"/>
                <a:ea typeface="+mn-ea"/>
                <a:cs typeface="+mn-cs"/>
              </a:rPr>
              <a:t>Weeks 1–7 (Review 1 Deliverable)</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Problem Formulation: </a:t>
            </a:r>
            <a:r>
              <a:rPr kumimoji="0" sz="1000" b="0" i="0" u="none" strike="noStrike" kern="1200" cap="none" spc="0" normalizeH="0" baseline="0" noProof="0">
                <a:ln>
                  <a:noFill/>
                </a:ln>
                <a:solidFill>
                  <a:srgbClr val="A5ACB9"/>
                </a:solidFill>
                <a:effectLst/>
                <a:uLnTx/>
                <a:uFillTx/>
                <a:latin typeface="Calibri"/>
                <a:ea typeface="+mn-ea"/>
                <a:cs typeface="+mn-cs"/>
              </a:rPr>
              <a:t>Eliminate manual chaos &amp; verification gaps</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Stakeholder Identification: </a:t>
            </a:r>
            <a:r>
              <a:rPr kumimoji="0" sz="1000" b="0" i="0" u="none" strike="noStrike" kern="1200" cap="none" spc="0" normalizeH="0" baseline="0" noProof="0">
                <a:ln>
                  <a:noFill/>
                </a:ln>
                <a:solidFill>
                  <a:srgbClr val="A5ACB9"/>
                </a:solidFill>
                <a:effectLst/>
                <a:uLnTx/>
                <a:uFillTx/>
                <a:latin typeface="Calibri"/>
                <a:ea typeface="+mn-ea"/>
                <a:cs typeface="+mn-cs"/>
              </a:rPr>
              <a:t>5 Core User Roles defined</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Conceptual Modeling: </a:t>
            </a:r>
            <a:r>
              <a:rPr kumimoji="0" sz="1000" b="0" i="0" u="none" strike="noStrike" kern="1200" cap="none" spc="0" normalizeH="0" baseline="0" noProof="0">
                <a:ln>
                  <a:noFill/>
                </a:ln>
                <a:solidFill>
                  <a:srgbClr val="A5ACB9"/>
                </a:solidFill>
                <a:effectLst/>
                <a:uLnTx/>
                <a:uFillTx/>
                <a:latin typeface="Calibri"/>
                <a:ea typeface="+mn-ea"/>
                <a:cs typeface="+mn-cs"/>
              </a:rPr>
              <a:t>12 Principal Entities &amp; Cardinalities</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ER Diagramming: </a:t>
            </a:r>
            <a:r>
              <a:rPr kumimoji="0" sz="1000" b="0" i="0" u="none" strike="noStrike" kern="1200" cap="none" spc="0" normalizeH="0" baseline="0" noProof="0">
                <a:ln>
                  <a:noFill/>
                </a:ln>
                <a:solidFill>
                  <a:srgbClr val="A5ACB9"/>
                </a:solidFill>
                <a:effectLst/>
                <a:uLnTx/>
                <a:uFillTx/>
                <a:latin typeface="Calibri"/>
                <a:ea typeface="+mn-ea"/>
                <a:cs typeface="+mn-cs"/>
              </a:rPr>
              <a:t>Chen &amp; Crow's foot relational associations</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Initial Schema: </a:t>
            </a:r>
            <a:r>
              <a:rPr kumimoji="0" sz="1000" b="0" i="0" u="none" strike="noStrike" kern="1200" cap="none" spc="0" normalizeH="0" baseline="0" noProof="0">
                <a:ln>
                  <a:noFill/>
                </a:ln>
                <a:solidFill>
                  <a:srgbClr val="A5ACB9"/>
                </a:solidFill>
                <a:effectLst/>
                <a:uLnTx/>
                <a:uFillTx/>
                <a:latin typeface="Calibri"/>
                <a:ea typeface="+mn-ea"/>
                <a:cs typeface="+mn-cs"/>
              </a:rPr>
              <a:t>First-cut relational mapping of 12 tables</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System SRS: </a:t>
            </a:r>
            <a:r>
              <a:rPr kumimoji="0" sz="1000" b="0" i="0" u="none" strike="noStrike" kern="1200" cap="none" spc="0" normalizeH="0" baseline="0" noProof="0">
                <a:ln>
                  <a:noFill/>
                </a:ln>
                <a:solidFill>
                  <a:srgbClr val="A5ACB9"/>
                </a:solidFill>
                <a:effectLst/>
                <a:uLnTx/>
                <a:uFillTx/>
                <a:latin typeface="Calibri"/>
                <a:ea typeface="+mn-ea"/>
                <a:cs typeface="+mn-cs"/>
              </a:rPr>
              <a:t>Hardware, software, ACID &amp; RBAC definitions</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Key Milestone: </a:t>
            </a:r>
            <a:r>
              <a:rPr kumimoji="0" sz="1000" b="0" i="0" u="none" strike="noStrike" kern="1200" cap="none" spc="0" normalizeH="0" baseline="0" noProof="0">
                <a:ln>
                  <a:noFill/>
                </a:ln>
                <a:solidFill>
                  <a:srgbClr val="A5ACB9"/>
                </a:solidFill>
                <a:effectLst/>
                <a:uLnTx/>
                <a:uFillTx/>
                <a:latin typeface="Calibri"/>
                <a:ea typeface="+mn-ea"/>
                <a:cs typeface="+mn-cs"/>
              </a:rPr>
              <a:t>Approved conceptual baseline for academic workflow</a:t>
            </a:r>
          </a:p>
        </p:txBody>
      </p:sp>
      <p:sp>
        <p:nvSpPr>
          <p:cNvPr id="12" name="Rounded Rectangle 11"/>
          <p:cNvSpPr/>
          <p:nvPr/>
        </p:nvSpPr>
        <p:spPr>
          <a:xfrm>
            <a:off x="4425696" y="1645920"/>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ounded Rectangle 12"/>
          <p:cNvSpPr/>
          <p:nvPr/>
        </p:nvSpPr>
        <p:spPr>
          <a:xfrm>
            <a:off x="4425696" y="1511554"/>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4608576" y="1810512"/>
            <a:ext cx="2962656" cy="422452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sz="1300" b="1">
                <a:solidFill>
                  <a:srgbClr val="FFD778"/>
                </a:solidFill>
                <a:latin typeface="Georgia"/>
              </a:defRPr>
            </a:pPr>
            <a:r>
              <a:rPr kumimoji="0" sz="1300" b="1" i="0" u="none" strike="noStrike" kern="1200" cap="none" spc="0" normalizeH="0" baseline="0" noProof="0">
                <a:ln>
                  <a:noFill/>
                </a:ln>
                <a:solidFill>
                  <a:srgbClr val="FFD778"/>
                </a:solidFill>
                <a:effectLst/>
                <a:uLnTx/>
                <a:uFillTx/>
                <a:latin typeface="Georgia"/>
                <a:ea typeface="+mn-ea"/>
                <a:cs typeface="+mn-cs"/>
              </a:rPr>
              <a:t>Phase 2: DB Implementation &amp; Normalization</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Timeline: </a:t>
            </a:r>
            <a:r>
              <a:rPr kumimoji="0" sz="1000" b="0" i="0" u="none" strike="noStrike" kern="1200" cap="none" spc="0" normalizeH="0" baseline="0" noProof="0">
                <a:ln>
                  <a:noFill/>
                </a:ln>
                <a:solidFill>
                  <a:srgbClr val="A5ACB9"/>
                </a:solidFill>
                <a:effectLst/>
                <a:uLnTx/>
                <a:uFillTx/>
                <a:latin typeface="Calibri"/>
                <a:ea typeface="+mn-ea"/>
                <a:cs typeface="+mn-cs"/>
              </a:rPr>
              <a:t>Weeks 8–11 (Review 2 Deliverable)</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Functional Dependencies: </a:t>
            </a:r>
            <a:r>
              <a:rPr kumimoji="0" sz="1000" b="0" i="0" u="none" strike="noStrike" kern="1200" cap="none" spc="0" normalizeH="0" baseline="0" noProof="0">
                <a:ln>
                  <a:noFill/>
                </a:ln>
                <a:solidFill>
                  <a:srgbClr val="A5ACB9"/>
                </a:solidFill>
                <a:effectLst/>
                <a:uLnTx/>
                <a:uFillTx/>
                <a:latin typeface="Calibri"/>
                <a:ea typeface="+mn-ea"/>
                <a:cs typeface="+mn-cs"/>
              </a:rPr>
              <a:t>Determinant analysis across all 12 tables</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Normalization up to 3NF: </a:t>
            </a:r>
            <a:r>
              <a:rPr kumimoji="0" sz="1000" b="0" i="0" u="none" strike="noStrike" kern="1200" cap="none" spc="0" normalizeH="0" baseline="0" noProof="0">
                <a:ln>
                  <a:noFill/>
                </a:ln>
                <a:solidFill>
                  <a:srgbClr val="A5ACB9"/>
                </a:solidFill>
                <a:effectLst/>
                <a:uLnTx/>
                <a:uFillTx/>
                <a:latin typeface="Calibri"/>
                <a:ea typeface="+mn-ea"/>
                <a:cs typeface="+mn-cs"/>
              </a:rPr>
              <a:t>Elimination of partial &amp; transitive anomalies</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Concise Data Dictionary: </a:t>
            </a:r>
            <a:r>
              <a:rPr kumimoji="0" sz="1000" b="0" i="0" u="none" strike="noStrike" kern="1200" cap="none" spc="0" normalizeH="0" baseline="0" noProof="0">
                <a:ln>
                  <a:noFill/>
                </a:ln>
                <a:solidFill>
                  <a:srgbClr val="A5ACB9"/>
                </a:solidFill>
                <a:effectLst/>
                <a:uLnTx/>
                <a:uFillTx/>
                <a:latin typeface="Calibri"/>
                <a:ea typeface="+mn-ea"/>
                <a:cs typeface="+mn-cs"/>
              </a:rPr>
              <a:t>Types, precision, default values &amp; nullability</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5 Business Integrity Rules: </a:t>
            </a:r>
            <a:r>
              <a:rPr kumimoji="0" sz="1000" b="0" i="0" u="none" strike="noStrike" kern="1200" cap="none" spc="0" normalizeH="0" baseline="0" noProof="0">
                <a:ln>
                  <a:noFill/>
                </a:ln>
                <a:solidFill>
                  <a:srgbClr val="A5ACB9"/>
                </a:solidFill>
                <a:effectLst/>
                <a:uLnTx/>
                <a:uFillTx/>
                <a:latin typeface="Calibri"/>
                <a:ea typeface="+mn-ea"/>
                <a:cs typeface="+mn-cs"/>
              </a:rPr>
              <a:t>Active overlaps, approvals, log dates, scores</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Advanced SQL Suite: </a:t>
            </a:r>
            <a:r>
              <a:rPr kumimoji="0" sz="1000" b="0" i="0" u="none" strike="noStrike" kern="1200" cap="none" spc="0" normalizeH="0" baseline="0" noProof="0">
                <a:ln>
                  <a:noFill/>
                </a:ln>
                <a:solidFill>
                  <a:srgbClr val="A5ACB9"/>
                </a:solidFill>
                <a:effectLst/>
                <a:uLnTx/>
                <a:uFillTx/>
                <a:latin typeface="Calibri"/>
                <a:ea typeface="+mn-ea"/>
                <a:cs typeface="+mn-cs"/>
              </a:rPr>
              <a:t>Multi-table joins, aggregations, nested subqueries</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Database Views &amp; Indexes: </a:t>
            </a:r>
            <a:r>
              <a:rPr kumimoji="0" sz="1000" b="0" i="0" u="none" strike="noStrike" kern="1200" cap="none" spc="0" normalizeH="0" baseline="0" noProof="0">
                <a:ln>
                  <a:noFill/>
                </a:ln>
                <a:solidFill>
                  <a:srgbClr val="A5ACB9"/>
                </a:solidFill>
                <a:effectLst/>
                <a:uLnTx/>
                <a:uFillTx/>
                <a:latin typeface="Calibri"/>
                <a:ea typeface="+mn-ea"/>
                <a:cs typeface="+mn-cs"/>
              </a:rPr>
              <a:t>Automated reporting views &amp; B-Tree indexes</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Key Milestone: </a:t>
            </a:r>
            <a:r>
              <a:rPr kumimoji="0" sz="1000" b="0" i="0" u="none" strike="noStrike" kern="1200" cap="none" spc="0" normalizeH="0" baseline="0" noProof="0">
                <a:ln>
                  <a:noFill/>
                </a:ln>
                <a:solidFill>
                  <a:srgbClr val="A5ACB9"/>
                </a:solidFill>
                <a:effectLst/>
                <a:uLnTx/>
                <a:uFillTx/>
                <a:latin typeface="Calibri"/>
                <a:ea typeface="+mn-ea"/>
                <a:cs typeface="+mn-cs"/>
              </a:rPr>
              <a:t>Fully normalized, constraint-guarded DB prototype</a:t>
            </a:r>
          </a:p>
        </p:txBody>
      </p:sp>
      <p:sp>
        <p:nvSpPr>
          <p:cNvPr id="15" name="Rounded Rectangle 14"/>
          <p:cNvSpPr/>
          <p:nvPr/>
        </p:nvSpPr>
        <p:spPr>
          <a:xfrm>
            <a:off x="8119872" y="1645920"/>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ounded Rectangle 15"/>
          <p:cNvSpPr/>
          <p:nvPr/>
        </p:nvSpPr>
        <p:spPr>
          <a:xfrm>
            <a:off x="8126984" y="1530604"/>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8302752" y="1810512"/>
            <a:ext cx="2962656" cy="422452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sz="1300" b="1">
                <a:solidFill>
                  <a:srgbClr val="FFD778"/>
                </a:solidFill>
                <a:latin typeface="Georgia"/>
              </a:defRPr>
            </a:pPr>
            <a:r>
              <a:rPr kumimoji="0" sz="1300" b="1" i="0" u="none" strike="noStrike" kern="1200" cap="none" spc="0" normalizeH="0" baseline="0" noProof="0">
                <a:ln>
                  <a:noFill/>
                </a:ln>
                <a:solidFill>
                  <a:srgbClr val="FFD778"/>
                </a:solidFill>
                <a:effectLst/>
                <a:uLnTx/>
                <a:uFillTx/>
                <a:latin typeface="Georgia"/>
                <a:ea typeface="+mn-ea"/>
                <a:cs typeface="+mn-cs"/>
              </a:rPr>
              <a:t>Phase 3: Integration &amp; System Testing</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Timeline: </a:t>
            </a:r>
            <a:r>
              <a:rPr kumimoji="0" sz="1000" b="0" i="0" u="none" strike="noStrike" kern="1200" cap="none" spc="0" normalizeH="0" baseline="0" noProof="0">
                <a:ln>
                  <a:noFill/>
                </a:ln>
                <a:solidFill>
                  <a:srgbClr val="A5ACB9"/>
                </a:solidFill>
                <a:effectLst/>
                <a:uLnTx/>
                <a:uFillTx/>
                <a:latin typeface="Calibri"/>
                <a:ea typeface="+mn-ea"/>
                <a:cs typeface="+mn-cs"/>
              </a:rPr>
              <a:t>Weeks 12–16 (Review 3 Deliverable)</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Full-Stack Front-End: </a:t>
            </a:r>
            <a:r>
              <a:rPr kumimoji="0" sz="1000" b="0" i="0" u="none" strike="noStrike" kern="1200" cap="none" spc="0" normalizeH="0" baseline="0" noProof="0">
                <a:ln>
                  <a:noFill/>
                </a:ln>
                <a:solidFill>
                  <a:srgbClr val="A5ACB9"/>
                </a:solidFill>
                <a:effectLst/>
                <a:uLnTx/>
                <a:uFillTx/>
                <a:latin typeface="Calibri"/>
                <a:ea typeface="+mn-ea"/>
                <a:cs typeface="+mn-cs"/>
              </a:rPr>
              <a:t>Python Tkinter / PyQt &amp; Web Flask integration</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DB Connector: </a:t>
            </a:r>
            <a:r>
              <a:rPr kumimoji="0" sz="1000" b="0" i="0" u="none" strike="noStrike" kern="1200" cap="none" spc="0" normalizeH="0" baseline="0" noProof="0">
                <a:ln>
                  <a:noFill/>
                </a:ln>
                <a:solidFill>
                  <a:srgbClr val="A5ACB9"/>
                </a:solidFill>
                <a:effectLst/>
                <a:uLnTx/>
                <a:uFillTx/>
                <a:latin typeface="Calibri"/>
                <a:ea typeface="+mn-ea"/>
                <a:cs typeface="+mn-cs"/>
              </a:rPr>
              <a:t>Secure parameterized Python DB-API connector</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CRUD Workflows: </a:t>
            </a:r>
            <a:r>
              <a:rPr kumimoji="0" sz="1000" b="0" i="0" u="none" strike="noStrike" kern="1200" cap="none" spc="0" normalizeH="0" baseline="0" noProof="0">
                <a:ln>
                  <a:noFill/>
                </a:ln>
                <a:solidFill>
                  <a:srgbClr val="A5ACB9"/>
                </a:solidFill>
                <a:effectLst/>
                <a:uLnTx/>
                <a:uFillTx/>
                <a:latin typeface="Calibri"/>
                <a:ea typeface="+mn-ea"/>
                <a:cs typeface="+mn-cs"/>
              </a:rPr>
              <a:t>Publishing, application, approval, log submission</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Transaction Management: </a:t>
            </a:r>
            <a:r>
              <a:rPr kumimoji="0" sz="1000" b="0" i="0" u="none" strike="noStrike" kern="1200" cap="none" spc="0" normalizeH="0" baseline="0" noProof="0">
                <a:ln>
                  <a:noFill/>
                </a:ln>
                <a:solidFill>
                  <a:srgbClr val="A5ACB9"/>
                </a:solidFill>
                <a:effectLst/>
                <a:uLnTx/>
                <a:uFillTx/>
                <a:latin typeface="Calibri"/>
                <a:ea typeface="+mn-ea"/>
                <a:cs typeface="+mn-cs"/>
              </a:rPr>
              <a:t>ACID compliance with commit &amp; rollback handling</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Automated Certification: </a:t>
            </a:r>
            <a:r>
              <a:rPr kumimoji="0" sz="1000" b="0" i="0" u="none" strike="noStrike" kern="1200" cap="none" spc="0" normalizeH="0" baseline="0" noProof="0">
                <a:ln>
                  <a:noFill/>
                </a:ln>
                <a:solidFill>
                  <a:srgbClr val="A5ACB9"/>
                </a:solidFill>
                <a:effectLst/>
                <a:uLnTx/>
                <a:uFillTx/>
                <a:latin typeface="Calibri"/>
                <a:ea typeface="+mn-ea"/>
                <a:cs typeface="+mn-cs"/>
              </a:rPr>
              <a:t>Unique verification hashes on internship completion</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System Test Matrix: </a:t>
            </a:r>
            <a:r>
              <a:rPr kumimoji="0" sz="1000" b="0" i="0" u="none" strike="noStrike" kern="1200" cap="none" spc="0" normalizeH="0" baseline="0" noProof="0">
                <a:ln>
                  <a:noFill/>
                </a:ln>
                <a:solidFill>
                  <a:srgbClr val="A5ACB9"/>
                </a:solidFill>
                <a:effectLst/>
                <a:uLnTx/>
                <a:uFillTx/>
                <a:latin typeface="Calibri"/>
                <a:ea typeface="+mn-ea"/>
                <a:cs typeface="+mn-cs"/>
              </a:rPr>
              <a:t>Validation, boundary checks &amp; error handling</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1050" b="1" i="0" u="none" strike="noStrike" kern="1200" cap="none" spc="0" normalizeH="0" baseline="0" noProof="0">
                <a:ln>
                  <a:noFill/>
                </a:ln>
                <a:solidFill>
                  <a:srgbClr val="FFFFFF"/>
                </a:solidFill>
                <a:effectLst/>
                <a:uLnTx/>
                <a:uFillTx/>
                <a:latin typeface="Calibri"/>
                <a:ea typeface="+mn-ea"/>
                <a:cs typeface="+mn-cs"/>
              </a:rPr>
              <a:t>• Key Milestone: </a:t>
            </a:r>
            <a:r>
              <a:rPr kumimoji="0" sz="1000" b="0" i="0" u="none" strike="noStrike" kern="1200" cap="none" spc="0" normalizeH="0" baseline="0" noProof="0">
                <a:ln>
                  <a:noFill/>
                </a:ln>
                <a:solidFill>
                  <a:srgbClr val="A5ACB9"/>
                </a:solidFill>
                <a:effectLst/>
                <a:uLnTx/>
                <a:uFillTx/>
                <a:latin typeface="Calibri"/>
                <a:ea typeface="+mn-ea"/>
                <a:cs typeface="+mn-cs"/>
              </a:rPr>
              <a:t>Production-ready system &amp; Viva-Voce demonstration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26"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1 • PROBLEM IDENTIFICATION</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The Problem: Manual Coordination Chaos</a:t>
            </a:r>
          </a:p>
        </p:txBody>
      </p:sp>
      <p:sp>
        <p:nvSpPr>
          <p:cNvPr id="5" name="Rounded Rectangle 4"/>
          <p:cNvSpPr/>
          <p:nvPr/>
        </p:nvSpPr>
        <p:spPr>
          <a:xfrm>
            <a:off x="8991295" y="44853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Problem</a:t>
            </a:r>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9" name="Rounded Rectangle 8"/>
          <p:cNvSpPr/>
          <p:nvPr/>
        </p:nvSpPr>
        <p:spPr>
          <a:xfrm>
            <a:off x="731520" y="1645920"/>
            <a:ext cx="5166360" cy="210312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56920" y="1487424"/>
            <a:ext cx="5140960"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810512"/>
            <a:ext cx="4800600" cy="1364476"/>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1. Progress Verification Gaps</a:t>
            </a:r>
          </a:p>
          <a:p>
            <a:pPr>
              <a:spcAft>
                <a:spcPts val="400"/>
              </a:spcAft>
            </a:pPr>
            <a:r>
              <a:rPr sz="1100" b="1" dirty="0">
                <a:solidFill>
                  <a:srgbClr val="FFFFFF"/>
                </a:solidFill>
                <a:latin typeface="Calibri"/>
              </a:rPr>
              <a:t>• Lack of Weekly Tracking: </a:t>
            </a:r>
            <a:r>
              <a:rPr sz="1100" dirty="0">
                <a:solidFill>
                  <a:srgbClr val="A5ACB9"/>
                </a:solidFill>
                <a:latin typeface="Calibri"/>
              </a:rPr>
              <a:t>Institutions rely on informal chats or delayed physical diaries.</a:t>
            </a:r>
          </a:p>
          <a:p>
            <a:pPr>
              <a:spcAft>
                <a:spcPts val="400"/>
              </a:spcAft>
            </a:pPr>
            <a:r>
              <a:rPr sz="1100" b="1" dirty="0">
                <a:solidFill>
                  <a:srgbClr val="FFFFFF"/>
                </a:solidFill>
                <a:latin typeface="Calibri"/>
              </a:rPr>
              <a:t>• Timeline Overlaps: </a:t>
            </a:r>
            <a:r>
              <a:rPr sz="1100" dirty="0">
                <a:solidFill>
                  <a:srgbClr val="A5ACB9"/>
                </a:solidFill>
                <a:latin typeface="Calibri"/>
              </a:rPr>
              <a:t>Students simultaneously enrolling in conflicting internships unnoticed.</a:t>
            </a:r>
          </a:p>
          <a:p>
            <a:pPr>
              <a:spcAft>
                <a:spcPts val="400"/>
              </a:spcAft>
            </a:pPr>
            <a:r>
              <a:rPr sz="1100" b="1" dirty="0">
                <a:solidFill>
                  <a:srgbClr val="FFFFFF"/>
                </a:solidFill>
                <a:latin typeface="Calibri"/>
              </a:rPr>
              <a:t>• No Real-Time Auditing: </a:t>
            </a:r>
            <a:r>
              <a:rPr sz="1100" dirty="0">
                <a:solidFill>
                  <a:srgbClr val="A5ACB9"/>
                </a:solidFill>
                <a:latin typeface="Calibri"/>
              </a:rPr>
              <a:t>Academic mentors have no immediate visibility into corporate attendance or project milestones.</a:t>
            </a:r>
          </a:p>
        </p:txBody>
      </p:sp>
      <p:sp>
        <p:nvSpPr>
          <p:cNvPr id="12" name="Rounded Rectangle 11"/>
          <p:cNvSpPr/>
          <p:nvPr/>
        </p:nvSpPr>
        <p:spPr>
          <a:xfrm>
            <a:off x="6291072" y="1645920"/>
            <a:ext cx="5166360" cy="210312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16472" y="1500378"/>
            <a:ext cx="5140960"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810512"/>
            <a:ext cx="4800600" cy="1364476"/>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2. Approval Bottlenecks &amp; Delays</a:t>
            </a:r>
          </a:p>
          <a:p>
            <a:pPr>
              <a:spcAft>
                <a:spcPts val="400"/>
              </a:spcAft>
            </a:pPr>
            <a:r>
              <a:rPr sz="1100" b="1" dirty="0">
                <a:solidFill>
                  <a:srgbClr val="FFFFFF"/>
                </a:solidFill>
                <a:latin typeface="Calibri"/>
              </a:rPr>
              <a:t>• Unstructured Communication: </a:t>
            </a:r>
            <a:r>
              <a:rPr sz="1100" dirty="0">
                <a:solidFill>
                  <a:srgbClr val="A5ACB9"/>
                </a:solidFill>
                <a:latin typeface="Calibri"/>
              </a:rPr>
              <a:t>Paper application forms and buried email threads stall reviews.</a:t>
            </a:r>
          </a:p>
          <a:p>
            <a:pPr>
              <a:spcAft>
                <a:spcPts val="400"/>
              </a:spcAft>
            </a:pPr>
            <a:r>
              <a:rPr sz="1100" b="1" dirty="0">
                <a:solidFill>
                  <a:srgbClr val="FFFFFF"/>
                </a:solidFill>
                <a:latin typeface="Calibri"/>
              </a:rPr>
              <a:t>• Slow Routing: </a:t>
            </a:r>
            <a:r>
              <a:rPr sz="1100" dirty="0">
                <a:solidFill>
                  <a:srgbClr val="A5ACB9"/>
                </a:solidFill>
                <a:latin typeface="Calibri"/>
              </a:rPr>
              <a:t>Internship offers expire while awaiting departmental and dean signatures.</a:t>
            </a:r>
          </a:p>
          <a:p>
            <a:pPr>
              <a:spcAft>
                <a:spcPts val="400"/>
              </a:spcAft>
            </a:pPr>
            <a:r>
              <a:rPr sz="1100" b="1" dirty="0">
                <a:solidFill>
                  <a:srgbClr val="FFFFFF"/>
                </a:solidFill>
                <a:latin typeface="Calibri"/>
              </a:rPr>
              <a:t>• Audit Trail Absence: </a:t>
            </a:r>
            <a:r>
              <a:rPr sz="1100" dirty="0">
                <a:solidFill>
                  <a:srgbClr val="A5ACB9"/>
                </a:solidFill>
                <a:latin typeface="Calibri"/>
              </a:rPr>
              <a:t>No timestamped, tamper-proof record of who authorized an assignment and when.</a:t>
            </a:r>
          </a:p>
        </p:txBody>
      </p:sp>
      <p:sp>
        <p:nvSpPr>
          <p:cNvPr id="15" name="Rounded Rectangle 14"/>
          <p:cNvSpPr/>
          <p:nvPr/>
        </p:nvSpPr>
        <p:spPr>
          <a:xfrm>
            <a:off x="731520" y="4023360"/>
            <a:ext cx="5166360" cy="210312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56920" y="3862832"/>
            <a:ext cx="5140960"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187952"/>
            <a:ext cx="4800600" cy="1364476"/>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3. Evaluation &amp; Monitoring Failures</a:t>
            </a:r>
          </a:p>
          <a:p>
            <a:pPr>
              <a:spcAft>
                <a:spcPts val="400"/>
              </a:spcAft>
            </a:pPr>
            <a:r>
              <a:rPr sz="1100" b="1" dirty="0">
                <a:solidFill>
                  <a:srgbClr val="FFFFFF"/>
                </a:solidFill>
                <a:latin typeface="Calibri"/>
              </a:rPr>
              <a:t>• Disconnected Supervisors: </a:t>
            </a:r>
            <a:r>
              <a:rPr sz="1100" dirty="0">
                <a:solidFill>
                  <a:srgbClr val="A5ACB9"/>
                </a:solidFill>
                <a:latin typeface="Calibri"/>
              </a:rPr>
              <a:t>Corporate mentors lack direct academic portal access to submit scores.</a:t>
            </a:r>
          </a:p>
          <a:p>
            <a:pPr>
              <a:spcAft>
                <a:spcPts val="400"/>
              </a:spcAft>
            </a:pPr>
            <a:r>
              <a:rPr sz="1100" b="1" dirty="0">
                <a:solidFill>
                  <a:srgbClr val="FFFFFF"/>
                </a:solidFill>
                <a:latin typeface="Calibri"/>
              </a:rPr>
              <a:t>• Subjective Grading: </a:t>
            </a:r>
            <a:r>
              <a:rPr sz="1100" dirty="0">
                <a:solidFill>
                  <a:srgbClr val="A5ACB9"/>
                </a:solidFill>
                <a:latin typeface="Calibri"/>
              </a:rPr>
              <a:t>Evaluations conducted post-internship without continuous log evidence.</a:t>
            </a:r>
          </a:p>
          <a:p>
            <a:pPr>
              <a:spcAft>
                <a:spcPts val="400"/>
              </a:spcAft>
            </a:pPr>
            <a:r>
              <a:rPr sz="1100" b="1" dirty="0">
                <a:solidFill>
                  <a:srgbClr val="FFFFFF"/>
                </a:solidFill>
                <a:latin typeface="Calibri"/>
              </a:rPr>
              <a:t>• Missing Feedback Loops: </a:t>
            </a:r>
            <a:r>
              <a:rPr sz="1100" dirty="0">
                <a:solidFill>
                  <a:srgbClr val="A5ACB9"/>
                </a:solidFill>
                <a:latin typeface="Calibri"/>
              </a:rPr>
              <a:t>Students finish internships without structured mentor reviews or verified competencies.</a:t>
            </a:r>
          </a:p>
        </p:txBody>
      </p:sp>
      <p:sp>
        <p:nvSpPr>
          <p:cNvPr id="18" name="Rounded Rectangle 17"/>
          <p:cNvSpPr/>
          <p:nvPr/>
        </p:nvSpPr>
        <p:spPr>
          <a:xfrm>
            <a:off x="6291072" y="4023360"/>
            <a:ext cx="5166360" cy="210312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91072" y="3875532"/>
            <a:ext cx="5140960"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3952" y="4187952"/>
            <a:ext cx="4800600" cy="1364476"/>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4. Administrative Inefficiencies &amp; Fraud</a:t>
            </a:r>
          </a:p>
          <a:p>
            <a:pPr>
              <a:spcAft>
                <a:spcPts val="400"/>
              </a:spcAft>
            </a:pPr>
            <a:r>
              <a:rPr sz="1100" b="1" dirty="0">
                <a:solidFill>
                  <a:srgbClr val="FFFFFF"/>
                </a:solidFill>
                <a:latin typeface="Calibri"/>
              </a:rPr>
              <a:t>• Unverified Certificates: </a:t>
            </a:r>
            <a:r>
              <a:rPr sz="1100" dirty="0">
                <a:solidFill>
                  <a:srgbClr val="A5ACB9"/>
                </a:solidFill>
                <a:latin typeface="Calibri"/>
              </a:rPr>
              <a:t>Widespread forgery risks due to lack of verifiable digital credentials.</a:t>
            </a:r>
          </a:p>
          <a:p>
            <a:pPr>
              <a:spcAft>
                <a:spcPts val="400"/>
              </a:spcAft>
            </a:pPr>
            <a:r>
              <a:rPr sz="1100" b="1" dirty="0">
                <a:solidFill>
                  <a:srgbClr val="FFFFFF"/>
                </a:solidFill>
                <a:latin typeface="Calibri"/>
              </a:rPr>
              <a:t>• Data Fragmentation: </a:t>
            </a:r>
            <a:r>
              <a:rPr sz="1100" dirty="0">
                <a:solidFill>
                  <a:srgbClr val="A5ACB9"/>
                </a:solidFill>
                <a:latin typeface="Calibri"/>
              </a:rPr>
              <a:t>Student data scattered across spreadsheets, personal drives, and paper files.</a:t>
            </a:r>
          </a:p>
          <a:p>
            <a:pPr>
              <a:spcAft>
                <a:spcPts val="400"/>
              </a:spcAft>
            </a:pPr>
            <a:r>
              <a:rPr sz="1100" b="1" dirty="0">
                <a:solidFill>
                  <a:srgbClr val="FFFFFF"/>
                </a:solidFill>
                <a:latin typeface="Calibri"/>
              </a:rPr>
              <a:t>• Compliance Vulnerabilities: </a:t>
            </a:r>
            <a:r>
              <a:rPr sz="1100" dirty="0">
                <a:solidFill>
                  <a:srgbClr val="A5ACB9"/>
                </a:solidFill>
                <a:latin typeface="Calibri"/>
              </a:rPr>
              <a:t>Inability to generate instant accreditation reports for regulatory bodies.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1 • BACKGROUND &amp; CONTEXT</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Literature Survey &amp; Academic Gap Analysis</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Literature Review </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8" name="TextBox 7"/>
          <p:cNvSpPr txBox="1"/>
          <p:nvPr/>
        </p:nvSpPr>
        <p:spPr>
          <a:xfrm>
            <a:off x="10515600" y="6473952"/>
            <a:ext cx="914400" cy="274320"/>
          </a:xfrm>
          <a:prstGeom prst="rect">
            <a:avLst/>
          </a:prstGeom>
          <a:noFill/>
        </p:spPr>
        <p:txBody>
          <a:bodyPr wrap="none" lIns="0" tIns="0" rIns="0" bIns="0">
            <a:spAutoFit/>
          </a:bodyPr>
          <a:lstStyle/>
          <a:p>
            <a:pPr algn="r">
              <a:defRPr sz="850">
                <a:solidFill>
                  <a:srgbClr val="737A87"/>
                </a:solidFill>
                <a:latin typeface="Calibri"/>
              </a:defRPr>
            </a:pPr>
            <a:r>
              <a:t>4 / 32</a:t>
            </a:r>
          </a:p>
        </p:txBody>
      </p:sp>
      <p:graphicFrame>
        <p:nvGraphicFramePr>
          <p:cNvPr id="9" name="Table 8"/>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864815">
                  <a:extLst>
                    <a:ext uri="{9D8B030D-6E8A-4147-A177-3AD203B41FA5}">
                      <a16:colId xmlns:a16="http://schemas.microsoft.com/office/drawing/2014/main" val="20003"/>
                    </a:ext>
                  </a:extLst>
                </a:gridCol>
              </a:tblGrid>
              <a:tr h="548640">
                <a:tc>
                  <a:txBody>
                    <a:bodyPr/>
                    <a:lstStyle/>
                    <a:p>
                      <a:pPr>
                        <a:defRPr sz="1000" b="1">
                          <a:solidFill>
                            <a:srgbClr val="E5A93C"/>
                          </a:solidFill>
                          <a:latin typeface="Calibri"/>
                        </a:defRPr>
                      </a:pPr>
                      <a:r>
                        <a:t>Feature / Capability</a:t>
                      </a:r>
                    </a:p>
                  </a:txBody>
                  <a:tcPr marT="54864" marB="54864" anchor="ctr">
                    <a:solidFill>
                      <a:srgbClr val="222834"/>
                    </a:solidFill>
                  </a:tcPr>
                </a:tc>
                <a:tc>
                  <a:txBody>
                    <a:bodyPr/>
                    <a:lstStyle/>
                    <a:p>
                      <a:pPr>
                        <a:defRPr sz="1000" b="1">
                          <a:solidFill>
                            <a:srgbClr val="E5A93C"/>
                          </a:solidFill>
                          <a:latin typeface="Calibri"/>
                        </a:defRPr>
                      </a:pPr>
                      <a:r>
                        <a:t>Traditional Tools (Excel/Sheets)</a:t>
                      </a:r>
                    </a:p>
                  </a:txBody>
                  <a:tcPr marT="54864" marB="54864" anchor="ctr">
                    <a:solidFill>
                      <a:srgbClr val="222834"/>
                    </a:solidFill>
                  </a:tcPr>
                </a:tc>
                <a:tc>
                  <a:txBody>
                    <a:bodyPr/>
                    <a:lstStyle/>
                    <a:p>
                      <a:pPr>
                        <a:defRPr sz="1000" b="1">
                          <a:solidFill>
                            <a:srgbClr val="E5A93C"/>
                          </a:solidFill>
                          <a:latin typeface="Calibri"/>
                        </a:defRPr>
                      </a:pPr>
                      <a:r>
                        <a:t>Commercial Portals (LinkedIn/Indeed)</a:t>
                      </a:r>
                    </a:p>
                  </a:txBody>
                  <a:tcPr marT="54864" marB="54864" anchor="ctr">
                    <a:solidFill>
                      <a:srgbClr val="222834"/>
                    </a:solidFill>
                  </a:tcPr>
                </a:tc>
                <a:tc>
                  <a:txBody>
                    <a:bodyPr/>
                    <a:lstStyle/>
                    <a:p>
                      <a:pPr>
                        <a:defRPr sz="1000" b="1">
                          <a:solidFill>
                            <a:srgbClr val="E5A93C"/>
                          </a:solidFill>
                          <a:latin typeface="Calibri"/>
                        </a:defRPr>
                      </a:pPr>
                      <a:r>
                        <a:t>Proposed Internship DBMS</a:t>
                      </a:r>
                    </a:p>
                  </a:txBody>
                  <a:tcPr marT="54864" marB="54864" anchor="ctr">
                    <a:solidFill>
                      <a:srgbClr val="222834"/>
                    </a:solidFill>
                  </a:tcPr>
                </a:tc>
                <a:extLst>
                  <a:ext uri="{0D108BD9-81ED-4DB2-BD59-A6C34878D82A}">
                    <a16:rowId xmlns:a16="http://schemas.microsoft.com/office/drawing/2014/main" val="10000"/>
                  </a:ext>
                </a:extLst>
              </a:tr>
              <a:tr h="548640">
                <a:tc>
                  <a:txBody>
                    <a:bodyPr/>
                    <a:lstStyle/>
                    <a:p>
                      <a:pPr>
                        <a:defRPr sz="950" b="1">
                          <a:solidFill>
                            <a:srgbClr val="FFFFFF"/>
                          </a:solidFill>
                          <a:latin typeface="Calibri"/>
                        </a:defRPr>
                      </a:pPr>
                      <a:r>
                        <a:t>Relational Integrity &amp; ACID</a:t>
                      </a:r>
                    </a:p>
                  </a:txBody>
                  <a:tcPr anchor="ctr">
                    <a:solidFill>
                      <a:srgbClr val="181C24"/>
                    </a:solidFill>
                  </a:tcPr>
                </a:tc>
                <a:tc>
                  <a:txBody>
                    <a:bodyPr/>
                    <a:lstStyle/>
                    <a:p>
                      <a:pPr>
                        <a:defRPr sz="950">
                          <a:solidFill>
                            <a:srgbClr val="A5ACB9"/>
                          </a:solidFill>
                          <a:latin typeface="Calibri"/>
                        </a:defRPr>
                      </a:pPr>
                      <a:r>
                        <a:t>None (high duplication &amp; corruption)</a:t>
                      </a:r>
                    </a:p>
                  </a:txBody>
                  <a:tcPr anchor="ctr">
                    <a:solidFill>
                      <a:srgbClr val="181C24"/>
                    </a:solidFill>
                  </a:tcPr>
                </a:tc>
                <a:tc>
                  <a:txBody>
                    <a:bodyPr/>
                    <a:lstStyle/>
                    <a:p>
                      <a:pPr>
                        <a:defRPr sz="950">
                          <a:solidFill>
                            <a:srgbClr val="A5ACB9"/>
                          </a:solidFill>
                          <a:latin typeface="Calibri"/>
                        </a:defRPr>
                      </a:pPr>
                      <a:r>
                        <a:t>Proprietary / Closed to Colleges</a:t>
                      </a:r>
                    </a:p>
                  </a:txBody>
                  <a:tcPr anchor="ctr">
                    <a:solidFill>
                      <a:srgbClr val="181C24"/>
                    </a:solidFill>
                  </a:tcPr>
                </a:tc>
                <a:tc>
                  <a:txBody>
                    <a:bodyPr/>
                    <a:lstStyle/>
                    <a:p>
                      <a:pPr>
                        <a:defRPr sz="950">
                          <a:solidFill>
                            <a:srgbClr val="A5ACB9"/>
                          </a:solidFill>
                          <a:latin typeface="Calibri"/>
                        </a:defRPr>
                      </a:pPr>
                      <a:r>
                        <a:t>Strict RDBMS Constraints &amp; ACID</a:t>
                      </a:r>
                    </a:p>
                  </a:txBody>
                  <a:tcPr anchor="ctr">
                    <a:solidFill>
                      <a:srgbClr val="181C24"/>
                    </a:solidFill>
                  </a:tcPr>
                </a:tc>
                <a:extLst>
                  <a:ext uri="{0D108BD9-81ED-4DB2-BD59-A6C34878D82A}">
                    <a16:rowId xmlns:a16="http://schemas.microsoft.com/office/drawing/2014/main" val="10001"/>
                  </a:ext>
                </a:extLst>
              </a:tr>
              <a:tr h="548640">
                <a:tc>
                  <a:txBody>
                    <a:bodyPr/>
                    <a:lstStyle/>
                    <a:p>
                      <a:pPr>
                        <a:defRPr sz="950" b="1">
                          <a:solidFill>
                            <a:srgbClr val="FFFFFF"/>
                          </a:solidFill>
                          <a:latin typeface="Calibri"/>
                        </a:defRPr>
                      </a:pPr>
                      <a:r>
                        <a:t>Academic Approval Hierarchy</a:t>
                      </a:r>
                    </a:p>
                  </a:txBody>
                  <a:tcPr anchor="ctr">
                    <a:solidFill>
                      <a:srgbClr val="13161C"/>
                    </a:solidFill>
                  </a:tcPr>
                </a:tc>
                <a:tc>
                  <a:txBody>
                    <a:bodyPr/>
                    <a:lstStyle/>
                    <a:p>
                      <a:pPr>
                        <a:defRPr sz="950">
                          <a:solidFill>
                            <a:srgbClr val="A5ACB9"/>
                          </a:solidFill>
                          <a:latin typeface="Calibri"/>
                        </a:defRPr>
                      </a:pPr>
                      <a:r>
                        <a:t>Manual email exchanges</a:t>
                      </a:r>
                    </a:p>
                  </a:txBody>
                  <a:tcPr anchor="ctr">
                    <a:solidFill>
                      <a:srgbClr val="13161C"/>
                    </a:solidFill>
                  </a:tcPr>
                </a:tc>
                <a:tc>
                  <a:txBody>
                    <a:bodyPr/>
                    <a:lstStyle/>
                    <a:p>
                      <a:pPr>
                        <a:defRPr sz="950">
                          <a:solidFill>
                            <a:srgbClr val="A5ACB9"/>
                          </a:solidFill>
                          <a:latin typeface="Calibri"/>
                        </a:defRPr>
                      </a:pPr>
                      <a:r>
                        <a:t>Not Supported</a:t>
                      </a:r>
                    </a:p>
                  </a:txBody>
                  <a:tcPr anchor="ctr">
                    <a:solidFill>
                      <a:srgbClr val="13161C"/>
                    </a:solidFill>
                  </a:tcPr>
                </a:tc>
                <a:tc>
                  <a:txBody>
                    <a:bodyPr/>
                    <a:lstStyle/>
                    <a:p>
                      <a:pPr>
                        <a:defRPr sz="950">
                          <a:solidFill>
                            <a:srgbClr val="A5ACB9"/>
                          </a:solidFill>
                          <a:latin typeface="Calibri"/>
                        </a:defRPr>
                      </a:pPr>
                      <a:r>
                        <a:t>Automated Multi-Stage Workflow</a:t>
                      </a:r>
                    </a:p>
                  </a:txBody>
                  <a:tcPr anchor="ctr">
                    <a:solidFill>
                      <a:srgbClr val="13161C"/>
                    </a:solidFill>
                  </a:tcPr>
                </a:tc>
                <a:extLst>
                  <a:ext uri="{0D108BD9-81ED-4DB2-BD59-A6C34878D82A}">
                    <a16:rowId xmlns:a16="http://schemas.microsoft.com/office/drawing/2014/main" val="10002"/>
                  </a:ext>
                </a:extLst>
              </a:tr>
              <a:tr h="548640">
                <a:tc>
                  <a:txBody>
                    <a:bodyPr/>
                    <a:lstStyle/>
                    <a:p>
                      <a:pPr>
                        <a:defRPr sz="950" b="1">
                          <a:solidFill>
                            <a:srgbClr val="FFFFFF"/>
                          </a:solidFill>
                          <a:latin typeface="Calibri"/>
                        </a:defRPr>
                      </a:pPr>
                      <a:r>
                        <a:t>Weekly Log Progress Auditing</a:t>
                      </a:r>
                    </a:p>
                  </a:txBody>
                  <a:tcPr anchor="ctr">
                    <a:solidFill>
                      <a:srgbClr val="181C24"/>
                    </a:solidFill>
                  </a:tcPr>
                </a:tc>
                <a:tc>
                  <a:txBody>
                    <a:bodyPr/>
                    <a:lstStyle/>
                    <a:p>
                      <a:pPr>
                        <a:defRPr sz="950">
                          <a:solidFill>
                            <a:srgbClr val="A5ACB9"/>
                          </a:solidFill>
                          <a:latin typeface="Calibri"/>
                        </a:defRPr>
                      </a:pPr>
                      <a:r>
                        <a:t>Static, unverified spreadsheets</a:t>
                      </a:r>
                    </a:p>
                  </a:txBody>
                  <a:tcPr anchor="ctr">
                    <a:solidFill>
                      <a:srgbClr val="181C24"/>
                    </a:solidFill>
                  </a:tcPr>
                </a:tc>
                <a:tc>
                  <a:txBody>
                    <a:bodyPr/>
                    <a:lstStyle/>
                    <a:p>
                      <a:pPr>
                        <a:defRPr sz="950">
                          <a:solidFill>
                            <a:srgbClr val="A5ACB9"/>
                          </a:solidFill>
                          <a:latin typeface="Calibri"/>
                        </a:defRPr>
                      </a:pPr>
                      <a:r>
                        <a:t>Not Supported</a:t>
                      </a:r>
                    </a:p>
                  </a:txBody>
                  <a:tcPr anchor="ctr">
                    <a:solidFill>
                      <a:srgbClr val="181C24"/>
                    </a:solidFill>
                  </a:tcPr>
                </a:tc>
                <a:tc>
                  <a:txBody>
                    <a:bodyPr/>
                    <a:lstStyle/>
                    <a:p>
                      <a:pPr>
                        <a:defRPr sz="950">
                          <a:solidFill>
                            <a:srgbClr val="A5ACB9"/>
                          </a:solidFill>
                          <a:latin typeface="Calibri"/>
                        </a:defRPr>
                      </a:pPr>
                      <a:r>
                        <a:t>Weekly Submission &amp; Date Validation</a:t>
                      </a:r>
                    </a:p>
                  </a:txBody>
                  <a:tcPr anchor="ctr">
                    <a:solidFill>
                      <a:srgbClr val="181C24"/>
                    </a:solidFill>
                  </a:tcPr>
                </a:tc>
                <a:extLst>
                  <a:ext uri="{0D108BD9-81ED-4DB2-BD59-A6C34878D82A}">
                    <a16:rowId xmlns:a16="http://schemas.microsoft.com/office/drawing/2014/main" val="10003"/>
                  </a:ext>
                </a:extLst>
              </a:tr>
              <a:tr h="548640">
                <a:tc>
                  <a:txBody>
                    <a:bodyPr/>
                    <a:lstStyle/>
                    <a:p>
                      <a:pPr>
                        <a:defRPr sz="950" b="1">
                          <a:solidFill>
                            <a:srgbClr val="FFFFFF"/>
                          </a:solidFill>
                          <a:latin typeface="Calibri"/>
                        </a:defRPr>
                      </a:pPr>
                      <a:r>
                        <a:t>Dual Mentor Assignment</a:t>
                      </a:r>
                    </a:p>
                  </a:txBody>
                  <a:tcPr anchor="ctr">
                    <a:solidFill>
                      <a:srgbClr val="13161C"/>
                    </a:solidFill>
                  </a:tcPr>
                </a:tc>
                <a:tc>
                  <a:txBody>
                    <a:bodyPr/>
                    <a:lstStyle/>
                    <a:p>
                      <a:pPr>
                        <a:defRPr sz="950">
                          <a:solidFill>
                            <a:srgbClr val="A5ACB9"/>
                          </a:solidFill>
                          <a:latin typeface="Calibri"/>
                        </a:defRPr>
                      </a:pPr>
                      <a:r>
                        <a:t>Disjointed contact lists</a:t>
                      </a:r>
                    </a:p>
                  </a:txBody>
                  <a:tcPr anchor="ctr">
                    <a:solidFill>
                      <a:srgbClr val="13161C"/>
                    </a:solidFill>
                  </a:tcPr>
                </a:tc>
                <a:tc>
                  <a:txBody>
                    <a:bodyPr/>
                    <a:lstStyle/>
                    <a:p>
                      <a:pPr>
                        <a:defRPr sz="950">
                          <a:solidFill>
                            <a:srgbClr val="A5ACB9"/>
                          </a:solidFill>
                          <a:latin typeface="Calibri"/>
                        </a:defRPr>
                      </a:pPr>
                      <a:r>
                        <a:t>Single Employer Account</a:t>
                      </a:r>
                    </a:p>
                  </a:txBody>
                  <a:tcPr anchor="ctr">
                    <a:solidFill>
                      <a:srgbClr val="13161C"/>
                    </a:solidFill>
                  </a:tcPr>
                </a:tc>
                <a:tc>
                  <a:txBody>
                    <a:bodyPr/>
                    <a:lstStyle/>
                    <a:p>
                      <a:pPr>
                        <a:defRPr sz="950">
                          <a:solidFill>
                            <a:srgbClr val="A5ACB9"/>
                          </a:solidFill>
                          <a:latin typeface="Calibri"/>
                        </a:defRPr>
                      </a:pPr>
                      <a:r>
                        <a:t>Co-ordinated Faculty + Corporate Mentors</a:t>
                      </a:r>
                    </a:p>
                  </a:txBody>
                  <a:tcPr anchor="ctr">
                    <a:solidFill>
                      <a:srgbClr val="13161C"/>
                    </a:solidFill>
                  </a:tcPr>
                </a:tc>
                <a:extLst>
                  <a:ext uri="{0D108BD9-81ED-4DB2-BD59-A6C34878D82A}">
                    <a16:rowId xmlns:a16="http://schemas.microsoft.com/office/drawing/2014/main" val="10004"/>
                  </a:ext>
                </a:extLst>
              </a:tr>
              <a:tr h="548640">
                <a:tc>
                  <a:txBody>
                    <a:bodyPr/>
                    <a:lstStyle/>
                    <a:p>
                      <a:pPr>
                        <a:defRPr sz="950" b="1">
                          <a:solidFill>
                            <a:srgbClr val="FFFFFF"/>
                          </a:solidFill>
                          <a:latin typeface="Calibri"/>
                        </a:defRPr>
                      </a:pPr>
                      <a:r>
                        <a:t>Objective Rubric Evaluation</a:t>
                      </a:r>
                    </a:p>
                  </a:txBody>
                  <a:tcPr anchor="ctr">
                    <a:solidFill>
                      <a:srgbClr val="181C24"/>
                    </a:solidFill>
                  </a:tcPr>
                </a:tc>
                <a:tc>
                  <a:txBody>
                    <a:bodyPr/>
                    <a:lstStyle/>
                    <a:p>
                      <a:pPr>
                        <a:defRPr sz="950">
                          <a:solidFill>
                            <a:srgbClr val="A5ACB9"/>
                          </a:solidFill>
                          <a:latin typeface="Calibri"/>
                        </a:defRPr>
                      </a:pPr>
                      <a:r>
                        <a:t>Subjective paper forms</a:t>
                      </a:r>
                    </a:p>
                  </a:txBody>
                  <a:tcPr anchor="ctr">
                    <a:solidFill>
                      <a:srgbClr val="181C24"/>
                    </a:solidFill>
                  </a:tcPr>
                </a:tc>
                <a:tc>
                  <a:txBody>
                    <a:bodyPr/>
                    <a:lstStyle/>
                    <a:p>
                      <a:pPr>
                        <a:defRPr sz="950">
                          <a:solidFill>
                            <a:srgbClr val="A5ACB9"/>
                          </a:solidFill>
                          <a:latin typeface="Calibri"/>
                        </a:defRPr>
                      </a:pPr>
                      <a:r>
                        <a:t>Basic employer rating</a:t>
                      </a:r>
                    </a:p>
                  </a:txBody>
                  <a:tcPr anchor="ctr">
                    <a:solidFill>
                      <a:srgbClr val="181C24"/>
                    </a:solidFill>
                  </a:tcPr>
                </a:tc>
                <a:tc>
                  <a:txBody>
                    <a:bodyPr/>
                    <a:lstStyle/>
                    <a:p>
                      <a:pPr>
                        <a:defRPr sz="950">
                          <a:solidFill>
                            <a:srgbClr val="A5ACB9"/>
                          </a:solidFill>
                          <a:latin typeface="Calibri"/>
                        </a:defRPr>
                      </a:pPr>
                      <a:r>
                        <a:t>Structured 0-100 Rubric &amp; Feedback</a:t>
                      </a:r>
                    </a:p>
                  </a:txBody>
                  <a:tcPr anchor="ctr">
                    <a:solidFill>
                      <a:srgbClr val="181C24"/>
                    </a:solidFill>
                  </a:tcPr>
                </a:tc>
                <a:extLst>
                  <a:ext uri="{0D108BD9-81ED-4DB2-BD59-A6C34878D82A}">
                    <a16:rowId xmlns:a16="http://schemas.microsoft.com/office/drawing/2014/main" val="10005"/>
                  </a:ext>
                </a:extLst>
              </a:tr>
              <a:tr h="548640">
                <a:tc>
                  <a:txBody>
                    <a:bodyPr/>
                    <a:lstStyle/>
                    <a:p>
                      <a:pPr>
                        <a:defRPr sz="950" b="1">
                          <a:solidFill>
                            <a:srgbClr val="FFFFFF"/>
                          </a:solidFill>
                          <a:latin typeface="Calibri"/>
                        </a:defRPr>
                      </a:pPr>
                      <a:r>
                        <a:t>Tamper-Proof Certification</a:t>
                      </a:r>
                    </a:p>
                  </a:txBody>
                  <a:tcPr anchor="ctr">
                    <a:solidFill>
                      <a:srgbClr val="13161C"/>
                    </a:solidFill>
                  </a:tcPr>
                </a:tc>
                <a:tc>
                  <a:txBody>
                    <a:bodyPr/>
                    <a:lstStyle/>
                    <a:p>
                      <a:pPr>
                        <a:defRPr sz="950">
                          <a:solidFill>
                            <a:srgbClr val="A5ACB9"/>
                          </a:solidFill>
                          <a:latin typeface="Calibri"/>
                        </a:defRPr>
                      </a:pPr>
                      <a:r>
                        <a:t>Manual unverified PDFs</a:t>
                      </a:r>
                    </a:p>
                  </a:txBody>
                  <a:tcPr anchor="ctr">
                    <a:solidFill>
                      <a:srgbClr val="13161C"/>
                    </a:solidFill>
                  </a:tcPr>
                </a:tc>
                <a:tc>
                  <a:txBody>
                    <a:bodyPr/>
                    <a:lstStyle/>
                    <a:p>
                      <a:pPr>
                        <a:defRPr sz="950">
                          <a:solidFill>
                            <a:srgbClr val="A5ACB9"/>
                          </a:solidFill>
                          <a:latin typeface="Calibri"/>
                        </a:defRPr>
                      </a:pPr>
                      <a:r>
                        <a:t>Generic completion badges</a:t>
                      </a:r>
                    </a:p>
                  </a:txBody>
                  <a:tcPr anchor="ctr">
                    <a:solidFill>
                      <a:srgbClr val="13161C"/>
                    </a:solidFill>
                  </a:tcPr>
                </a:tc>
                <a:tc>
                  <a:txBody>
                    <a:bodyPr/>
                    <a:lstStyle/>
                    <a:p>
                      <a:pPr>
                        <a:defRPr sz="950">
                          <a:solidFill>
                            <a:srgbClr val="A5ACB9"/>
                          </a:solidFill>
                          <a:latin typeface="Calibri"/>
                        </a:defRPr>
                      </a:pPr>
                      <a:r>
                        <a:t>Database Verification Hash (Cert_ID)</a:t>
                      </a:r>
                    </a:p>
                  </a:txBody>
                  <a:tcPr anchor="ctr">
                    <a:solidFill>
                      <a:srgbClr val="13161C"/>
                    </a:solidFill>
                  </a:tcPr>
                </a:tc>
                <a:extLst>
                  <a:ext uri="{0D108BD9-81ED-4DB2-BD59-A6C34878D82A}">
                    <a16:rowId xmlns:a16="http://schemas.microsoft.com/office/drawing/2014/main" val="10006"/>
                  </a:ext>
                </a:extLst>
              </a:tr>
              <a:tr h="548640">
                <a:tc>
                  <a:txBody>
                    <a:bodyPr/>
                    <a:lstStyle/>
                    <a:p>
                      <a:pPr>
                        <a:defRPr sz="950" b="1">
                          <a:solidFill>
                            <a:srgbClr val="FFFFFF"/>
                          </a:solidFill>
                          <a:latin typeface="Calibri"/>
                        </a:defRPr>
                      </a:pPr>
                      <a:r>
                        <a:t>Institutional SQL Reporting</a:t>
                      </a:r>
                    </a:p>
                  </a:txBody>
                  <a:tcPr anchor="ctr">
                    <a:solidFill>
                      <a:srgbClr val="181C24"/>
                    </a:solidFill>
                  </a:tcPr>
                </a:tc>
                <a:tc>
                  <a:txBody>
                    <a:bodyPr/>
                    <a:lstStyle/>
                    <a:p>
                      <a:pPr>
                        <a:defRPr sz="950">
                          <a:solidFill>
                            <a:srgbClr val="A5ACB9"/>
                          </a:solidFill>
                          <a:latin typeface="Calibri"/>
                        </a:defRPr>
                      </a:pPr>
                      <a:r>
                        <a:t>Complex manual formulas</a:t>
                      </a:r>
                    </a:p>
                  </a:txBody>
                  <a:tcPr anchor="ctr">
                    <a:solidFill>
                      <a:srgbClr val="181C24"/>
                    </a:solidFill>
                  </a:tcPr>
                </a:tc>
                <a:tc>
                  <a:txBody>
                    <a:bodyPr/>
                    <a:lstStyle/>
                    <a:p>
                      <a:pPr>
                        <a:defRPr sz="950">
                          <a:solidFill>
                            <a:srgbClr val="A5ACB9"/>
                          </a:solidFill>
                          <a:latin typeface="Calibri"/>
                        </a:defRPr>
                      </a:pPr>
                      <a:r>
                        <a:t>Restricted / Paid Recruiter APIs</a:t>
                      </a:r>
                    </a:p>
                  </a:txBody>
                  <a:tcPr anchor="ctr">
                    <a:solidFill>
                      <a:srgbClr val="181C24"/>
                    </a:solidFill>
                  </a:tcPr>
                </a:tc>
                <a:tc>
                  <a:txBody>
                    <a:bodyPr/>
                    <a:lstStyle/>
                    <a:p>
                      <a:pPr>
                        <a:defRPr sz="950">
                          <a:solidFill>
                            <a:srgbClr val="A5ACB9"/>
                          </a:solidFill>
                          <a:latin typeface="Calibri"/>
                        </a:defRPr>
                      </a:pPr>
                      <a:r>
                        <a:t>Instant Normalized Analytical Views</a:t>
                      </a:r>
                    </a:p>
                  </a:txBody>
                  <a:tcPr anchor="ctr">
                    <a:solidFill>
                      <a:srgbClr val="181C24"/>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rPr dirty="0"/>
              <a:t>REVIEW 1 • SYSTEM GOALS</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Core Objectives &amp; Project Scope</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Objectives </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9" name="Rounded Rectangle 8"/>
          <p:cNvSpPr/>
          <p:nvPr/>
        </p:nvSpPr>
        <p:spPr>
          <a:xfrm>
            <a:off x="731520" y="2718825"/>
            <a:ext cx="2514600" cy="2320526"/>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44220" y="1658620"/>
            <a:ext cx="2489200"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9487" y="2907792"/>
            <a:ext cx="2148840" cy="1872307"/>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1. Centralization</a:t>
            </a:r>
          </a:p>
          <a:p>
            <a:pPr>
              <a:spcAft>
                <a:spcPts val="400"/>
              </a:spcAft>
            </a:pPr>
            <a:r>
              <a:rPr sz="1100" b="1" dirty="0">
                <a:solidFill>
                  <a:srgbClr val="FFFFFF"/>
                </a:solidFill>
                <a:latin typeface="Calibri"/>
              </a:rPr>
              <a:t>• Single Source of Truth: </a:t>
            </a:r>
            <a:r>
              <a:rPr sz="1100" dirty="0">
                <a:solidFill>
                  <a:srgbClr val="A5ACB9"/>
                </a:solidFill>
                <a:latin typeface="Calibri"/>
              </a:rPr>
              <a:t>Unify students, recruiters, and faculty into one relational schema.</a:t>
            </a:r>
          </a:p>
          <a:p>
            <a:pPr>
              <a:spcAft>
                <a:spcPts val="400"/>
              </a:spcAft>
            </a:pPr>
            <a:r>
              <a:rPr sz="1100" b="1" dirty="0">
                <a:solidFill>
                  <a:srgbClr val="FFFFFF"/>
                </a:solidFill>
                <a:latin typeface="Calibri"/>
              </a:rPr>
              <a:t>• Eliminate Redundancy: </a:t>
            </a:r>
            <a:r>
              <a:rPr sz="1100" dirty="0">
                <a:solidFill>
                  <a:srgbClr val="A5ACB9"/>
                </a:solidFill>
                <a:latin typeface="Calibri"/>
              </a:rPr>
              <a:t>Decompose flat files into 12 normalized tables up to 3NF.</a:t>
            </a:r>
          </a:p>
          <a:p>
            <a:pPr>
              <a:spcAft>
                <a:spcPts val="400"/>
              </a:spcAft>
            </a:pPr>
            <a:r>
              <a:rPr sz="1100" b="1" dirty="0">
                <a:solidFill>
                  <a:srgbClr val="FFFFFF"/>
                </a:solidFill>
                <a:latin typeface="Calibri"/>
              </a:rPr>
              <a:t>• Role-Based Isolation: </a:t>
            </a:r>
            <a:r>
              <a:rPr sz="1100" dirty="0">
                <a:solidFill>
                  <a:srgbClr val="A5ACB9"/>
                </a:solidFill>
                <a:latin typeface="Calibri"/>
              </a:rPr>
              <a:t>Distinct data partitions preventing unauthorized data modification.</a:t>
            </a:r>
          </a:p>
        </p:txBody>
      </p:sp>
      <p:sp>
        <p:nvSpPr>
          <p:cNvPr id="12" name="Rounded Rectangle 11"/>
          <p:cNvSpPr/>
          <p:nvPr/>
        </p:nvSpPr>
        <p:spPr>
          <a:xfrm>
            <a:off x="9319107" y="2731524"/>
            <a:ext cx="2514600" cy="2320527"/>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0" y="1658620"/>
            <a:ext cx="2489200"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46520" y="2718824"/>
            <a:ext cx="2514600" cy="2320527"/>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0" y="1658620"/>
            <a:ext cx="2489200"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82434" y="2907792"/>
            <a:ext cx="2148840" cy="1872307"/>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3. Analytical Reporting</a:t>
            </a:r>
          </a:p>
          <a:p>
            <a:pPr>
              <a:spcAft>
                <a:spcPts val="400"/>
              </a:spcAft>
            </a:pPr>
            <a:r>
              <a:rPr sz="1100" b="1" dirty="0">
                <a:solidFill>
                  <a:srgbClr val="FFFFFF"/>
                </a:solidFill>
                <a:latin typeface="Calibri"/>
              </a:rPr>
              <a:t>• Comprehensive Views: </a:t>
            </a:r>
            <a:r>
              <a:rPr sz="1100" dirty="0">
                <a:solidFill>
                  <a:srgbClr val="A5ACB9"/>
                </a:solidFill>
                <a:latin typeface="Calibri"/>
              </a:rPr>
              <a:t>Active cohorts, pending approvals, and missing weekly logs.</a:t>
            </a:r>
          </a:p>
          <a:p>
            <a:pPr>
              <a:spcAft>
                <a:spcPts val="400"/>
              </a:spcAft>
            </a:pPr>
            <a:r>
              <a:rPr sz="1100" b="1" dirty="0">
                <a:solidFill>
                  <a:srgbClr val="FFFFFF"/>
                </a:solidFill>
                <a:latin typeface="Calibri"/>
              </a:rPr>
              <a:t>• Institutional Metrics: </a:t>
            </a:r>
            <a:r>
              <a:rPr sz="1100" dirty="0">
                <a:solidFill>
                  <a:srgbClr val="A5ACB9"/>
                </a:solidFill>
                <a:latin typeface="Calibri"/>
              </a:rPr>
              <a:t>Track recruiter hiring ratios and departmental performance.</a:t>
            </a:r>
          </a:p>
          <a:p>
            <a:pPr>
              <a:spcAft>
                <a:spcPts val="400"/>
              </a:spcAft>
            </a:pPr>
            <a:r>
              <a:rPr sz="1100" b="1" dirty="0">
                <a:solidFill>
                  <a:srgbClr val="FFFFFF"/>
                </a:solidFill>
                <a:latin typeface="Calibri"/>
              </a:rPr>
              <a:t>• Optimized Execution: </a:t>
            </a:r>
            <a:r>
              <a:rPr sz="1100" dirty="0">
                <a:solidFill>
                  <a:srgbClr val="A5ACB9"/>
                </a:solidFill>
                <a:latin typeface="Calibri"/>
              </a:rPr>
              <a:t>B-Tree indexed foreign keys for rapid query processing.</a:t>
            </a:r>
          </a:p>
        </p:txBody>
      </p:sp>
      <p:sp>
        <p:nvSpPr>
          <p:cNvPr id="18" name="Rounded Rectangle 17"/>
          <p:cNvSpPr/>
          <p:nvPr/>
        </p:nvSpPr>
        <p:spPr>
          <a:xfrm>
            <a:off x="3604107" y="2733049"/>
            <a:ext cx="2514600" cy="2320527"/>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defRPr sz="1300" b="1">
                <a:solidFill>
                  <a:srgbClr val="FFD778"/>
                </a:solidFill>
                <a:latin typeface="Georgia"/>
              </a:defRPr>
            </a:pPr>
            <a:r>
              <a:rPr lang="en-IN" sz="1100" dirty="0"/>
              <a:t>2. Integrity Enforcement</a:t>
            </a:r>
          </a:p>
          <a:p>
            <a:pPr>
              <a:spcAft>
                <a:spcPts val="400"/>
              </a:spcAft>
            </a:pPr>
            <a:r>
              <a:rPr lang="en-IN" sz="1100" b="1" dirty="0">
                <a:solidFill>
                  <a:srgbClr val="FFFFFF"/>
                </a:solidFill>
              </a:rPr>
              <a:t>• No Overlapping Internships: </a:t>
            </a:r>
            <a:r>
              <a:rPr lang="en-IN" sz="1100" dirty="0">
                <a:solidFill>
                  <a:srgbClr val="A5ACB9"/>
                </a:solidFill>
              </a:rPr>
              <a:t>Prevent concurrent active assignments per student.</a:t>
            </a:r>
          </a:p>
          <a:p>
            <a:pPr>
              <a:spcAft>
                <a:spcPts val="400"/>
              </a:spcAft>
            </a:pPr>
            <a:r>
              <a:rPr lang="en-IN" sz="1100" b="1" dirty="0">
                <a:solidFill>
                  <a:srgbClr val="FFFFFF"/>
                </a:solidFill>
              </a:rPr>
              <a:t>• Pre-requisite Validation: </a:t>
            </a:r>
            <a:r>
              <a:rPr lang="en-IN" sz="1100" dirty="0">
                <a:solidFill>
                  <a:srgbClr val="A5ACB9"/>
                </a:solidFill>
              </a:rPr>
              <a:t>Enforce approval before assignment creation.</a:t>
            </a:r>
          </a:p>
          <a:p>
            <a:pPr>
              <a:spcAft>
                <a:spcPts val="400"/>
              </a:spcAft>
            </a:pPr>
            <a:r>
              <a:rPr lang="en-IN" sz="1100" b="1" dirty="0">
                <a:solidFill>
                  <a:srgbClr val="FFFFFF"/>
                </a:solidFill>
              </a:rPr>
              <a:t>• Chronological Constraints: </a:t>
            </a:r>
            <a:r>
              <a:rPr lang="en-IN" sz="1100" dirty="0">
                <a:solidFill>
                  <a:srgbClr val="A5ACB9"/>
                </a:solidFill>
              </a:rPr>
              <a:t>Validate that progress logs occur strictly within assignment dates.</a:t>
            </a:r>
          </a:p>
        </p:txBody>
      </p:sp>
      <p:sp>
        <p:nvSpPr>
          <p:cNvPr id="19" name="Rounded Rectangle 18"/>
          <p:cNvSpPr/>
          <p:nvPr/>
        </p:nvSpPr>
        <p:spPr>
          <a:xfrm>
            <a:off x="0" y="1658620"/>
            <a:ext cx="2489200"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16287" y="2894076"/>
            <a:ext cx="2148840" cy="1872307"/>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4. Interactive UI</a:t>
            </a:r>
          </a:p>
          <a:p>
            <a:pPr>
              <a:spcAft>
                <a:spcPts val="400"/>
              </a:spcAft>
            </a:pPr>
            <a:r>
              <a:rPr sz="1100" b="1" dirty="0">
                <a:solidFill>
                  <a:srgbClr val="FFFFFF"/>
                </a:solidFill>
                <a:latin typeface="Calibri"/>
              </a:rPr>
              <a:t>• Multi-Role Frontend: </a:t>
            </a:r>
            <a:r>
              <a:rPr sz="1100" dirty="0">
                <a:solidFill>
                  <a:srgbClr val="A5ACB9"/>
                </a:solidFill>
                <a:latin typeface="Calibri"/>
              </a:rPr>
              <a:t>Accessible UI supporting CRUD for all 5 stakeholder personas.</a:t>
            </a:r>
          </a:p>
          <a:p>
            <a:pPr>
              <a:spcAft>
                <a:spcPts val="400"/>
              </a:spcAft>
            </a:pPr>
            <a:r>
              <a:rPr sz="1100" b="1" dirty="0">
                <a:solidFill>
                  <a:srgbClr val="FFFFFF"/>
                </a:solidFill>
                <a:latin typeface="Calibri"/>
              </a:rPr>
              <a:t>• Error Guardrails: </a:t>
            </a:r>
            <a:r>
              <a:rPr sz="1100" dirty="0">
                <a:solidFill>
                  <a:srgbClr val="A5ACB9"/>
                </a:solidFill>
                <a:latin typeface="Calibri"/>
              </a:rPr>
              <a:t>Client-side input sanitization matching backend constraints.</a:t>
            </a:r>
          </a:p>
          <a:p>
            <a:pPr>
              <a:spcAft>
                <a:spcPts val="400"/>
              </a:spcAft>
            </a:pPr>
            <a:r>
              <a:rPr sz="1100" b="1" dirty="0">
                <a:solidFill>
                  <a:srgbClr val="FFFFFF"/>
                </a:solidFill>
                <a:latin typeface="Calibri"/>
              </a:rPr>
              <a:t>• Audit &amp; Certificate: </a:t>
            </a:r>
            <a:r>
              <a:rPr sz="1100" dirty="0">
                <a:solidFill>
                  <a:srgbClr val="A5ACB9"/>
                </a:solidFill>
                <a:latin typeface="Calibri"/>
              </a:rPr>
              <a:t>Automated certificate issuance with verifiable cryptographic codes.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1 • ACTORS &amp; USE CASES</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Five Key User Roles &amp; Stakeholder Workflow</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Users</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9" name="Rounded Rectangle 8"/>
          <p:cNvSpPr/>
          <p:nvPr/>
        </p:nvSpPr>
        <p:spPr>
          <a:xfrm>
            <a:off x="9805805" y="1784096"/>
            <a:ext cx="1993392"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ounded Rectangle 9"/>
          <p:cNvSpPr/>
          <p:nvPr/>
        </p:nvSpPr>
        <p:spPr>
          <a:xfrm>
            <a:off x="744220" y="1658620"/>
            <a:ext cx="1967992"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96043" y="1810512"/>
            <a:ext cx="1993392"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0" y="1658620"/>
            <a:ext cx="1967992"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22750" y="2040128"/>
            <a:ext cx="1627632" cy="4224528"/>
          </a:xfrm>
          <a:prstGeom prst="rect">
            <a:avLst/>
          </a:prstGeom>
          <a:noFill/>
        </p:spPr>
        <p:txBody>
          <a:bodyPr wrap="square" lIns="0" tIns="0" rIns="0" bIns="0">
            <a:spAutoFit/>
          </a:bodyPr>
          <a:lstStyle/>
          <a:p>
            <a:pPr>
              <a:spcAft>
                <a:spcPts val="600"/>
              </a:spcAft>
              <a:defRPr sz="1300" b="1">
                <a:solidFill>
                  <a:srgbClr val="FFD778"/>
                </a:solidFill>
                <a:latin typeface="Georgia"/>
              </a:defRPr>
            </a:pPr>
            <a:r>
              <a:t>Organization</a:t>
            </a:r>
          </a:p>
          <a:p>
            <a:pPr>
              <a:spcAft>
                <a:spcPts val="400"/>
              </a:spcAft>
            </a:pPr>
            <a:r>
              <a:rPr sz="1050" b="1">
                <a:solidFill>
                  <a:srgbClr val="FFFFFF"/>
                </a:solidFill>
                <a:latin typeface="Calibri"/>
              </a:rPr>
              <a:t>• Openings Publication: </a:t>
            </a:r>
            <a:r>
              <a:rPr sz="1000">
                <a:solidFill>
                  <a:srgbClr val="A5ACB9"/>
                </a:solidFill>
                <a:latin typeface="Calibri"/>
              </a:rPr>
              <a:t>Post internship roles with stipends &amp; locations.</a:t>
            </a:r>
          </a:p>
          <a:p>
            <a:pPr>
              <a:spcAft>
                <a:spcPts val="400"/>
              </a:spcAft>
            </a:pPr>
            <a:r>
              <a:rPr sz="1050" b="1">
                <a:solidFill>
                  <a:srgbClr val="FFFFFF"/>
                </a:solidFill>
                <a:latin typeface="Calibri"/>
              </a:rPr>
              <a:t>• Applicant Review: </a:t>
            </a:r>
            <a:r>
              <a:rPr sz="1000">
                <a:solidFill>
                  <a:srgbClr val="A5ACB9"/>
                </a:solidFill>
                <a:latin typeface="Calibri"/>
              </a:rPr>
              <a:t>Review student profiles and shortlist candidates.</a:t>
            </a:r>
          </a:p>
          <a:p>
            <a:pPr>
              <a:spcAft>
                <a:spcPts val="400"/>
              </a:spcAft>
            </a:pPr>
            <a:r>
              <a:rPr sz="1050" b="1">
                <a:solidFill>
                  <a:srgbClr val="FFFFFF"/>
                </a:solidFill>
                <a:latin typeface="Calibri"/>
              </a:rPr>
              <a:t>• Supervisor Delegation: </a:t>
            </a:r>
            <a:r>
              <a:rPr sz="1000">
                <a:solidFill>
                  <a:srgbClr val="A5ACB9"/>
                </a:solidFill>
                <a:latin typeface="Calibri"/>
              </a:rPr>
              <a:t>Assign company supervisors to accepted interns.</a:t>
            </a:r>
          </a:p>
          <a:p>
            <a:pPr>
              <a:spcAft>
                <a:spcPts val="400"/>
              </a:spcAft>
            </a:pPr>
            <a:r>
              <a:rPr sz="1050" b="1">
                <a:solidFill>
                  <a:srgbClr val="FFFFFF"/>
                </a:solidFill>
                <a:latin typeface="Calibri"/>
              </a:rPr>
              <a:t>• Participation Tracking: </a:t>
            </a:r>
            <a:r>
              <a:rPr sz="1000">
                <a:solidFill>
                  <a:srgbClr val="A5ACB9"/>
                </a:solidFill>
                <a:latin typeface="Calibri"/>
              </a:rPr>
              <a:t>Monitor institutional engagement metrics.</a:t>
            </a:r>
          </a:p>
        </p:txBody>
      </p:sp>
      <p:sp>
        <p:nvSpPr>
          <p:cNvPr id="15" name="Rounded Rectangle 14"/>
          <p:cNvSpPr/>
          <p:nvPr/>
        </p:nvSpPr>
        <p:spPr>
          <a:xfrm>
            <a:off x="5140775" y="1801368"/>
            <a:ext cx="1993392"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0" y="1658620"/>
            <a:ext cx="1967992"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20554" y="2018030"/>
            <a:ext cx="1627632" cy="4224528"/>
          </a:xfrm>
          <a:prstGeom prst="rect">
            <a:avLst/>
          </a:prstGeom>
          <a:noFill/>
        </p:spPr>
        <p:txBody>
          <a:bodyPr wrap="square" lIns="0" tIns="0" rIns="0" bIns="0">
            <a:spAutoFit/>
          </a:bodyPr>
          <a:lstStyle/>
          <a:p>
            <a:pPr>
              <a:spcAft>
                <a:spcPts val="600"/>
              </a:spcAft>
              <a:defRPr sz="1300" b="1">
                <a:solidFill>
                  <a:srgbClr val="FFD778"/>
                </a:solidFill>
                <a:latin typeface="Georgia"/>
              </a:defRPr>
            </a:pPr>
            <a:r>
              <a:rPr dirty="0"/>
              <a:t>Faculty Mentor</a:t>
            </a:r>
          </a:p>
          <a:p>
            <a:pPr>
              <a:spcAft>
                <a:spcPts val="400"/>
              </a:spcAft>
            </a:pPr>
            <a:r>
              <a:rPr sz="1050" b="1" dirty="0">
                <a:solidFill>
                  <a:srgbClr val="FFFFFF"/>
                </a:solidFill>
                <a:latin typeface="Calibri"/>
              </a:rPr>
              <a:t>• Application Vetting: </a:t>
            </a:r>
            <a:r>
              <a:rPr sz="1000" dirty="0">
                <a:solidFill>
                  <a:srgbClr val="A5ACB9"/>
                </a:solidFill>
                <a:latin typeface="Calibri"/>
              </a:rPr>
              <a:t>Review student applications for academic fit.</a:t>
            </a:r>
          </a:p>
          <a:p>
            <a:pPr>
              <a:spcAft>
                <a:spcPts val="400"/>
              </a:spcAft>
            </a:pPr>
            <a:r>
              <a:rPr sz="1050" b="1" dirty="0">
                <a:solidFill>
                  <a:srgbClr val="FFFFFF"/>
                </a:solidFill>
                <a:latin typeface="Calibri"/>
              </a:rPr>
              <a:t>• Approval Authorization: </a:t>
            </a:r>
            <a:r>
              <a:rPr sz="1000" dirty="0">
                <a:solidFill>
                  <a:srgbClr val="A5ACB9"/>
                </a:solidFill>
                <a:latin typeface="Calibri"/>
              </a:rPr>
              <a:t>Grant or reject institutional approvals.</a:t>
            </a:r>
          </a:p>
          <a:p>
            <a:pPr>
              <a:spcAft>
                <a:spcPts val="400"/>
              </a:spcAft>
            </a:pPr>
            <a:r>
              <a:rPr sz="1050" b="1" dirty="0">
                <a:solidFill>
                  <a:srgbClr val="FFFFFF"/>
                </a:solidFill>
                <a:latin typeface="Calibri"/>
              </a:rPr>
              <a:t>• Log Inspection: </a:t>
            </a:r>
            <a:r>
              <a:rPr sz="1000" dirty="0">
                <a:solidFill>
                  <a:srgbClr val="A5ACB9"/>
                </a:solidFill>
                <a:latin typeface="Calibri"/>
              </a:rPr>
              <a:t>Monitor weekly submissions and identify gaps.</a:t>
            </a:r>
          </a:p>
          <a:p>
            <a:pPr>
              <a:spcAft>
                <a:spcPts val="400"/>
              </a:spcAft>
            </a:pPr>
            <a:r>
              <a:rPr sz="1050" b="1" dirty="0">
                <a:solidFill>
                  <a:srgbClr val="FFFFFF"/>
                </a:solidFill>
                <a:latin typeface="Calibri"/>
              </a:rPr>
              <a:t>• Academic Guidance: </a:t>
            </a:r>
            <a:r>
              <a:rPr sz="1000" dirty="0">
                <a:solidFill>
                  <a:srgbClr val="A5ACB9"/>
                </a:solidFill>
                <a:latin typeface="Calibri"/>
              </a:rPr>
              <a:t>Serve as university liaison for company supervisors.</a:t>
            </a:r>
          </a:p>
        </p:txBody>
      </p:sp>
      <p:sp>
        <p:nvSpPr>
          <p:cNvPr id="18" name="Rounded Rectangle 17"/>
          <p:cNvSpPr/>
          <p:nvPr/>
        </p:nvSpPr>
        <p:spPr>
          <a:xfrm>
            <a:off x="7473290" y="1810512"/>
            <a:ext cx="1993392"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0" y="1658620"/>
            <a:ext cx="1967992"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90104" y="2034540"/>
            <a:ext cx="1627632" cy="4224528"/>
          </a:xfrm>
          <a:prstGeom prst="rect">
            <a:avLst/>
          </a:prstGeom>
          <a:noFill/>
        </p:spPr>
        <p:txBody>
          <a:bodyPr wrap="square" lIns="0" tIns="0" rIns="0" bIns="0">
            <a:spAutoFit/>
          </a:bodyPr>
          <a:lstStyle/>
          <a:p>
            <a:pPr>
              <a:spcAft>
                <a:spcPts val="600"/>
              </a:spcAft>
              <a:defRPr sz="1300" b="1">
                <a:solidFill>
                  <a:srgbClr val="FFD778"/>
                </a:solidFill>
                <a:latin typeface="Georgia"/>
              </a:defRPr>
            </a:pPr>
            <a:r>
              <a:rPr dirty="0"/>
              <a:t>Company Supervisor</a:t>
            </a:r>
          </a:p>
          <a:p>
            <a:pPr>
              <a:spcAft>
                <a:spcPts val="400"/>
              </a:spcAft>
            </a:pPr>
            <a:r>
              <a:rPr sz="1050" b="1" dirty="0">
                <a:solidFill>
                  <a:srgbClr val="FFFFFF"/>
                </a:solidFill>
                <a:latin typeface="Calibri"/>
              </a:rPr>
              <a:t>• Task Assignment: </a:t>
            </a:r>
            <a:r>
              <a:rPr sz="1000" dirty="0">
                <a:solidFill>
                  <a:srgbClr val="A5ACB9"/>
                </a:solidFill>
                <a:latin typeface="Calibri"/>
              </a:rPr>
              <a:t>Direct on-site or remote intern tasks.</a:t>
            </a:r>
          </a:p>
          <a:p>
            <a:pPr>
              <a:spcAft>
                <a:spcPts val="400"/>
              </a:spcAft>
            </a:pPr>
            <a:r>
              <a:rPr sz="1050" b="1" dirty="0">
                <a:solidFill>
                  <a:srgbClr val="FFFFFF"/>
                </a:solidFill>
                <a:latin typeface="Calibri"/>
              </a:rPr>
              <a:t>• Milestone Signoff: </a:t>
            </a:r>
            <a:r>
              <a:rPr sz="1000" dirty="0">
                <a:solidFill>
                  <a:srgbClr val="A5ACB9"/>
                </a:solidFill>
                <a:latin typeface="Calibri"/>
              </a:rPr>
              <a:t>Verify weekly progress submissions.</a:t>
            </a:r>
          </a:p>
          <a:p>
            <a:pPr>
              <a:spcAft>
                <a:spcPts val="400"/>
              </a:spcAft>
            </a:pPr>
            <a:r>
              <a:rPr sz="1050" b="1" dirty="0">
                <a:solidFill>
                  <a:srgbClr val="FFFFFF"/>
                </a:solidFill>
                <a:latin typeface="Calibri"/>
              </a:rPr>
              <a:t>• Performance Grading: </a:t>
            </a:r>
            <a:r>
              <a:rPr sz="1000" dirty="0">
                <a:solidFill>
                  <a:srgbClr val="A5ACB9"/>
                </a:solidFill>
                <a:latin typeface="Calibri"/>
              </a:rPr>
              <a:t>Submit formal evaluations (0–100 rubric).</a:t>
            </a:r>
          </a:p>
          <a:p>
            <a:pPr>
              <a:spcAft>
                <a:spcPts val="400"/>
              </a:spcAft>
            </a:pPr>
            <a:r>
              <a:rPr sz="1050" b="1" dirty="0">
                <a:solidFill>
                  <a:srgbClr val="FFFFFF"/>
                </a:solidFill>
                <a:latin typeface="Calibri"/>
              </a:rPr>
              <a:t>• Qualitative Feedback: </a:t>
            </a:r>
            <a:r>
              <a:rPr sz="1000" dirty="0">
                <a:solidFill>
                  <a:srgbClr val="A5ACB9"/>
                </a:solidFill>
                <a:latin typeface="Calibri"/>
              </a:rPr>
              <a:t>Provide final recommendations and comments.</a:t>
            </a:r>
          </a:p>
        </p:txBody>
      </p:sp>
      <p:sp>
        <p:nvSpPr>
          <p:cNvPr id="21" name="Rounded Rectangle 20"/>
          <p:cNvSpPr/>
          <p:nvPr/>
        </p:nvSpPr>
        <p:spPr>
          <a:xfrm>
            <a:off x="2808260" y="1784096"/>
            <a:ext cx="1993392"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0" y="1658620"/>
            <a:ext cx="1967992"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1796" y="2056892"/>
            <a:ext cx="1627632" cy="4224528"/>
          </a:xfrm>
          <a:prstGeom prst="rect">
            <a:avLst/>
          </a:prstGeom>
          <a:noFill/>
        </p:spPr>
        <p:txBody>
          <a:bodyPr wrap="square" lIns="0" tIns="0" rIns="0" bIns="0">
            <a:spAutoFit/>
          </a:bodyPr>
          <a:lstStyle/>
          <a:p>
            <a:pPr>
              <a:spcAft>
                <a:spcPts val="600"/>
              </a:spcAft>
              <a:defRPr sz="1300" b="1">
                <a:solidFill>
                  <a:srgbClr val="FFD778"/>
                </a:solidFill>
                <a:latin typeface="Georgia"/>
              </a:defRPr>
            </a:pPr>
            <a:r>
              <a:rPr dirty="0"/>
              <a:t>Administrator</a:t>
            </a:r>
          </a:p>
          <a:p>
            <a:pPr>
              <a:spcAft>
                <a:spcPts val="400"/>
              </a:spcAft>
            </a:pPr>
            <a:r>
              <a:rPr sz="1050" b="1" dirty="0">
                <a:solidFill>
                  <a:srgbClr val="FFFFFF"/>
                </a:solidFill>
                <a:latin typeface="Calibri"/>
              </a:rPr>
              <a:t>• System Governance: </a:t>
            </a:r>
            <a:r>
              <a:rPr sz="1000" dirty="0">
                <a:solidFill>
                  <a:srgbClr val="A5ACB9"/>
                </a:solidFill>
                <a:latin typeface="Calibri"/>
              </a:rPr>
              <a:t>Manage master records and access control.</a:t>
            </a:r>
          </a:p>
          <a:p>
            <a:pPr>
              <a:spcAft>
                <a:spcPts val="400"/>
              </a:spcAft>
            </a:pPr>
            <a:r>
              <a:rPr sz="1050" b="1" dirty="0">
                <a:solidFill>
                  <a:srgbClr val="FFFFFF"/>
                </a:solidFill>
                <a:latin typeface="Calibri"/>
              </a:rPr>
              <a:t>• Compliance Audits: </a:t>
            </a:r>
            <a:r>
              <a:rPr sz="1000" dirty="0">
                <a:solidFill>
                  <a:srgbClr val="A5ACB9"/>
                </a:solidFill>
                <a:latin typeface="Calibri"/>
              </a:rPr>
              <a:t>Run reports on missing logs and active internships.</a:t>
            </a:r>
          </a:p>
          <a:p>
            <a:pPr>
              <a:spcAft>
                <a:spcPts val="400"/>
              </a:spcAft>
            </a:pPr>
            <a:r>
              <a:rPr sz="1050" b="1" dirty="0">
                <a:solidFill>
                  <a:srgbClr val="FFFFFF"/>
                </a:solidFill>
                <a:latin typeface="Calibri"/>
              </a:rPr>
              <a:t>• Certificate Issuance: </a:t>
            </a:r>
            <a:r>
              <a:rPr sz="1000" dirty="0">
                <a:solidFill>
                  <a:srgbClr val="A5ACB9"/>
                </a:solidFill>
                <a:latin typeface="Calibri"/>
              </a:rPr>
              <a:t>Issue verified completion certificates.</a:t>
            </a:r>
          </a:p>
          <a:p>
            <a:pPr>
              <a:spcAft>
                <a:spcPts val="400"/>
              </a:spcAft>
            </a:pPr>
            <a:r>
              <a:rPr sz="1050" b="1" dirty="0">
                <a:solidFill>
                  <a:srgbClr val="FFFFFF"/>
                </a:solidFill>
                <a:latin typeface="Calibri"/>
              </a:rPr>
              <a:t>• Database Oversight: </a:t>
            </a:r>
            <a:r>
              <a:rPr sz="1000" dirty="0">
                <a:solidFill>
                  <a:srgbClr val="A5ACB9"/>
                </a:solidFill>
                <a:latin typeface="Calibri"/>
              </a:rPr>
              <a:t>Ensure backup, ACID compliance, and indexing.</a:t>
            </a:r>
          </a:p>
        </p:txBody>
      </p:sp>
      <p:sp>
        <p:nvSpPr>
          <p:cNvPr id="24" name="TextBox 23">
            <a:extLst>
              <a:ext uri="{FF2B5EF4-FFF2-40B4-BE49-F238E27FC236}">
                <a16:creationId xmlns:a16="http://schemas.microsoft.com/office/drawing/2014/main" id="{DB3DFDDD-232C-AE31-4885-29F52E61A384}"/>
              </a:ext>
            </a:extLst>
          </p:cNvPr>
          <p:cNvSpPr txBox="1"/>
          <p:nvPr/>
        </p:nvSpPr>
        <p:spPr>
          <a:xfrm>
            <a:off x="2962656" y="2034540"/>
            <a:ext cx="1622051" cy="2636619"/>
          </a:xfrm>
          <a:prstGeom prst="rect">
            <a:avLst/>
          </a:prstGeom>
          <a:noFill/>
        </p:spPr>
        <p:txBody>
          <a:bodyPr wrap="square" rtlCol="0">
            <a:spAutoFit/>
          </a:bodyPr>
          <a:lstStyle/>
          <a:p>
            <a:pPr>
              <a:spcAft>
                <a:spcPts val="600"/>
              </a:spcAft>
              <a:defRPr sz="1300" b="1">
                <a:solidFill>
                  <a:srgbClr val="FFD778"/>
                </a:solidFill>
                <a:latin typeface="Georgia"/>
              </a:defRPr>
            </a:pPr>
            <a:r>
              <a:rPr lang="en-US" sz="1050" dirty="0"/>
              <a:t>Student</a:t>
            </a:r>
          </a:p>
          <a:p>
            <a:pPr>
              <a:spcAft>
                <a:spcPts val="400"/>
              </a:spcAft>
            </a:pPr>
            <a:r>
              <a:rPr lang="en-US" sz="1050" b="1" dirty="0">
                <a:solidFill>
                  <a:srgbClr val="FFFFFF"/>
                </a:solidFill>
              </a:rPr>
              <a:t>• Opportunity Discovery: </a:t>
            </a:r>
            <a:r>
              <a:rPr lang="en-US" sz="1050" dirty="0">
                <a:solidFill>
                  <a:srgbClr val="A5ACB9"/>
                </a:solidFill>
              </a:rPr>
              <a:t>Browse verified industry openings.</a:t>
            </a:r>
          </a:p>
          <a:p>
            <a:pPr>
              <a:spcAft>
                <a:spcPts val="400"/>
              </a:spcAft>
            </a:pPr>
            <a:r>
              <a:rPr lang="en-US" sz="1050" b="1" dirty="0">
                <a:solidFill>
                  <a:srgbClr val="FFFFFF"/>
                </a:solidFill>
              </a:rPr>
              <a:t>• Application Submission: </a:t>
            </a:r>
            <a:r>
              <a:rPr lang="en-US" sz="1050" dirty="0">
                <a:solidFill>
                  <a:srgbClr val="A5ACB9"/>
                </a:solidFill>
              </a:rPr>
              <a:t>Apply to openings with resume &amp; details.</a:t>
            </a:r>
          </a:p>
          <a:p>
            <a:pPr>
              <a:spcAft>
                <a:spcPts val="400"/>
              </a:spcAft>
            </a:pPr>
            <a:r>
              <a:rPr lang="en-US" sz="1050" b="1" dirty="0">
                <a:solidFill>
                  <a:srgbClr val="FFFFFF"/>
                </a:solidFill>
              </a:rPr>
              <a:t>• Log Submission: </a:t>
            </a:r>
            <a:r>
              <a:rPr lang="en-US" sz="1050" dirty="0">
                <a:solidFill>
                  <a:srgbClr val="A5ACB9"/>
                </a:solidFill>
              </a:rPr>
              <a:t>Upload weekly progress logs with timestamps.</a:t>
            </a:r>
          </a:p>
          <a:p>
            <a:pPr>
              <a:spcAft>
                <a:spcPts val="400"/>
              </a:spcAft>
            </a:pPr>
            <a:r>
              <a:rPr lang="en-US" sz="1050" b="1" dirty="0">
                <a:solidFill>
                  <a:srgbClr val="FFFFFF"/>
                </a:solidFill>
              </a:rPr>
              <a:t>• Certificate Retrieval: </a:t>
            </a:r>
            <a:r>
              <a:rPr lang="en-US" sz="1050" dirty="0">
                <a:solidFill>
                  <a:srgbClr val="A5ACB9"/>
                </a:solidFill>
              </a:rPr>
              <a:t>Download verified completion credentials.</a:t>
            </a:r>
          </a:p>
          <a:p>
            <a:endParaRPr lang="en-IN"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1 • SYSTEM SPECIFICATIONS</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Software Requirements Specification (SRS)</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SRS</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9" name="Rounded Rectangle 8"/>
          <p:cNvSpPr/>
          <p:nvPr/>
        </p:nvSpPr>
        <p:spPr>
          <a:xfrm>
            <a:off x="731520" y="1682496"/>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56920" y="1572768"/>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7100" y="2494280"/>
            <a:ext cx="2962656" cy="4224528"/>
          </a:xfrm>
          <a:prstGeom prst="rect">
            <a:avLst/>
          </a:prstGeom>
          <a:noFill/>
        </p:spPr>
        <p:txBody>
          <a:bodyPr wrap="square" lIns="0" tIns="0" rIns="0" bIns="0">
            <a:spAutoFit/>
          </a:bodyPr>
          <a:lstStyle/>
          <a:p>
            <a:pPr>
              <a:spcAft>
                <a:spcPts val="600"/>
              </a:spcAft>
              <a:defRPr sz="1300" b="1">
                <a:solidFill>
                  <a:srgbClr val="FFD778"/>
                </a:solidFill>
                <a:latin typeface="Georgia"/>
              </a:defRPr>
            </a:pPr>
            <a:r>
              <a:rPr dirty="0"/>
              <a:t>Software Requirements</a:t>
            </a:r>
          </a:p>
          <a:p>
            <a:pPr>
              <a:spcAft>
                <a:spcPts val="400"/>
              </a:spcAft>
            </a:pPr>
            <a:r>
              <a:rPr sz="1050" b="1" dirty="0">
                <a:solidFill>
                  <a:srgbClr val="FFFFFF"/>
                </a:solidFill>
                <a:latin typeface="Calibri"/>
              </a:rPr>
              <a:t>• RDBMS Engine: </a:t>
            </a:r>
            <a:r>
              <a:rPr sz="1000" dirty="0">
                <a:solidFill>
                  <a:srgbClr val="A5ACB9"/>
                </a:solidFill>
                <a:latin typeface="Calibri"/>
              </a:rPr>
              <a:t>MySQL 8.0+ / PostgreSQL 15+ / Oracle DB</a:t>
            </a:r>
          </a:p>
          <a:p>
            <a:pPr>
              <a:spcAft>
                <a:spcPts val="400"/>
              </a:spcAft>
            </a:pPr>
            <a:r>
              <a:rPr sz="1050" b="1" dirty="0">
                <a:solidFill>
                  <a:srgbClr val="FFFFFF"/>
                </a:solidFill>
                <a:latin typeface="Calibri"/>
              </a:rPr>
              <a:t>• Programming Language: </a:t>
            </a:r>
            <a:r>
              <a:rPr sz="1000" dirty="0">
                <a:solidFill>
                  <a:srgbClr val="A5ACB9"/>
                </a:solidFill>
                <a:latin typeface="Calibri"/>
              </a:rPr>
              <a:t>Python 3.10+ (Tkinter / </a:t>
            </a:r>
            <a:r>
              <a:rPr sz="1000" dirty="0" err="1">
                <a:solidFill>
                  <a:srgbClr val="A5ACB9"/>
                </a:solidFill>
                <a:latin typeface="Calibri"/>
              </a:rPr>
              <a:t>PyQt</a:t>
            </a:r>
            <a:r>
              <a:rPr sz="1000" dirty="0">
                <a:solidFill>
                  <a:srgbClr val="A5ACB9"/>
                </a:solidFill>
                <a:latin typeface="Calibri"/>
              </a:rPr>
              <a:t> / Flask)</a:t>
            </a:r>
          </a:p>
          <a:p>
            <a:pPr>
              <a:spcAft>
                <a:spcPts val="400"/>
              </a:spcAft>
            </a:pPr>
            <a:r>
              <a:rPr sz="1050" b="1" dirty="0">
                <a:solidFill>
                  <a:srgbClr val="FFFFFF"/>
                </a:solidFill>
                <a:latin typeface="Calibri"/>
              </a:rPr>
              <a:t>• Database Connector: </a:t>
            </a:r>
            <a:r>
              <a:rPr sz="1000" dirty="0" err="1">
                <a:solidFill>
                  <a:srgbClr val="A5ACB9"/>
                </a:solidFill>
                <a:latin typeface="Calibri"/>
              </a:rPr>
              <a:t>mysql</a:t>
            </a:r>
            <a:r>
              <a:rPr sz="1000" dirty="0">
                <a:solidFill>
                  <a:srgbClr val="A5ACB9"/>
                </a:solidFill>
                <a:latin typeface="Calibri"/>
              </a:rPr>
              <a:t>-connector-python / psycopg2</a:t>
            </a:r>
          </a:p>
          <a:p>
            <a:pPr>
              <a:spcAft>
                <a:spcPts val="400"/>
              </a:spcAft>
            </a:pPr>
            <a:r>
              <a:rPr sz="1050" b="1" dirty="0">
                <a:solidFill>
                  <a:srgbClr val="FFFFFF"/>
                </a:solidFill>
                <a:latin typeface="Calibri"/>
              </a:rPr>
              <a:t>• Design &amp; Modeling Tools: </a:t>
            </a:r>
            <a:r>
              <a:rPr sz="1000" dirty="0">
                <a:solidFill>
                  <a:srgbClr val="A5ACB9"/>
                </a:solidFill>
                <a:latin typeface="Calibri"/>
              </a:rPr>
              <a:t>Draw.io, </a:t>
            </a:r>
            <a:r>
              <a:rPr sz="1000" dirty="0" err="1">
                <a:solidFill>
                  <a:srgbClr val="A5ACB9"/>
                </a:solidFill>
                <a:latin typeface="Calibri"/>
              </a:rPr>
              <a:t>Lucidchart</a:t>
            </a:r>
            <a:r>
              <a:rPr sz="1000" dirty="0">
                <a:solidFill>
                  <a:srgbClr val="A5ACB9"/>
                </a:solidFill>
                <a:latin typeface="Calibri"/>
              </a:rPr>
              <a:t>, MySQL Workbench</a:t>
            </a:r>
          </a:p>
          <a:p>
            <a:pPr>
              <a:spcAft>
                <a:spcPts val="400"/>
              </a:spcAft>
            </a:pPr>
            <a:r>
              <a:rPr sz="1050" b="1" dirty="0">
                <a:solidFill>
                  <a:srgbClr val="FFFFFF"/>
                </a:solidFill>
                <a:latin typeface="Calibri"/>
              </a:rPr>
              <a:t>• Development Environment: </a:t>
            </a:r>
            <a:r>
              <a:rPr sz="1000" dirty="0">
                <a:solidFill>
                  <a:srgbClr val="A5ACB9"/>
                </a:solidFill>
                <a:latin typeface="Calibri"/>
              </a:rPr>
              <a:t>VS Code, PyCharm, </a:t>
            </a:r>
            <a:r>
              <a:rPr sz="1000" dirty="0" err="1">
                <a:solidFill>
                  <a:srgbClr val="A5ACB9"/>
                </a:solidFill>
                <a:latin typeface="Calibri"/>
              </a:rPr>
              <a:t>DBeaver</a:t>
            </a:r>
            <a:endParaRPr sz="1000" dirty="0">
              <a:solidFill>
                <a:srgbClr val="A5ACB9"/>
              </a:solidFill>
              <a:latin typeface="Calibri"/>
            </a:endParaRPr>
          </a:p>
          <a:p>
            <a:pPr>
              <a:spcAft>
                <a:spcPts val="400"/>
              </a:spcAft>
            </a:pPr>
            <a:r>
              <a:rPr sz="1050" b="1" dirty="0">
                <a:solidFill>
                  <a:srgbClr val="FFFFFF"/>
                </a:solidFill>
                <a:latin typeface="Calibri"/>
              </a:rPr>
              <a:t>• Operating Systems: </a:t>
            </a:r>
            <a:r>
              <a:rPr sz="1000" dirty="0">
                <a:solidFill>
                  <a:srgbClr val="A5ACB9"/>
                </a:solidFill>
                <a:latin typeface="Calibri"/>
              </a:rPr>
              <a:t>Windows 10/11, macOS, Ubuntu Linux</a:t>
            </a:r>
          </a:p>
        </p:txBody>
      </p:sp>
      <p:sp>
        <p:nvSpPr>
          <p:cNvPr id="12" name="Rounded Rectangle 11"/>
          <p:cNvSpPr/>
          <p:nvPr/>
        </p:nvSpPr>
        <p:spPr>
          <a:xfrm>
            <a:off x="4412996" y="1682496"/>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38396" y="1572768"/>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46540" y="2523744"/>
            <a:ext cx="2962656" cy="4224528"/>
          </a:xfrm>
          <a:prstGeom prst="rect">
            <a:avLst/>
          </a:prstGeom>
          <a:noFill/>
        </p:spPr>
        <p:txBody>
          <a:bodyPr wrap="square" lIns="0" tIns="0" rIns="0" bIns="0">
            <a:spAutoFit/>
          </a:bodyPr>
          <a:lstStyle/>
          <a:p>
            <a:pPr>
              <a:spcAft>
                <a:spcPts val="600"/>
              </a:spcAft>
              <a:defRPr sz="1300" b="1">
                <a:solidFill>
                  <a:srgbClr val="FFD778"/>
                </a:solidFill>
                <a:latin typeface="Georgia"/>
              </a:defRPr>
            </a:pPr>
            <a:r>
              <a:rPr dirty="0"/>
              <a:t>Hardware Specifications</a:t>
            </a:r>
          </a:p>
          <a:p>
            <a:pPr>
              <a:spcAft>
                <a:spcPts val="400"/>
              </a:spcAft>
            </a:pPr>
            <a:r>
              <a:rPr sz="1050" b="1" dirty="0">
                <a:solidFill>
                  <a:srgbClr val="FFFFFF"/>
                </a:solidFill>
                <a:latin typeface="Calibri"/>
              </a:rPr>
              <a:t>• Target Host: </a:t>
            </a:r>
            <a:r>
              <a:rPr sz="1000" dirty="0">
                <a:solidFill>
                  <a:srgbClr val="A5ACB9"/>
                </a:solidFill>
                <a:latin typeface="Calibri"/>
              </a:rPr>
              <a:t>Standard Development Workstation / Server</a:t>
            </a:r>
          </a:p>
          <a:p>
            <a:pPr>
              <a:spcAft>
                <a:spcPts val="400"/>
              </a:spcAft>
            </a:pPr>
            <a:r>
              <a:rPr sz="1050" b="1" dirty="0">
                <a:solidFill>
                  <a:srgbClr val="FFFFFF"/>
                </a:solidFill>
                <a:latin typeface="Calibri"/>
              </a:rPr>
              <a:t>• Processor Architecture: </a:t>
            </a:r>
            <a:r>
              <a:rPr sz="1000" dirty="0">
                <a:solidFill>
                  <a:srgbClr val="A5ACB9"/>
                </a:solidFill>
                <a:latin typeface="Calibri"/>
              </a:rPr>
              <a:t>Intel Core i5 (8th Gen+) / AMD Ryzen 3 3100+</a:t>
            </a:r>
          </a:p>
          <a:p>
            <a:pPr>
              <a:spcAft>
                <a:spcPts val="400"/>
              </a:spcAft>
            </a:pPr>
            <a:r>
              <a:rPr sz="1050" b="1" dirty="0">
                <a:solidFill>
                  <a:srgbClr val="FFFFFF"/>
                </a:solidFill>
                <a:latin typeface="Calibri"/>
              </a:rPr>
              <a:t>• System Memory (RAM): </a:t>
            </a:r>
            <a:r>
              <a:rPr sz="1000" dirty="0">
                <a:solidFill>
                  <a:srgbClr val="A5ACB9"/>
                </a:solidFill>
                <a:latin typeface="Calibri"/>
              </a:rPr>
              <a:t>Minimum 4 GB (8 GB Recommended for local DB engine)</a:t>
            </a:r>
          </a:p>
          <a:p>
            <a:pPr>
              <a:spcAft>
                <a:spcPts val="400"/>
              </a:spcAft>
            </a:pPr>
            <a:r>
              <a:rPr sz="1050" b="1" dirty="0">
                <a:solidFill>
                  <a:srgbClr val="FFFFFF"/>
                </a:solidFill>
                <a:latin typeface="Calibri"/>
              </a:rPr>
              <a:t>• Disk Storage: </a:t>
            </a:r>
            <a:r>
              <a:rPr sz="1000" dirty="0">
                <a:solidFill>
                  <a:srgbClr val="A5ACB9"/>
                </a:solidFill>
                <a:latin typeface="Calibri"/>
              </a:rPr>
              <a:t>256 GB SSD with 500 MB reserved for database tablespaces</a:t>
            </a:r>
          </a:p>
          <a:p>
            <a:pPr>
              <a:spcAft>
                <a:spcPts val="400"/>
              </a:spcAft>
            </a:pPr>
            <a:r>
              <a:rPr sz="1050" b="1" dirty="0">
                <a:solidFill>
                  <a:srgbClr val="FFFFFF"/>
                </a:solidFill>
                <a:latin typeface="Calibri"/>
              </a:rPr>
              <a:t>• Network Interface: </a:t>
            </a:r>
            <a:r>
              <a:rPr sz="1000" dirty="0">
                <a:solidFill>
                  <a:srgbClr val="A5ACB9"/>
                </a:solidFill>
                <a:latin typeface="Calibri"/>
              </a:rPr>
              <a:t>Standard TCP/IP connectivity for client-server DB sockets</a:t>
            </a:r>
          </a:p>
        </p:txBody>
      </p:sp>
      <p:sp>
        <p:nvSpPr>
          <p:cNvPr id="15" name="Rounded Rectangle 14"/>
          <p:cNvSpPr/>
          <p:nvPr/>
        </p:nvSpPr>
        <p:spPr>
          <a:xfrm>
            <a:off x="8157836" y="1682496"/>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26984" y="1572768"/>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40716" y="2523744"/>
            <a:ext cx="2962656" cy="4224528"/>
          </a:xfrm>
          <a:prstGeom prst="rect">
            <a:avLst/>
          </a:prstGeom>
          <a:noFill/>
        </p:spPr>
        <p:txBody>
          <a:bodyPr wrap="square" lIns="0" tIns="0" rIns="0" bIns="0">
            <a:spAutoFit/>
          </a:bodyPr>
          <a:lstStyle/>
          <a:p>
            <a:pPr>
              <a:spcAft>
                <a:spcPts val="600"/>
              </a:spcAft>
              <a:defRPr sz="1300" b="1">
                <a:solidFill>
                  <a:srgbClr val="FFD778"/>
                </a:solidFill>
                <a:latin typeface="Georgia"/>
              </a:defRPr>
            </a:pPr>
            <a:r>
              <a:rPr dirty="0"/>
              <a:t>Non-Functional Requirements</a:t>
            </a:r>
          </a:p>
          <a:p>
            <a:pPr>
              <a:spcAft>
                <a:spcPts val="400"/>
              </a:spcAft>
            </a:pPr>
            <a:r>
              <a:rPr sz="1050" b="1" dirty="0">
                <a:solidFill>
                  <a:srgbClr val="FFFFFF"/>
                </a:solidFill>
                <a:latin typeface="Calibri"/>
              </a:rPr>
              <a:t>• ACID Compliance: </a:t>
            </a:r>
            <a:r>
              <a:rPr sz="1000" dirty="0">
                <a:solidFill>
                  <a:srgbClr val="A5ACB9"/>
                </a:solidFill>
                <a:latin typeface="Calibri"/>
              </a:rPr>
              <a:t>Full transactional atomicity, consistency, isolation, durability.</a:t>
            </a:r>
          </a:p>
          <a:p>
            <a:pPr>
              <a:spcAft>
                <a:spcPts val="400"/>
              </a:spcAft>
            </a:pPr>
            <a:r>
              <a:rPr sz="1050" b="1" dirty="0">
                <a:solidFill>
                  <a:srgbClr val="FFFFFF"/>
                </a:solidFill>
                <a:latin typeface="Calibri"/>
              </a:rPr>
              <a:t>• Role-Based Security: </a:t>
            </a:r>
            <a:r>
              <a:rPr sz="1000" dirty="0">
                <a:solidFill>
                  <a:srgbClr val="A5ACB9"/>
                </a:solidFill>
                <a:latin typeface="Calibri"/>
              </a:rPr>
              <a:t>Granular permissions preventing horizontal privilege escalation.</a:t>
            </a:r>
          </a:p>
          <a:p>
            <a:pPr>
              <a:spcAft>
                <a:spcPts val="400"/>
              </a:spcAft>
            </a:pPr>
            <a:r>
              <a:rPr sz="1050" b="1" dirty="0">
                <a:solidFill>
                  <a:srgbClr val="FFFFFF"/>
                </a:solidFill>
                <a:latin typeface="Calibri"/>
              </a:rPr>
              <a:t>• Query Performance: </a:t>
            </a:r>
            <a:r>
              <a:rPr sz="1000" dirty="0">
                <a:solidFill>
                  <a:srgbClr val="A5ACB9"/>
                </a:solidFill>
                <a:latin typeface="Calibri"/>
              </a:rPr>
              <a:t>Sub-second execution via strategic B-Tree indexing on keys.</a:t>
            </a:r>
          </a:p>
          <a:p>
            <a:pPr>
              <a:spcAft>
                <a:spcPts val="400"/>
              </a:spcAft>
            </a:pPr>
            <a:r>
              <a:rPr sz="1050" b="1" dirty="0">
                <a:solidFill>
                  <a:srgbClr val="FFFFFF"/>
                </a:solidFill>
                <a:latin typeface="Calibri"/>
              </a:rPr>
              <a:t>• Data Integrity: </a:t>
            </a:r>
            <a:r>
              <a:rPr sz="1000" dirty="0">
                <a:solidFill>
                  <a:srgbClr val="A5ACB9"/>
                </a:solidFill>
                <a:latin typeface="Calibri"/>
              </a:rPr>
              <a:t>Autonomous DB-level constraint and trigger enforcement.</a:t>
            </a:r>
          </a:p>
          <a:p>
            <a:pPr>
              <a:spcAft>
                <a:spcPts val="400"/>
              </a:spcAft>
            </a:pPr>
            <a:r>
              <a:rPr sz="1050" b="1" dirty="0">
                <a:solidFill>
                  <a:srgbClr val="FFFFFF"/>
                </a:solidFill>
                <a:latin typeface="Calibri"/>
              </a:rPr>
              <a:t>• High Reliability: </a:t>
            </a:r>
            <a:r>
              <a:rPr sz="1000" dirty="0">
                <a:solidFill>
                  <a:srgbClr val="A5ACB9"/>
                </a:solidFill>
                <a:latin typeface="Calibri"/>
              </a:rPr>
              <a:t>Zero data loss during network interruptions via rollback handling.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rPr dirty="0"/>
              <a:t>REVIEW 1 • CONCEPTUAL DESIGN</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rPr dirty="0"/>
              <a:t>Database Architecture: 12 Core Entities (ER Diagram)</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ER Diagram</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pic>
        <p:nvPicPr>
          <p:cNvPr id="15" name="Picture 14">
            <a:extLst>
              <a:ext uri="{FF2B5EF4-FFF2-40B4-BE49-F238E27FC236}">
                <a16:creationId xmlns:a16="http://schemas.microsoft.com/office/drawing/2014/main" id="{0AF13545-A105-909C-A61C-B63E38E6ED1F}"/>
              </a:ext>
            </a:extLst>
          </p:cNvPr>
          <p:cNvPicPr>
            <a:picLocks noChangeAspect="1"/>
          </p:cNvPicPr>
          <p:nvPr/>
        </p:nvPicPr>
        <p:blipFill>
          <a:blip r:embed="rId3"/>
          <a:stretch>
            <a:fillRect/>
          </a:stretch>
        </p:blipFill>
        <p:spPr>
          <a:xfrm>
            <a:off x="731520" y="1802812"/>
            <a:ext cx="7609702" cy="4110578"/>
          </a:xfrm>
          <a:prstGeom prst="rect">
            <a:avLst/>
          </a:prstGeom>
        </p:spPr>
      </p:pic>
      <p:sp>
        <p:nvSpPr>
          <p:cNvPr id="12" name="Rounded Rectangle 4">
            <a:extLst>
              <a:ext uri="{FF2B5EF4-FFF2-40B4-BE49-F238E27FC236}">
                <a16:creationId xmlns:a16="http://schemas.microsoft.com/office/drawing/2014/main" id="{5996FC66-4B86-3879-5EDB-CDD4D8907A2A}"/>
              </a:ext>
            </a:extLst>
          </p:cNvPr>
          <p:cNvSpPr/>
          <p:nvPr/>
        </p:nvSpPr>
        <p:spPr>
          <a:xfrm>
            <a:off x="8855241" y="1956816"/>
            <a:ext cx="2974207" cy="3521837"/>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2000" dirty="0">
                <a:latin typeface="Georgia" panose="02040502050405020303" pitchFamily="18" charset="0"/>
              </a:rPr>
              <a:t>Users of the System</a:t>
            </a:r>
          </a:p>
          <a:p>
            <a:pPr algn="ctr"/>
            <a:endParaRPr lang="en-IN" sz="2000" dirty="0">
              <a:latin typeface="Georgia" panose="02040502050405020303" pitchFamily="18" charset="0"/>
            </a:endParaRPr>
          </a:p>
          <a:p>
            <a:pPr marL="171450" indent="-171450">
              <a:buFont typeface="Arial" panose="020B0604020202020204" pitchFamily="34" charset="0"/>
              <a:buChar char="•"/>
            </a:pPr>
            <a:r>
              <a:rPr lang="en-IN" dirty="0"/>
              <a:t>Students, </a:t>
            </a:r>
          </a:p>
          <a:p>
            <a:pPr marL="171450" indent="-171450">
              <a:buFont typeface="Arial" panose="020B0604020202020204" pitchFamily="34" charset="0"/>
              <a:buChar char="•"/>
            </a:pPr>
            <a:r>
              <a:rPr lang="en-IN" dirty="0"/>
              <a:t>Administrators,</a:t>
            </a:r>
          </a:p>
          <a:p>
            <a:pPr marL="171450" indent="-171450">
              <a:buFont typeface="Arial" panose="020B0604020202020204" pitchFamily="34" charset="0"/>
              <a:buChar char="•"/>
            </a:pPr>
            <a:r>
              <a:rPr lang="en-IN" dirty="0"/>
              <a:t>Faculty mentors,</a:t>
            </a:r>
          </a:p>
          <a:p>
            <a:pPr marL="171450" indent="-171450">
              <a:buFont typeface="Arial" panose="020B0604020202020204" pitchFamily="34" charset="0"/>
              <a:buChar char="•"/>
            </a:pPr>
            <a:r>
              <a:rPr lang="en-IN" dirty="0"/>
              <a:t>Company supervisors, and </a:t>
            </a:r>
          </a:p>
          <a:p>
            <a:pPr marL="171450" indent="-171450">
              <a:buFont typeface="Arial" panose="020B0604020202020204" pitchFamily="34" charset="0"/>
              <a:buChar char="•"/>
            </a:pPr>
            <a:r>
              <a:rPr lang="en-IN" dirty="0"/>
              <a:t>Organizations.</a:t>
            </a:r>
          </a:p>
          <a:p>
            <a:pPr algn="ctr">
              <a:defRPr sz="850" b="1">
                <a:solidFill>
                  <a:srgbClr val="FFD778"/>
                </a:solidFill>
                <a:latin typeface="Calibri"/>
              </a:defRPr>
            </a:pPr>
            <a:endParaRPr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1 • STRUCTURAL ANALYSIS</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ER Structural Cardinalities &amp; Relationship Semantics</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ER Relationships </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8" name="TextBox 7"/>
          <p:cNvSpPr txBox="1"/>
          <p:nvPr/>
        </p:nvSpPr>
        <p:spPr>
          <a:xfrm>
            <a:off x="10515600" y="6473952"/>
            <a:ext cx="914400" cy="274320"/>
          </a:xfrm>
          <a:prstGeom prst="rect">
            <a:avLst/>
          </a:prstGeom>
          <a:noFill/>
        </p:spPr>
        <p:txBody>
          <a:bodyPr wrap="none" lIns="0" tIns="0" rIns="0" bIns="0">
            <a:spAutoFit/>
          </a:bodyPr>
          <a:lstStyle/>
          <a:p>
            <a:pPr algn="r">
              <a:defRPr sz="850">
                <a:solidFill>
                  <a:srgbClr val="737A87"/>
                </a:solidFill>
                <a:latin typeface="Calibri"/>
              </a:defRPr>
            </a:pPr>
            <a:r>
              <a:t>9 / 32</a:t>
            </a:r>
          </a:p>
        </p:txBody>
      </p:sp>
      <p:graphicFrame>
        <p:nvGraphicFramePr>
          <p:cNvPr id="9" name="Table 8"/>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4602175">
                  <a:extLst>
                    <a:ext uri="{9D8B030D-6E8A-4147-A177-3AD203B41FA5}">
                      <a16:colId xmlns:a16="http://schemas.microsoft.com/office/drawing/2014/main" val="20003"/>
                    </a:ext>
                  </a:extLst>
                </a:gridCol>
              </a:tblGrid>
              <a:tr h="373380">
                <a:tc>
                  <a:txBody>
                    <a:bodyPr/>
                    <a:lstStyle/>
                    <a:p>
                      <a:pPr>
                        <a:defRPr sz="1000" b="1">
                          <a:solidFill>
                            <a:srgbClr val="E5A93C"/>
                          </a:solidFill>
                          <a:latin typeface="Calibri"/>
                        </a:defRPr>
                      </a:pPr>
                      <a:r>
                        <a:t>Relationship</a:t>
                      </a:r>
                    </a:p>
                  </a:txBody>
                  <a:tcPr marT="54864" marB="54864" anchor="ctr">
                    <a:solidFill>
                      <a:srgbClr val="222834"/>
                    </a:solidFill>
                  </a:tcPr>
                </a:tc>
                <a:tc>
                  <a:txBody>
                    <a:bodyPr/>
                    <a:lstStyle/>
                    <a:p>
                      <a:pPr>
                        <a:defRPr sz="1000" b="1">
                          <a:solidFill>
                            <a:srgbClr val="E5A93C"/>
                          </a:solidFill>
                          <a:latin typeface="Calibri"/>
                        </a:defRPr>
                      </a:pPr>
                      <a:r>
                        <a:t>Participating Entities</a:t>
                      </a:r>
                    </a:p>
                  </a:txBody>
                  <a:tcPr marT="54864" marB="54864" anchor="ctr">
                    <a:solidFill>
                      <a:srgbClr val="222834"/>
                    </a:solidFill>
                  </a:tcPr>
                </a:tc>
                <a:tc>
                  <a:txBody>
                    <a:bodyPr/>
                    <a:lstStyle/>
                    <a:p>
                      <a:pPr>
                        <a:defRPr sz="1000" b="1">
                          <a:solidFill>
                            <a:srgbClr val="E5A93C"/>
                          </a:solidFill>
                          <a:latin typeface="Calibri"/>
                        </a:defRPr>
                      </a:pPr>
                      <a:r>
                        <a:t>Cardinality</a:t>
                      </a:r>
                    </a:p>
                  </a:txBody>
                  <a:tcPr marT="54864" marB="54864" anchor="ctr">
                    <a:solidFill>
                      <a:srgbClr val="222834"/>
                    </a:solidFill>
                  </a:tcPr>
                </a:tc>
                <a:tc>
                  <a:txBody>
                    <a:bodyPr/>
                    <a:lstStyle/>
                    <a:p>
                      <a:pPr>
                        <a:defRPr sz="1000" b="1">
                          <a:solidFill>
                            <a:srgbClr val="E5A93C"/>
                          </a:solidFill>
                          <a:latin typeface="Calibri"/>
                        </a:defRPr>
                      </a:pPr>
                      <a:r>
                        <a:t>Business Semantics &amp; Constraints</a:t>
                      </a:r>
                    </a:p>
                  </a:txBody>
                  <a:tcPr marT="54864" marB="54864" anchor="ctr">
                    <a:solidFill>
                      <a:srgbClr val="222834"/>
                    </a:solidFill>
                  </a:tcPr>
                </a:tc>
                <a:extLst>
                  <a:ext uri="{0D108BD9-81ED-4DB2-BD59-A6C34878D82A}">
                    <a16:rowId xmlns:a16="http://schemas.microsoft.com/office/drawing/2014/main" val="10000"/>
                  </a:ext>
                </a:extLst>
              </a:tr>
              <a:tr h="373380">
                <a:tc>
                  <a:txBody>
                    <a:bodyPr/>
                    <a:lstStyle/>
                    <a:p>
                      <a:pPr>
                        <a:defRPr sz="950" b="1">
                          <a:solidFill>
                            <a:srgbClr val="FFFFFF"/>
                          </a:solidFill>
                          <a:latin typeface="Calibri"/>
                        </a:defRPr>
                      </a:pPr>
                      <a:r>
                        <a:t>Posts</a:t>
                      </a:r>
                    </a:p>
                  </a:txBody>
                  <a:tcPr anchor="ctr">
                    <a:solidFill>
                      <a:srgbClr val="181C24"/>
                    </a:solidFill>
                  </a:tcPr>
                </a:tc>
                <a:tc>
                  <a:txBody>
                    <a:bodyPr/>
                    <a:lstStyle/>
                    <a:p>
                      <a:pPr>
                        <a:defRPr sz="950">
                          <a:solidFill>
                            <a:srgbClr val="A5ACB9"/>
                          </a:solidFill>
                          <a:latin typeface="Calibri"/>
                        </a:defRPr>
                      </a:pPr>
                      <a:r>
                        <a:t>Organization → Opportunity</a:t>
                      </a:r>
                    </a:p>
                  </a:txBody>
                  <a:tcPr anchor="ctr">
                    <a:solidFill>
                      <a:srgbClr val="181C24"/>
                    </a:solidFill>
                  </a:tcPr>
                </a:tc>
                <a:tc>
                  <a:txBody>
                    <a:bodyPr/>
                    <a:lstStyle/>
                    <a:p>
                      <a:pPr>
                        <a:defRPr sz="950">
                          <a:solidFill>
                            <a:srgbClr val="A5ACB9"/>
                          </a:solidFill>
                          <a:latin typeface="Calibri"/>
                        </a:defRPr>
                      </a:pPr>
                      <a:r>
                        <a:t>1 : N (One-to-Many)</a:t>
                      </a:r>
                    </a:p>
                  </a:txBody>
                  <a:tcPr anchor="ctr">
                    <a:solidFill>
                      <a:srgbClr val="181C24"/>
                    </a:solidFill>
                  </a:tcPr>
                </a:tc>
                <a:tc>
                  <a:txBody>
                    <a:bodyPr/>
                    <a:lstStyle/>
                    <a:p>
                      <a:pPr>
                        <a:defRPr sz="950">
                          <a:solidFill>
                            <a:srgbClr val="A5ACB9"/>
                          </a:solidFill>
                          <a:latin typeface="Calibri"/>
                        </a:defRPr>
                      </a:pPr>
                      <a:r>
                        <a:t>One organization posts multiple openings; each opening belongs to one org.</a:t>
                      </a:r>
                    </a:p>
                  </a:txBody>
                  <a:tcPr anchor="ctr">
                    <a:solidFill>
                      <a:srgbClr val="181C24"/>
                    </a:solidFill>
                  </a:tcPr>
                </a:tc>
                <a:extLst>
                  <a:ext uri="{0D108BD9-81ED-4DB2-BD59-A6C34878D82A}">
                    <a16:rowId xmlns:a16="http://schemas.microsoft.com/office/drawing/2014/main" val="10001"/>
                  </a:ext>
                </a:extLst>
              </a:tr>
              <a:tr h="373380">
                <a:tc>
                  <a:txBody>
                    <a:bodyPr/>
                    <a:lstStyle/>
                    <a:p>
                      <a:pPr>
                        <a:defRPr sz="950" b="1">
                          <a:solidFill>
                            <a:srgbClr val="FFFFFF"/>
                          </a:solidFill>
                          <a:latin typeface="Calibri"/>
                        </a:defRPr>
                      </a:pPr>
                      <a:r>
                        <a:t>Receives</a:t>
                      </a:r>
                    </a:p>
                  </a:txBody>
                  <a:tcPr anchor="ctr">
                    <a:solidFill>
                      <a:srgbClr val="13161C"/>
                    </a:solidFill>
                  </a:tcPr>
                </a:tc>
                <a:tc>
                  <a:txBody>
                    <a:bodyPr/>
                    <a:lstStyle/>
                    <a:p>
                      <a:pPr>
                        <a:defRPr sz="950">
                          <a:solidFill>
                            <a:srgbClr val="A5ACB9"/>
                          </a:solidFill>
                          <a:latin typeface="Calibri"/>
                        </a:defRPr>
                      </a:pPr>
                      <a:r>
                        <a:t>Opportunity → Application</a:t>
                      </a:r>
                    </a:p>
                  </a:txBody>
                  <a:tcPr anchor="ctr">
                    <a:solidFill>
                      <a:srgbClr val="13161C"/>
                    </a:solidFill>
                  </a:tcPr>
                </a:tc>
                <a:tc>
                  <a:txBody>
                    <a:bodyPr/>
                    <a:lstStyle/>
                    <a:p>
                      <a:pPr>
                        <a:defRPr sz="950">
                          <a:solidFill>
                            <a:srgbClr val="A5ACB9"/>
                          </a:solidFill>
                          <a:latin typeface="Calibri"/>
                        </a:defRPr>
                      </a:pPr>
                      <a:r>
                        <a:t>1 : N (One-to-Many)</a:t>
                      </a:r>
                    </a:p>
                  </a:txBody>
                  <a:tcPr anchor="ctr">
                    <a:solidFill>
                      <a:srgbClr val="13161C"/>
                    </a:solidFill>
                  </a:tcPr>
                </a:tc>
                <a:tc>
                  <a:txBody>
                    <a:bodyPr/>
                    <a:lstStyle/>
                    <a:p>
                      <a:pPr>
                        <a:defRPr sz="950">
                          <a:solidFill>
                            <a:srgbClr val="A5ACB9"/>
                          </a:solidFill>
                          <a:latin typeface="Calibri"/>
                        </a:defRPr>
                      </a:pPr>
                      <a:r>
                        <a:t>Each opportunity receives multiple student applications.</a:t>
                      </a:r>
                    </a:p>
                  </a:txBody>
                  <a:tcPr anchor="ctr">
                    <a:solidFill>
                      <a:srgbClr val="13161C"/>
                    </a:solidFill>
                  </a:tcPr>
                </a:tc>
                <a:extLst>
                  <a:ext uri="{0D108BD9-81ED-4DB2-BD59-A6C34878D82A}">
                    <a16:rowId xmlns:a16="http://schemas.microsoft.com/office/drawing/2014/main" val="10002"/>
                  </a:ext>
                </a:extLst>
              </a:tr>
              <a:tr h="373380">
                <a:tc>
                  <a:txBody>
                    <a:bodyPr/>
                    <a:lstStyle/>
                    <a:p>
                      <a:pPr>
                        <a:defRPr sz="950" b="1">
                          <a:solidFill>
                            <a:srgbClr val="FFFFFF"/>
                          </a:solidFill>
                          <a:latin typeface="Calibri"/>
                        </a:defRPr>
                      </a:pPr>
                      <a:r>
                        <a:t>Submits</a:t>
                      </a:r>
                    </a:p>
                  </a:txBody>
                  <a:tcPr anchor="ctr">
                    <a:solidFill>
                      <a:srgbClr val="181C24"/>
                    </a:solidFill>
                  </a:tcPr>
                </a:tc>
                <a:tc>
                  <a:txBody>
                    <a:bodyPr/>
                    <a:lstStyle/>
                    <a:p>
                      <a:pPr>
                        <a:defRPr sz="950">
                          <a:solidFill>
                            <a:srgbClr val="A5ACB9"/>
                          </a:solidFill>
                          <a:latin typeface="Calibri"/>
                        </a:defRPr>
                      </a:pPr>
                      <a:r>
                        <a:t>Student → Application</a:t>
                      </a:r>
                    </a:p>
                  </a:txBody>
                  <a:tcPr anchor="ctr">
                    <a:solidFill>
                      <a:srgbClr val="181C24"/>
                    </a:solidFill>
                  </a:tcPr>
                </a:tc>
                <a:tc>
                  <a:txBody>
                    <a:bodyPr/>
                    <a:lstStyle/>
                    <a:p>
                      <a:pPr>
                        <a:defRPr sz="950">
                          <a:solidFill>
                            <a:srgbClr val="A5ACB9"/>
                          </a:solidFill>
                          <a:latin typeface="Calibri"/>
                        </a:defRPr>
                      </a:pPr>
                      <a:r>
                        <a:t>1 : N (One-to-Many)</a:t>
                      </a:r>
                    </a:p>
                  </a:txBody>
                  <a:tcPr anchor="ctr">
                    <a:solidFill>
                      <a:srgbClr val="181C24"/>
                    </a:solidFill>
                  </a:tcPr>
                </a:tc>
                <a:tc>
                  <a:txBody>
                    <a:bodyPr/>
                    <a:lstStyle/>
                    <a:p>
                      <a:pPr>
                        <a:defRPr sz="950">
                          <a:solidFill>
                            <a:srgbClr val="A5ACB9"/>
                          </a:solidFill>
                          <a:latin typeface="Calibri"/>
                        </a:defRPr>
                      </a:pPr>
                      <a:r>
                        <a:t>A student may apply to multiple opportunities; each application is unique.</a:t>
                      </a:r>
                    </a:p>
                  </a:txBody>
                  <a:tcPr anchor="ctr">
                    <a:solidFill>
                      <a:srgbClr val="181C24"/>
                    </a:solidFill>
                  </a:tcPr>
                </a:tc>
                <a:extLst>
                  <a:ext uri="{0D108BD9-81ED-4DB2-BD59-A6C34878D82A}">
                    <a16:rowId xmlns:a16="http://schemas.microsoft.com/office/drawing/2014/main" val="10003"/>
                  </a:ext>
                </a:extLst>
              </a:tr>
              <a:tr h="373380">
                <a:tc>
                  <a:txBody>
                    <a:bodyPr/>
                    <a:lstStyle/>
                    <a:p>
                      <a:pPr>
                        <a:defRPr sz="950" b="1">
                          <a:solidFill>
                            <a:srgbClr val="FFFFFF"/>
                          </a:solidFill>
                          <a:latin typeface="Calibri"/>
                        </a:defRPr>
                      </a:pPr>
                      <a:r>
                        <a:t>Undergoes</a:t>
                      </a:r>
                    </a:p>
                  </a:txBody>
                  <a:tcPr anchor="ctr">
                    <a:solidFill>
                      <a:srgbClr val="13161C"/>
                    </a:solidFill>
                  </a:tcPr>
                </a:tc>
                <a:tc>
                  <a:txBody>
                    <a:bodyPr/>
                    <a:lstStyle/>
                    <a:p>
                      <a:pPr>
                        <a:defRPr sz="950">
                          <a:solidFill>
                            <a:srgbClr val="A5ACB9"/>
                          </a:solidFill>
                          <a:latin typeface="Calibri"/>
                        </a:defRPr>
                      </a:pPr>
                      <a:r>
                        <a:t>Application → Approval</a:t>
                      </a:r>
                    </a:p>
                  </a:txBody>
                  <a:tcPr anchor="ctr">
                    <a:solidFill>
                      <a:srgbClr val="13161C"/>
                    </a:solidFill>
                  </a:tcPr>
                </a:tc>
                <a:tc>
                  <a:txBody>
                    <a:bodyPr/>
                    <a:lstStyle/>
                    <a:p>
                      <a:pPr>
                        <a:defRPr sz="950">
                          <a:solidFill>
                            <a:srgbClr val="A5ACB9"/>
                          </a:solidFill>
                          <a:latin typeface="Calibri"/>
                        </a:defRPr>
                      </a:pPr>
                      <a:r>
                        <a:t>1 : 1 (One-to-One)</a:t>
                      </a:r>
                    </a:p>
                  </a:txBody>
                  <a:tcPr anchor="ctr">
                    <a:solidFill>
                      <a:srgbClr val="13161C"/>
                    </a:solidFill>
                  </a:tcPr>
                </a:tc>
                <a:tc>
                  <a:txBody>
                    <a:bodyPr/>
                    <a:lstStyle/>
                    <a:p>
                      <a:pPr>
                        <a:defRPr sz="950">
                          <a:solidFill>
                            <a:srgbClr val="A5ACB9"/>
                          </a:solidFill>
                          <a:latin typeface="Calibri"/>
                        </a:defRPr>
                      </a:pPr>
                      <a:r>
                        <a:t>Each application undergoes exactly one formal institutional review process.</a:t>
                      </a:r>
                    </a:p>
                  </a:txBody>
                  <a:tcPr anchor="ctr">
                    <a:solidFill>
                      <a:srgbClr val="13161C"/>
                    </a:solidFill>
                  </a:tcPr>
                </a:tc>
                <a:extLst>
                  <a:ext uri="{0D108BD9-81ED-4DB2-BD59-A6C34878D82A}">
                    <a16:rowId xmlns:a16="http://schemas.microsoft.com/office/drawing/2014/main" val="10004"/>
                  </a:ext>
                </a:extLst>
              </a:tr>
              <a:tr h="373380">
                <a:tc>
                  <a:txBody>
                    <a:bodyPr/>
                    <a:lstStyle/>
                    <a:p>
                      <a:pPr>
                        <a:defRPr sz="950" b="1">
                          <a:solidFill>
                            <a:srgbClr val="FFFFFF"/>
                          </a:solidFill>
                          <a:latin typeface="Calibri"/>
                        </a:defRPr>
                      </a:pPr>
                      <a:r>
                        <a:t>Triggers</a:t>
                      </a:r>
                    </a:p>
                  </a:txBody>
                  <a:tcPr anchor="ctr">
                    <a:solidFill>
                      <a:srgbClr val="181C24"/>
                    </a:solidFill>
                  </a:tcPr>
                </a:tc>
                <a:tc>
                  <a:txBody>
                    <a:bodyPr/>
                    <a:lstStyle/>
                    <a:p>
                      <a:pPr>
                        <a:defRPr sz="950">
                          <a:solidFill>
                            <a:srgbClr val="A5ACB9"/>
                          </a:solidFill>
                          <a:latin typeface="Calibri"/>
                        </a:defRPr>
                      </a:pPr>
                      <a:r>
                        <a:t>Approval → Assignment</a:t>
                      </a:r>
                    </a:p>
                  </a:txBody>
                  <a:tcPr anchor="ctr">
                    <a:solidFill>
                      <a:srgbClr val="181C24"/>
                    </a:solidFill>
                  </a:tcPr>
                </a:tc>
                <a:tc>
                  <a:txBody>
                    <a:bodyPr/>
                    <a:lstStyle/>
                    <a:p>
                      <a:pPr>
                        <a:defRPr sz="950">
                          <a:solidFill>
                            <a:srgbClr val="A5ACB9"/>
                          </a:solidFill>
                          <a:latin typeface="Calibri"/>
                        </a:defRPr>
                      </a:pPr>
                      <a:r>
                        <a:t>1 : 1 (One-to-One)</a:t>
                      </a:r>
                    </a:p>
                  </a:txBody>
                  <a:tcPr anchor="ctr">
                    <a:solidFill>
                      <a:srgbClr val="181C24"/>
                    </a:solidFill>
                  </a:tcPr>
                </a:tc>
                <a:tc>
                  <a:txBody>
                    <a:bodyPr/>
                    <a:lstStyle/>
                    <a:p>
                      <a:pPr>
                        <a:defRPr sz="950">
                          <a:solidFill>
                            <a:srgbClr val="A5ACB9"/>
                          </a:solidFill>
                          <a:latin typeface="Calibri"/>
                        </a:defRPr>
                      </a:pPr>
                      <a:r>
                        <a:t>An approved application triggers the creation of exactly one active internship assignment.</a:t>
                      </a:r>
                    </a:p>
                  </a:txBody>
                  <a:tcPr anchor="ctr">
                    <a:solidFill>
                      <a:srgbClr val="181C24"/>
                    </a:solidFill>
                  </a:tcPr>
                </a:tc>
                <a:extLst>
                  <a:ext uri="{0D108BD9-81ED-4DB2-BD59-A6C34878D82A}">
                    <a16:rowId xmlns:a16="http://schemas.microsoft.com/office/drawing/2014/main" val="10005"/>
                  </a:ext>
                </a:extLst>
              </a:tr>
              <a:tr h="373380">
                <a:tc>
                  <a:txBody>
                    <a:bodyPr/>
                    <a:lstStyle/>
                    <a:p>
                      <a:pPr>
                        <a:defRPr sz="950" b="1">
                          <a:solidFill>
                            <a:srgbClr val="FFFFFF"/>
                          </a:solidFill>
                          <a:latin typeface="Calibri"/>
                        </a:defRPr>
                      </a:pPr>
                      <a:r>
                        <a:t>Guides</a:t>
                      </a:r>
                    </a:p>
                  </a:txBody>
                  <a:tcPr anchor="ctr">
                    <a:solidFill>
                      <a:srgbClr val="13161C"/>
                    </a:solidFill>
                  </a:tcPr>
                </a:tc>
                <a:tc>
                  <a:txBody>
                    <a:bodyPr/>
                    <a:lstStyle/>
                    <a:p>
                      <a:pPr>
                        <a:defRPr sz="950">
                          <a:solidFill>
                            <a:srgbClr val="A5ACB9"/>
                          </a:solidFill>
                          <a:latin typeface="Calibri"/>
                        </a:defRPr>
                      </a:pPr>
                      <a:r>
                        <a:t>FacultyMentor → Assignment</a:t>
                      </a:r>
                    </a:p>
                  </a:txBody>
                  <a:tcPr anchor="ctr">
                    <a:solidFill>
                      <a:srgbClr val="13161C"/>
                    </a:solidFill>
                  </a:tcPr>
                </a:tc>
                <a:tc>
                  <a:txBody>
                    <a:bodyPr/>
                    <a:lstStyle/>
                    <a:p>
                      <a:pPr>
                        <a:defRPr sz="950">
                          <a:solidFill>
                            <a:srgbClr val="A5ACB9"/>
                          </a:solidFill>
                          <a:latin typeface="Calibri"/>
                        </a:defRPr>
                      </a:pPr>
                      <a:r>
                        <a:t>1 : N (One-to-Many)</a:t>
                      </a:r>
                    </a:p>
                  </a:txBody>
                  <a:tcPr anchor="ctr">
                    <a:solidFill>
                      <a:srgbClr val="13161C"/>
                    </a:solidFill>
                  </a:tcPr>
                </a:tc>
                <a:tc>
                  <a:txBody>
                    <a:bodyPr/>
                    <a:lstStyle/>
                    <a:p>
                      <a:pPr>
                        <a:defRPr sz="950">
                          <a:solidFill>
                            <a:srgbClr val="A5ACB9"/>
                          </a:solidFill>
                          <a:latin typeface="Calibri"/>
                        </a:defRPr>
                      </a:pPr>
                      <a:r>
                        <a:t>One faculty mentor can guide multiple assigned students.</a:t>
                      </a:r>
                    </a:p>
                  </a:txBody>
                  <a:tcPr anchor="ctr">
                    <a:solidFill>
                      <a:srgbClr val="13161C"/>
                    </a:solidFill>
                  </a:tcPr>
                </a:tc>
                <a:extLst>
                  <a:ext uri="{0D108BD9-81ED-4DB2-BD59-A6C34878D82A}">
                    <a16:rowId xmlns:a16="http://schemas.microsoft.com/office/drawing/2014/main" val="10006"/>
                  </a:ext>
                </a:extLst>
              </a:tr>
              <a:tr h="373380">
                <a:tc>
                  <a:txBody>
                    <a:bodyPr/>
                    <a:lstStyle/>
                    <a:p>
                      <a:pPr>
                        <a:defRPr sz="950" b="1">
                          <a:solidFill>
                            <a:srgbClr val="FFFFFF"/>
                          </a:solidFill>
                          <a:latin typeface="Calibri"/>
                        </a:defRPr>
                      </a:pPr>
                      <a:r>
                        <a:t>Supervises</a:t>
                      </a:r>
                    </a:p>
                  </a:txBody>
                  <a:tcPr anchor="ctr">
                    <a:solidFill>
                      <a:srgbClr val="181C24"/>
                    </a:solidFill>
                  </a:tcPr>
                </a:tc>
                <a:tc>
                  <a:txBody>
                    <a:bodyPr/>
                    <a:lstStyle/>
                    <a:p>
                      <a:pPr>
                        <a:defRPr sz="950">
                          <a:solidFill>
                            <a:srgbClr val="A5ACB9"/>
                          </a:solidFill>
                          <a:latin typeface="Calibri"/>
                        </a:defRPr>
                      </a:pPr>
                      <a:r>
                        <a:t>CompanySupervisor → Assignment</a:t>
                      </a:r>
                    </a:p>
                  </a:txBody>
                  <a:tcPr anchor="ctr">
                    <a:solidFill>
                      <a:srgbClr val="181C24"/>
                    </a:solidFill>
                  </a:tcPr>
                </a:tc>
                <a:tc>
                  <a:txBody>
                    <a:bodyPr/>
                    <a:lstStyle/>
                    <a:p>
                      <a:pPr>
                        <a:defRPr sz="950">
                          <a:solidFill>
                            <a:srgbClr val="A5ACB9"/>
                          </a:solidFill>
                          <a:latin typeface="Calibri"/>
                        </a:defRPr>
                      </a:pPr>
                      <a:r>
                        <a:t>1 : N (One-to-Many)</a:t>
                      </a:r>
                    </a:p>
                  </a:txBody>
                  <a:tcPr anchor="ctr">
                    <a:solidFill>
                      <a:srgbClr val="181C24"/>
                    </a:solidFill>
                  </a:tcPr>
                </a:tc>
                <a:tc>
                  <a:txBody>
                    <a:bodyPr/>
                    <a:lstStyle/>
                    <a:p>
                      <a:pPr>
                        <a:defRPr sz="950">
                          <a:solidFill>
                            <a:srgbClr val="A5ACB9"/>
                          </a:solidFill>
                          <a:latin typeface="Calibri"/>
                        </a:defRPr>
                      </a:pPr>
                      <a:r>
                        <a:t>One corporate supervisor supervises multiple student internships.</a:t>
                      </a:r>
                    </a:p>
                  </a:txBody>
                  <a:tcPr anchor="ctr">
                    <a:solidFill>
                      <a:srgbClr val="181C24"/>
                    </a:solidFill>
                  </a:tcPr>
                </a:tc>
                <a:extLst>
                  <a:ext uri="{0D108BD9-81ED-4DB2-BD59-A6C34878D82A}">
                    <a16:rowId xmlns:a16="http://schemas.microsoft.com/office/drawing/2014/main" val="10007"/>
                  </a:ext>
                </a:extLst>
              </a:tr>
              <a:tr h="373380">
                <a:tc>
                  <a:txBody>
                    <a:bodyPr/>
                    <a:lstStyle/>
                    <a:p>
                      <a:pPr>
                        <a:defRPr sz="950" b="1">
                          <a:solidFill>
                            <a:srgbClr val="FFFFFF"/>
                          </a:solidFill>
                          <a:latin typeface="Calibri"/>
                        </a:defRPr>
                      </a:pPr>
                      <a:r>
                        <a:t>Generates</a:t>
                      </a:r>
                    </a:p>
                  </a:txBody>
                  <a:tcPr anchor="ctr">
                    <a:solidFill>
                      <a:srgbClr val="13161C"/>
                    </a:solidFill>
                  </a:tcPr>
                </a:tc>
                <a:tc>
                  <a:txBody>
                    <a:bodyPr/>
                    <a:lstStyle/>
                    <a:p>
                      <a:pPr>
                        <a:defRPr sz="950">
                          <a:solidFill>
                            <a:srgbClr val="A5ACB9"/>
                          </a:solidFill>
                          <a:latin typeface="Calibri"/>
                        </a:defRPr>
                      </a:pPr>
                      <a:r>
                        <a:t>Assignment → WeeklyLog</a:t>
                      </a:r>
                    </a:p>
                  </a:txBody>
                  <a:tcPr anchor="ctr">
                    <a:solidFill>
                      <a:srgbClr val="13161C"/>
                    </a:solidFill>
                  </a:tcPr>
                </a:tc>
                <a:tc>
                  <a:txBody>
                    <a:bodyPr/>
                    <a:lstStyle/>
                    <a:p>
                      <a:pPr>
                        <a:defRPr sz="950">
                          <a:solidFill>
                            <a:srgbClr val="A5ACB9"/>
                          </a:solidFill>
                          <a:latin typeface="Calibri"/>
                        </a:defRPr>
                      </a:pPr>
                      <a:r>
                        <a:t>1 : N (One-to-Many)</a:t>
                      </a:r>
                    </a:p>
                  </a:txBody>
                  <a:tcPr anchor="ctr">
                    <a:solidFill>
                      <a:srgbClr val="13161C"/>
                    </a:solidFill>
                  </a:tcPr>
                </a:tc>
                <a:tc>
                  <a:txBody>
                    <a:bodyPr/>
                    <a:lstStyle/>
                    <a:p>
                      <a:pPr>
                        <a:defRPr sz="950">
                          <a:solidFill>
                            <a:srgbClr val="A5ACB9"/>
                          </a:solidFill>
                          <a:latin typeface="Calibri"/>
                        </a:defRPr>
                      </a:pPr>
                      <a:r>
                        <a:t>Each assignment generates periodic weekly progress report logs.</a:t>
                      </a:r>
                    </a:p>
                  </a:txBody>
                  <a:tcPr anchor="ctr">
                    <a:solidFill>
                      <a:srgbClr val="13161C"/>
                    </a:solidFill>
                  </a:tcPr>
                </a:tc>
                <a:extLst>
                  <a:ext uri="{0D108BD9-81ED-4DB2-BD59-A6C34878D82A}">
                    <a16:rowId xmlns:a16="http://schemas.microsoft.com/office/drawing/2014/main" val="10008"/>
                  </a:ext>
                </a:extLst>
              </a:tr>
              <a:tr h="373380">
                <a:tc>
                  <a:txBody>
                    <a:bodyPr/>
                    <a:lstStyle/>
                    <a:p>
                      <a:pPr>
                        <a:defRPr sz="950" b="1">
                          <a:solidFill>
                            <a:srgbClr val="FFFFFF"/>
                          </a:solidFill>
                          <a:latin typeface="Calibri"/>
                        </a:defRPr>
                      </a:pPr>
                      <a:r>
                        <a:t>Evaluates</a:t>
                      </a:r>
                    </a:p>
                  </a:txBody>
                  <a:tcPr anchor="ctr">
                    <a:solidFill>
                      <a:srgbClr val="181C24"/>
                    </a:solidFill>
                  </a:tcPr>
                </a:tc>
                <a:tc>
                  <a:txBody>
                    <a:bodyPr/>
                    <a:lstStyle/>
                    <a:p>
                      <a:pPr>
                        <a:defRPr sz="950">
                          <a:solidFill>
                            <a:srgbClr val="A5ACB9"/>
                          </a:solidFill>
                          <a:latin typeface="Calibri"/>
                        </a:defRPr>
                      </a:pPr>
                      <a:r>
                        <a:t>Assignment → Evaluation</a:t>
                      </a:r>
                    </a:p>
                  </a:txBody>
                  <a:tcPr anchor="ctr">
                    <a:solidFill>
                      <a:srgbClr val="181C24"/>
                    </a:solidFill>
                  </a:tcPr>
                </a:tc>
                <a:tc>
                  <a:txBody>
                    <a:bodyPr/>
                    <a:lstStyle/>
                    <a:p>
                      <a:pPr>
                        <a:defRPr sz="950">
                          <a:solidFill>
                            <a:srgbClr val="A5ACB9"/>
                          </a:solidFill>
                          <a:latin typeface="Calibri"/>
                        </a:defRPr>
                      </a:pPr>
                      <a:r>
                        <a:t>1 : 1 (One-to-One)</a:t>
                      </a:r>
                    </a:p>
                  </a:txBody>
                  <a:tcPr anchor="ctr">
                    <a:solidFill>
                      <a:srgbClr val="181C24"/>
                    </a:solidFill>
                  </a:tcPr>
                </a:tc>
                <a:tc>
                  <a:txBody>
                    <a:bodyPr/>
                    <a:lstStyle/>
                    <a:p>
                      <a:pPr>
                        <a:defRPr sz="950">
                          <a:solidFill>
                            <a:srgbClr val="A5ACB9"/>
                          </a:solidFill>
                          <a:latin typeface="Calibri"/>
                        </a:defRPr>
                      </a:pPr>
                      <a:r>
                        <a:t>Each completed assignment receives one formal numerical evaluation.</a:t>
                      </a:r>
                    </a:p>
                  </a:txBody>
                  <a:tcPr anchor="ctr">
                    <a:solidFill>
                      <a:srgbClr val="181C24"/>
                    </a:solidFill>
                  </a:tcPr>
                </a:tc>
                <a:extLst>
                  <a:ext uri="{0D108BD9-81ED-4DB2-BD59-A6C34878D82A}">
                    <a16:rowId xmlns:a16="http://schemas.microsoft.com/office/drawing/2014/main" val="10009"/>
                  </a:ext>
                </a:extLst>
              </a:tr>
              <a:tr h="373380">
                <a:tc>
                  <a:txBody>
                    <a:bodyPr/>
                    <a:lstStyle/>
                    <a:p>
                      <a:pPr>
                        <a:defRPr sz="950" b="1">
                          <a:solidFill>
                            <a:srgbClr val="FFFFFF"/>
                          </a:solidFill>
                          <a:latin typeface="Calibri"/>
                        </a:defRPr>
                      </a:pPr>
                      <a:r>
                        <a:t>Issues</a:t>
                      </a:r>
                    </a:p>
                  </a:txBody>
                  <a:tcPr anchor="ctr">
                    <a:solidFill>
                      <a:srgbClr val="13161C"/>
                    </a:solidFill>
                  </a:tcPr>
                </a:tc>
                <a:tc>
                  <a:txBody>
                    <a:bodyPr/>
                    <a:lstStyle/>
                    <a:p>
                      <a:pPr>
                        <a:defRPr sz="950">
                          <a:solidFill>
                            <a:srgbClr val="A5ACB9"/>
                          </a:solidFill>
                          <a:latin typeface="Calibri"/>
                        </a:defRPr>
                      </a:pPr>
                      <a:r>
                        <a:t>Assignment → Certificate</a:t>
                      </a:r>
                    </a:p>
                  </a:txBody>
                  <a:tcPr anchor="ctr">
                    <a:solidFill>
                      <a:srgbClr val="13161C"/>
                    </a:solidFill>
                  </a:tcPr>
                </a:tc>
                <a:tc>
                  <a:txBody>
                    <a:bodyPr/>
                    <a:lstStyle/>
                    <a:p>
                      <a:pPr>
                        <a:defRPr sz="950">
                          <a:solidFill>
                            <a:srgbClr val="A5ACB9"/>
                          </a:solidFill>
                          <a:latin typeface="Calibri"/>
                        </a:defRPr>
                      </a:pPr>
                      <a:r>
                        <a:t>1 : 1 (One-to-One)</a:t>
                      </a:r>
                    </a:p>
                  </a:txBody>
                  <a:tcPr anchor="ctr">
                    <a:solidFill>
                      <a:srgbClr val="13161C"/>
                    </a:solidFill>
                  </a:tcPr>
                </a:tc>
                <a:tc>
                  <a:txBody>
                    <a:bodyPr/>
                    <a:lstStyle/>
                    <a:p>
                      <a:pPr>
                        <a:defRPr sz="950">
                          <a:solidFill>
                            <a:srgbClr val="A5ACB9"/>
                          </a:solidFill>
                          <a:latin typeface="Calibri"/>
                        </a:defRPr>
                      </a:pPr>
                      <a:r>
                        <a:t>Each verified assignment is issued one tamper-proof completion certificate.</a:t>
                      </a:r>
                    </a:p>
                  </a:txBody>
                  <a:tcPr anchor="ctr">
                    <a:solidFill>
                      <a:srgbClr val="13161C"/>
                    </a:solidFill>
                  </a:tcPr>
                </a:tc>
                <a:extLst>
                  <a:ext uri="{0D108BD9-81ED-4DB2-BD59-A6C34878D82A}">
                    <a16:rowId xmlns:a16="http://schemas.microsoft.com/office/drawing/2014/main" val="10010"/>
                  </a:ext>
                </a:extLst>
              </a:tr>
              <a:tr h="373380">
                <a:tc>
                  <a:txBody>
                    <a:bodyPr/>
                    <a:lstStyle/>
                    <a:p>
                      <a:pPr>
                        <a:defRPr sz="950" b="1">
                          <a:solidFill>
                            <a:srgbClr val="FFFFFF"/>
                          </a:solidFill>
                          <a:latin typeface="Calibri"/>
                        </a:defRPr>
                      </a:pPr>
                      <a:r>
                        <a:t>Includes</a:t>
                      </a:r>
                    </a:p>
                  </a:txBody>
                  <a:tcPr anchor="ctr">
                    <a:solidFill>
                      <a:srgbClr val="181C24"/>
                    </a:solidFill>
                  </a:tcPr>
                </a:tc>
                <a:tc>
                  <a:txBody>
                    <a:bodyPr/>
                    <a:lstStyle/>
                    <a:p>
                      <a:pPr>
                        <a:defRPr sz="950">
                          <a:solidFill>
                            <a:srgbClr val="A5ACB9"/>
                          </a:solidFill>
                          <a:latin typeface="Calibri"/>
                        </a:defRPr>
                      </a:pPr>
                      <a:r>
                        <a:t>Assignment → Feedback</a:t>
                      </a:r>
                    </a:p>
                  </a:txBody>
                  <a:tcPr anchor="ctr">
                    <a:solidFill>
                      <a:srgbClr val="181C24"/>
                    </a:solidFill>
                  </a:tcPr>
                </a:tc>
                <a:tc>
                  <a:txBody>
                    <a:bodyPr/>
                    <a:lstStyle/>
                    <a:p>
                      <a:pPr>
                        <a:defRPr sz="950">
                          <a:solidFill>
                            <a:srgbClr val="A5ACB9"/>
                          </a:solidFill>
                          <a:latin typeface="Calibri"/>
                        </a:defRPr>
                      </a:pPr>
                      <a:r>
                        <a:t>1 : N (One-to-Many)</a:t>
                      </a:r>
                    </a:p>
                  </a:txBody>
                  <a:tcPr anchor="ctr">
                    <a:solidFill>
                      <a:srgbClr val="181C24"/>
                    </a:solidFill>
                  </a:tcPr>
                </a:tc>
                <a:tc>
                  <a:txBody>
                    <a:bodyPr/>
                    <a:lstStyle/>
                    <a:p>
                      <a:pPr>
                        <a:defRPr sz="950">
                          <a:solidFill>
                            <a:srgbClr val="A5ACB9"/>
                          </a:solidFill>
                          <a:latin typeface="Calibri"/>
                        </a:defRPr>
                      </a:pPr>
                      <a:r>
                        <a:t>Assignments gather structured qualitative feedback from stakeholders.</a:t>
                      </a:r>
                    </a:p>
                  </a:txBody>
                  <a:tcPr anchor="ctr">
                    <a:solidFill>
                      <a:srgbClr val="181C24"/>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2 • NORMALIZATION FOUNDATION</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Functional Dependencies (FD) Analysis</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Functional Dependencies </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8" name="TextBox 7"/>
          <p:cNvSpPr txBox="1"/>
          <p:nvPr/>
        </p:nvSpPr>
        <p:spPr>
          <a:xfrm>
            <a:off x="10515600" y="6473952"/>
            <a:ext cx="914400" cy="274320"/>
          </a:xfrm>
          <a:prstGeom prst="rect">
            <a:avLst/>
          </a:prstGeom>
          <a:noFill/>
        </p:spPr>
        <p:txBody>
          <a:bodyPr wrap="none" lIns="0" tIns="0" rIns="0" bIns="0">
            <a:spAutoFit/>
          </a:bodyPr>
          <a:lstStyle/>
          <a:p>
            <a:pPr algn="r">
              <a:defRPr sz="850">
                <a:solidFill>
                  <a:srgbClr val="737A87"/>
                </a:solidFill>
                <a:latin typeface="Calibri"/>
              </a:defRPr>
            </a:pPr>
            <a:r>
              <a:t>12 / 32</a:t>
            </a:r>
          </a:p>
        </p:txBody>
      </p:sp>
      <p:graphicFrame>
        <p:nvGraphicFramePr>
          <p:cNvPr id="9" name="Table 8"/>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4785055">
                  <a:extLst>
                    <a:ext uri="{9D8B030D-6E8A-4147-A177-3AD203B41FA5}">
                      <a16:colId xmlns:a16="http://schemas.microsoft.com/office/drawing/2014/main" val="20003"/>
                    </a:ext>
                  </a:extLst>
                </a:gridCol>
              </a:tblGrid>
              <a:tr h="344658">
                <a:tc>
                  <a:txBody>
                    <a:bodyPr/>
                    <a:lstStyle/>
                    <a:p>
                      <a:pPr>
                        <a:defRPr sz="1000" b="1">
                          <a:solidFill>
                            <a:srgbClr val="E5A93C"/>
                          </a:solidFill>
                          <a:latin typeface="Calibri"/>
                        </a:defRPr>
                      </a:pPr>
                      <a:r>
                        <a:t>Relation / Entity</a:t>
                      </a:r>
                    </a:p>
                  </a:txBody>
                  <a:tcPr marT="54864" marB="54864" anchor="ctr">
                    <a:solidFill>
                      <a:srgbClr val="222834"/>
                    </a:solidFill>
                  </a:tcPr>
                </a:tc>
                <a:tc>
                  <a:txBody>
                    <a:bodyPr/>
                    <a:lstStyle/>
                    <a:p>
                      <a:pPr>
                        <a:defRPr sz="1000" b="1">
                          <a:solidFill>
                            <a:srgbClr val="E5A93C"/>
                          </a:solidFill>
                          <a:latin typeface="Calibri"/>
                        </a:defRPr>
                      </a:pPr>
                      <a:r>
                        <a:t>Candidate Key(s)</a:t>
                      </a:r>
                    </a:p>
                  </a:txBody>
                  <a:tcPr marT="54864" marB="54864" anchor="ctr">
                    <a:solidFill>
                      <a:srgbClr val="222834"/>
                    </a:solidFill>
                  </a:tcPr>
                </a:tc>
                <a:tc>
                  <a:txBody>
                    <a:bodyPr/>
                    <a:lstStyle/>
                    <a:p>
                      <a:pPr>
                        <a:defRPr sz="1000" b="1">
                          <a:solidFill>
                            <a:srgbClr val="E5A93C"/>
                          </a:solidFill>
                          <a:latin typeface="Calibri"/>
                        </a:defRPr>
                      </a:pPr>
                      <a:r>
                        <a:t>Determinant (X)</a:t>
                      </a:r>
                    </a:p>
                  </a:txBody>
                  <a:tcPr marT="54864" marB="54864" anchor="ctr">
                    <a:solidFill>
                      <a:srgbClr val="222834"/>
                    </a:solidFill>
                  </a:tcPr>
                </a:tc>
                <a:tc>
                  <a:txBody>
                    <a:bodyPr/>
                    <a:lstStyle/>
                    <a:p>
                      <a:pPr>
                        <a:defRPr sz="1000" b="1">
                          <a:solidFill>
                            <a:srgbClr val="E5A93C"/>
                          </a:solidFill>
                          <a:latin typeface="Calibri"/>
                        </a:defRPr>
                      </a:pPr>
                      <a:r>
                        <a:t>Formal Functional Dependencies (X → Y)</a:t>
                      </a:r>
                    </a:p>
                  </a:txBody>
                  <a:tcPr marT="54864" marB="54864" anchor="ctr">
                    <a:solidFill>
                      <a:srgbClr val="222834"/>
                    </a:solidFill>
                  </a:tcPr>
                </a:tc>
                <a:extLst>
                  <a:ext uri="{0D108BD9-81ED-4DB2-BD59-A6C34878D82A}">
                    <a16:rowId xmlns:a16="http://schemas.microsoft.com/office/drawing/2014/main" val="10000"/>
                  </a:ext>
                </a:extLst>
              </a:tr>
              <a:tr h="344658">
                <a:tc>
                  <a:txBody>
                    <a:bodyPr/>
                    <a:lstStyle/>
                    <a:p>
                      <a:pPr>
                        <a:defRPr sz="950" b="1">
                          <a:solidFill>
                            <a:srgbClr val="FFFFFF"/>
                          </a:solidFill>
                          <a:latin typeface="Calibri"/>
                        </a:defRPr>
                      </a:pPr>
                      <a:r>
                        <a:t>Students</a:t>
                      </a:r>
                    </a:p>
                  </a:txBody>
                  <a:tcPr anchor="ctr">
                    <a:solidFill>
                      <a:srgbClr val="181C24"/>
                    </a:solidFill>
                  </a:tcPr>
                </a:tc>
                <a:tc>
                  <a:txBody>
                    <a:bodyPr/>
                    <a:lstStyle/>
                    <a:p>
                      <a:pPr>
                        <a:defRPr sz="950">
                          <a:solidFill>
                            <a:srgbClr val="A5ACB9"/>
                          </a:solidFill>
                          <a:latin typeface="Calibri"/>
                        </a:defRPr>
                      </a:pPr>
                      <a:r>
                        <a:t>{Student_ID}, {Email}</a:t>
                      </a:r>
                    </a:p>
                  </a:txBody>
                  <a:tcPr anchor="ctr">
                    <a:solidFill>
                      <a:srgbClr val="181C24"/>
                    </a:solidFill>
                  </a:tcPr>
                </a:tc>
                <a:tc>
                  <a:txBody>
                    <a:bodyPr/>
                    <a:lstStyle/>
                    <a:p>
                      <a:pPr>
                        <a:defRPr sz="950">
                          <a:solidFill>
                            <a:srgbClr val="A5ACB9"/>
                          </a:solidFill>
                          <a:latin typeface="Calibri"/>
                        </a:defRPr>
                      </a:pPr>
                      <a:r>
                        <a:t>Student_ID</a:t>
                      </a:r>
                    </a:p>
                  </a:txBody>
                  <a:tcPr anchor="ctr">
                    <a:solidFill>
                      <a:srgbClr val="181C24"/>
                    </a:solidFill>
                  </a:tcPr>
                </a:tc>
                <a:tc>
                  <a:txBody>
                    <a:bodyPr/>
                    <a:lstStyle/>
                    <a:p>
                      <a:pPr>
                        <a:defRPr sz="950">
                          <a:solidFill>
                            <a:srgbClr val="A5ACB9"/>
                          </a:solidFill>
                          <a:latin typeface="Calibri"/>
                        </a:defRPr>
                      </a:pPr>
                      <a:r>
                        <a:t>Student_ID → {Name, Department, Email, Phone}</a:t>
                      </a:r>
                    </a:p>
                  </a:txBody>
                  <a:tcPr anchor="ctr">
                    <a:solidFill>
                      <a:srgbClr val="181C24"/>
                    </a:solidFill>
                  </a:tcPr>
                </a:tc>
                <a:extLst>
                  <a:ext uri="{0D108BD9-81ED-4DB2-BD59-A6C34878D82A}">
                    <a16:rowId xmlns:a16="http://schemas.microsoft.com/office/drawing/2014/main" val="10001"/>
                  </a:ext>
                </a:extLst>
              </a:tr>
              <a:tr h="344658">
                <a:tc>
                  <a:txBody>
                    <a:bodyPr/>
                    <a:lstStyle/>
                    <a:p>
                      <a:pPr>
                        <a:defRPr sz="950" b="1">
                          <a:solidFill>
                            <a:srgbClr val="FFFFFF"/>
                          </a:solidFill>
                          <a:latin typeface="Calibri"/>
                        </a:defRPr>
                      </a:pPr>
                      <a:r>
                        <a:t>Organizations</a:t>
                      </a:r>
                    </a:p>
                  </a:txBody>
                  <a:tcPr anchor="ctr">
                    <a:solidFill>
                      <a:srgbClr val="13161C"/>
                    </a:solidFill>
                  </a:tcPr>
                </a:tc>
                <a:tc>
                  <a:txBody>
                    <a:bodyPr/>
                    <a:lstStyle/>
                    <a:p>
                      <a:pPr>
                        <a:defRPr sz="950">
                          <a:solidFill>
                            <a:srgbClr val="A5ACB9"/>
                          </a:solidFill>
                          <a:latin typeface="Calibri"/>
                        </a:defRPr>
                      </a:pPr>
                      <a:r>
                        <a:t>{Org_ID}</a:t>
                      </a:r>
                    </a:p>
                  </a:txBody>
                  <a:tcPr anchor="ctr">
                    <a:solidFill>
                      <a:srgbClr val="13161C"/>
                    </a:solidFill>
                  </a:tcPr>
                </a:tc>
                <a:tc>
                  <a:txBody>
                    <a:bodyPr/>
                    <a:lstStyle/>
                    <a:p>
                      <a:pPr>
                        <a:defRPr sz="950">
                          <a:solidFill>
                            <a:srgbClr val="A5ACB9"/>
                          </a:solidFill>
                          <a:latin typeface="Calibri"/>
                        </a:defRPr>
                      </a:pPr>
                      <a:r>
                        <a:t>Org_ID</a:t>
                      </a:r>
                    </a:p>
                  </a:txBody>
                  <a:tcPr anchor="ctr">
                    <a:solidFill>
                      <a:srgbClr val="13161C"/>
                    </a:solidFill>
                  </a:tcPr>
                </a:tc>
                <a:tc>
                  <a:txBody>
                    <a:bodyPr/>
                    <a:lstStyle/>
                    <a:p>
                      <a:pPr>
                        <a:defRPr sz="950">
                          <a:solidFill>
                            <a:srgbClr val="A5ACB9"/>
                          </a:solidFill>
                          <a:latin typeface="Calibri"/>
                        </a:defRPr>
                      </a:pPr>
                      <a:r>
                        <a:t>Org_ID → {Org_Name, Industry, Address, Email}</a:t>
                      </a:r>
                    </a:p>
                  </a:txBody>
                  <a:tcPr anchor="ctr">
                    <a:solidFill>
                      <a:srgbClr val="13161C"/>
                    </a:solidFill>
                  </a:tcPr>
                </a:tc>
                <a:extLst>
                  <a:ext uri="{0D108BD9-81ED-4DB2-BD59-A6C34878D82A}">
                    <a16:rowId xmlns:a16="http://schemas.microsoft.com/office/drawing/2014/main" val="10002"/>
                  </a:ext>
                </a:extLst>
              </a:tr>
              <a:tr h="344658">
                <a:tc>
                  <a:txBody>
                    <a:bodyPr/>
                    <a:lstStyle/>
                    <a:p>
                      <a:pPr>
                        <a:defRPr sz="950" b="1">
                          <a:solidFill>
                            <a:srgbClr val="FFFFFF"/>
                          </a:solidFill>
                          <a:latin typeface="Calibri"/>
                        </a:defRPr>
                      </a:pPr>
                      <a:r>
                        <a:t>Opportunities</a:t>
                      </a:r>
                    </a:p>
                  </a:txBody>
                  <a:tcPr anchor="ctr">
                    <a:solidFill>
                      <a:srgbClr val="181C24"/>
                    </a:solidFill>
                  </a:tcPr>
                </a:tc>
                <a:tc>
                  <a:txBody>
                    <a:bodyPr/>
                    <a:lstStyle/>
                    <a:p>
                      <a:pPr>
                        <a:defRPr sz="950">
                          <a:solidFill>
                            <a:srgbClr val="A5ACB9"/>
                          </a:solidFill>
                          <a:latin typeface="Calibri"/>
                        </a:defRPr>
                      </a:pPr>
                      <a:r>
                        <a:t>{Opp_ID}</a:t>
                      </a:r>
                    </a:p>
                  </a:txBody>
                  <a:tcPr anchor="ctr">
                    <a:solidFill>
                      <a:srgbClr val="181C24"/>
                    </a:solidFill>
                  </a:tcPr>
                </a:tc>
                <a:tc>
                  <a:txBody>
                    <a:bodyPr/>
                    <a:lstStyle/>
                    <a:p>
                      <a:pPr>
                        <a:defRPr sz="950">
                          <a:solidFill>
                            <a:srgbClr val="A5ACB9"/>
                          </a:solidFill>
                          <a:latin typeface="Calibri"/>
                        </a:defRPr>
                      </a:pPr>
                      <a:r>
                        <a:t>Opp_ID</a:t>
                      </a:r>
                    </a:p>
                  </a:txBody>
                  <a:tcPr anchor="ctr">
                    <a:solidFill>
                      <a:srgbClr val="181C24"/>
                    </a:solidFill>
                  </a:tcPr>
                </a:tc>
                <a:tc>
                  <a:txBody>
                    <a:bodyPr/>
                    <a:lstStyle/>
                    <a:p>
                      <a:pPr>
                        <a:defRPr sz="950">
                          <a:solidFill>
                            <a:srgbClr val="A5ACB9"/>
                          </a:solidFill>
                          <a:latin typeface="Calibri"/>
                        </a:defRPr>
                      </a:pPr>
                      <a:r>
                        <a:t>Opp_ID → {Org_ID, Title, Description, Stipend, Location}</a:t>
                      </a:r>
                    </a:p>
                  </a:txBody>
                  <a:tcPr anchor="ctr">
                    <a:solidFill>
                      <a:srgbClr val="181C24"/>
                    </a:solidFill>
                  </a:tcPr>
                </a:tc>
                <a:extLst>
                  <a:ext uri="{0D108BD9-81ED-4DB2-BD59-A6C34878D82A}">
                    <a16:rowId xmlns:a16="http://schemas.microsoft.com/office/drawing/2014/main" val="10003"/>
                  </a:ext>
                </a:extLst>
              </a:tr>
              <a:tr h="344658">
                <a:tc>
                  <a:txBody>
                    <a:bodyPr/>
                    <a:lstStyle/>
                    <a:p>
                      <a:pPr>
                        <a:defRPr sz="950" b="1">
                          <a:solidFill>
                            <a:srgbClr val="FFFFFF"/>
                          </a:solidFill>
                          <a:latin typeface="Calibri"/>
                        </a:defRPr>
                      </a:pPr>
                      <a:r>
                        <a:t>Applications</a:t>
                      </a:r>
                    </a:p>
                  </a:txBody>
                  <a:tcPr anchor="ctr">
                    <a:solidFill>
                      <a:srgbClr val="13161C"/>
                    </a:solidFill>
                  </a:tcPr>
                </a:tc>
                <a:tc>
                  <a:txBody>
                    <a:bodyPr/>
                    <a:lstStyle/>
                    <a:p>
                      <a:pPr>
                        <a:defRPr sz="950">
                          <a:solidFill>
                            <a:srgbClr val="A5ACB9"/>
                          </a:solidFill>
                          <a:latin typeface="Calibri"/>
                        </a:defRPr>
                      </a:pPr>
                      <a:r>
                        <a:t>{App_ID}, {Student_ID, Opp_ID}</a:t>
                      </a:r>
                    </a:p>
                  </a:txBody>
                  <a:tcPr anchor="ctr">
                    <a:solidFill>
                      <a:srgbClr val="13161C"/>
                    </a:solidFill>
                  </a:tcPr>
                </a:tc>
                <a:tc>
                  <a:txBody>
                    <a:bodyPr/>
                    <a:lstStyle/>
                    <a:p>
                      <a:pPr>
                        <a:defRPr sz="950">
                          <a:solidFill>
                            <a:srgbClr val="A5ACB9"/>
                          </a:solidFill>
                          <a:latin typeface="Calibri"/>
                        </a:defRPr>
                      </a:pPr>
                      <a:r>
                        <a:t>App_ID</a:t>
                      </a:r>
                    </a:p>
                  </a:txBody>
                  <a:tcPr anchor="ctr">
                    <a:solidFill>
                      <a:srgbClr val="13161C"/>
                    </a:solidFill>
                  </a:tcPr>
                </a:tc>
                <a:tc>
                  <a:txBody>
                    <a:bodyPr/>
                    <a:lstStyle/>
                    <a:p>
                      <a:pPr>
                        <a:defRPr sz="950">
                          <a:solidFill>
                            <a:srgbClr val="A5ACB9"/>
                          </a:solidFill>
                          <a:latin typeface="Calibri"/>
                        </a:defRPr>
                      </a:pPr>
                      <a:r>
                        <a:t>App_ID → {Student_ID, Opp_ID, Application_Date, Status}</a:t>
                      </a:r>
                    </a:p>
                  </a:txBody>
                  <a:tcPr anchor="ctr">
                    <a:solidFill>
                      <a:srgbClr val="13161C"/>
                    </a:solidFill>
                  </a:tcPr>
                </a:tc>
                <a:extLst>
                  <a:ext uri="{0D108BD9-81ED-4DB2-BD59-A6C34878D82A}">
                    <a16:rowId xmlns:a16="http://schemas.microsoft.com/office/drawing/2014/main" val="10004"/>
                  </a:ext>
                </a:extLst>
              </a:tr>
              <a:tr h="344658">
                <a:tc>
                  <a:txBody>
                    <a:bodyPr/>
                    <a:lstStyle/>
                    <a:p>
                      <a:pPr>
                        <a:defRPr sz="950" b="1">
                          <a:solidFill>
                            <a:srgbClr val="FFFFFF"/>
                          </a:solidFill>
                          <a:latin typeface="Calibri"/>
                        </a:defRPr>
                      </a:pPr>
                      <a:r>
                        <a:t>Approvals</a:t>
                      </a:r>
                    </a:p>
                  </a:txBody>
                  <a:tcPr anchor="ctr">
                    <a:solidFill>
                      <a:srgbClr val="181C24"/>
                    </a:solidFill>
                  </a:tcPr>
                </a:tc>
                <a:tc>
                  <a:txBody>
                    <a:bodyPr/>
                    <a:lstStyle/>
                    <a:p>
                      <a:pPr>
                        <a:defRPr sz="950">
                          <a:solidFill>
                            <a:srgbClr val="A5ACB9"/>
                          </a:solidFill>
                          <a:latin typeface="Calibri"/>
                        </a:defRPr>
                      </a:pPr>
                      <a:r>
                        <a:t>{Approval_ID}, {App_ID}</a:t>
                      </a:r>
                    </a:p>
                  </a:txBody>
                  <a:tcPr anchor="ctr">
                    <a:solidFill>
                      <a:srgbClr val="181C24"/>
                    </a:solidFill>
                  </a:tcPr>
                </a:tc>
                <a:tc>
                  <a:txBody>
                    <a:bodyPr/>
                    <a:lstStyle/>
                    <a:p>
                      <a:pPr>
                        <a:defRPr sz="950">
                          <a:solidFill>
                            <a:srgbClr val="A5ACB9"/>
                          </a:solidFill>
                          <a:latin typeface="Calibri"/>
                        </a:defRPr>
                      </a:pPr>
                      <a:r>
                        <a:t>Approval_ID</a:t>
                      </a:r>
                    </a:p>
                  </a:txBody>
                  <a:tcPr anchor="ctr">
                    <a:solidFill>
                      <a:srgbClr val="181C24"/>
                    </a:solidFill>
                  </a:tcPr>
                </a:tc>
                <a:tc>
                  <a:txBody>
                    <a:bodyPr/>
                    <a:lstStyle/>
                    <a:p>
                      <a:pPr>
                        <a:defRPr sz="950">
                          <a:solidFill>
                            <a:srgbClr val="A5ACB9"/>
                          </a:solidFill>
                          <a:latin typeface="Calibri"/>
                        </a:defRPr>
                      </a:pPr>
                      <a:r>
                        <a:t>Approval_ID → {App_ID, Faculty_ID, Approval_Status, Approval_Date}</a:t>
                      </a:r>
                    </a:p>
                  </a:txBody>
                  <a:tcPr anchor="ctr">
                    <a:solidFill>
                      <a:srgbClr val="181C24"/>
                    </a:solidFill>
                  </a:tcPr>
                </a:tc>
                <a:extLst>
                  <a:ext uri="{0D108BD9-81ED-4DB2-BD59-A6C34878D82A}">
                    <a16:rowId xmlns:a16="http://schemas.microsoft.com/office/drawing/2014/main" val="10005"/>
                  </a:ext>
                </a:extLst>
              </a:tr>
              <a:tr h="344658">
                <a:tc>
                  <a:txBody>
                    <a:bodyPr/>
                    <a:lstStyle/>
                    <a:p>
                      <a:pPr>
                        <a:defRPr sz="950" b="1">
                          <a:solidFill>
                            <a:srgbClr val="FFFFFF"/>
                          </a:solidFill>
                          <a:latin typeface="Calibri"/>
                        </a:defRPr>
                      </a:pPr>
                      <a:r>
                        <a:t>Faculty_Mentors</a:t>
                      </a:r>
                    </a:p>
                  </a:txBody>
                  <a:tcPr anchor="ctr">
                    <a:solidFill>
                      <a:srgbClr val="13161C"/>
                    </a:solidFill>
                  </a:tcPr>
                </a:tc>
                <a:tc>
                  <a:txBody>
                    <a:bodyPr/>
                    <a:lstStyle/>
                    <a:p>
                      <a:pPr>
                        <a:defRPr sz="950">
                          <a:solidFill>
                            <a:srgbClr val="A5ACB9"/>
                          </a:solidFill>
                          <a:latin typeface="Calibri"/>
                        </a:defRPr>
                      </a:pPr>
                      <a:r>
                        <a:t>{Faculty_ID}, {Email}</a:t>
                      </a:r>
                    </a:p>
                  </a:txBody>
                  <a:tcPr anchor="ctr">
                    <a:solidFill>
                      <a:srgbClr val="13161C"/>
                    </a:solidFill>
                  </a:tcPr>
                </a:tc>
                <a:tc>
                  <a:txBody>
                    <a:bodyPr/>
                    <a:lstStyle/>
                    <a:p>
                      <a:pPr>
                        <a:defRPr sz="950">
                          <a:solidFill>
                            <a:srgbClr val="A5ACB9"/>
                          </a:solidFill>
                          <a:latin typeface="Calibri"/>
                        </a:defRPr>
                      </a:pPr>
                      <a:r>
                        <a:t>Faculty_ID</a:t>
                      </a:r>
                    </a:p>
                  </a:txBody>
                  <a:tcPr anchor="ctr">
                    <a:solidFill>
                      <a:srgbClr val="13161C"/>
                    </a:solidFill>
                  </a:tcPr>
                </a:tc>
                <a:tc>
                  <a:txBody>
                    <a:bodyPr/>
                    <a:lstStyle/>
                    <a:p>
                      <a:pPr>
                        <a:defRPr sz="950">
                          <a:solidFill>
                            <a:srgbClr val="A5ACB9"/>
                          </a:solidFill>
                          <a:latin typeface="Calibri"/>
                        </a:defRPr>
                      </a:pPr>
                      <a:r>
                        <a:t>Faculty_ID → {Name, Department, Email}</a:t>
                      </a:r>
                    </a:p>
                  </a:txBody>
                  <a:tcPr anchor="ctr">
                    <a:solidFill>
                      <a:srgbClr val="13161C"/>
                    </a:solidFill>
                  </a:tcPr>
                </a:tc>
                <a:extLst>
                  <a:ext uri="{0D108BD9-81ED-4DB2-BD59-A6C34878D82A}">
                    <a16:rowId xmlns:a16="http://schemas.microsoft.com/office/drawing/2014/main" val="10006"/>
                  </a:ext>
                </a:extLst>
              </a:tr>
              <a:tr h="344658">
                <a:tc>
                  <a:txBody>
                    <a:bodyPr/>
                    <a:lstStyle/>
                    <a:p>
                      <a:pPr>
                        <a:defRPr sz="950" b="1">
                          <a:solidFill>
                            <a:srgbClr val="FFFFFF"/>
                          </a:solidFill>
                          <a:latin typeface="Calibri"/>
                        </a:defRPr>
                      </a:pPr>
                      <a:r>
                        <a:t>Company_Supervisors</a:t>
                      </a:r>
                    </a:p>
                  </a:txBody>
                  <a:tcPr anchor="ctr">
                    <a:solidFill>
                      <a:srgbClr val="181C24"/>
                    </a:solidFill>
                  </a:tcPr>
                </a:tc>
                <a:tc>
                  <a:txBody>
                    <a:bodyPr/>
                    <a:lstStyle/>
                    <a:p>
                      <a:pPr>
                        <a:defRPr sz="950">
                          <a:solidFill>
                            <a:srgbClr val="A5ACB9"/>
                          </a:solidFill>
                          <a:latin typeface="Calibri"/>
                        </a:defRPr>
                      </a:pPr>
                      <a:r>
                        <a:t>{Supervisor_ID}, {Email}</a:t>
                      </a:r>
                    </a:p>
                  </a:txBody>
                  <a:tcPr anchor="ctr">
                    <a:solidFill>
                      <a:srgbClr val="181C24"/>
                    </a:solidFill>
                  </a:tcPr>
                </a:tc>
                <a:tc>
                  <a:txBody>
                    <a:bodyPr/>
                    <a:lstStyle/>
                    <a:p>
                      <a:pPr>
                        <a:defRPr sz="950">
                          <a:solidFill>
                            <a:srgbClr val="A5ACB9"/>
                          </a:solidFill>
                          <a:latin typeface="Calibri"/>
                        </a:defRPr>
                      </a:pPr>
                      <a:r>
                        <a:t>Supervisor_ID</a:t>
                      </a:r>
                    </a:p>
                  </a:txBody>
                  <a:tcPr anchor="ctr">
                    <a:solidFill>
                      <a:srgbClr val="181C24"/>
                    </a:solidFill>
                  </a:tcPr>
                </a:tc>
                <a:tc>
                  <a:txBody>
                    <a:bodyPr/>
                    <a:lstStyle/>
                    <a:p>
                      <a:pPr>
                        <a:defRPr sz="950">
                          <a:solidFill>
                            <a:srgbClr val="A5ACB9"/>
                          </a:solidFill>
                          <a:latin typeface="Calibri"/>
                        </a:defRPr>
                      </a:pPr>
                      <a:r>
                        <a:t>Supervisor_ID → {Org_ID, Name, Email, Phone}</a:t>
                      </a:r>
                    </a:p>
                  </a:txBody>
                  <a:tcPr anchor="ctr">
                    <a:solidFill>
                      <a:srgbClr val="181C24"/>
                    </a:solidFill>
                  </a:tcPr>
                </a:tc>
                <a:extLst>
                  <a:ext uri="{0D108BD9-81ED-4DB2-BD59-A6C34878D82A}">
                    <a16:rowId xmlns:a16="http://schemas.microsoft.com/office/drawing/2014/main" val="10007"/>
                  </a:ext>
                </a:extLst>
              </a:tr>
              <a:tr h="344658">
                <a:tc>
                  <a:txBody>
                    <a:bodyPr/>
                    <a:lstStyle/>
                    <a:p>
                      <a:pPr>
                        <a:defRPr sz="950" b="1">
                          <a:solidFill>
                            <a:srgbClr val="FFFFFF"/>
                          </a:solidFill>
                          <a:latin typeface="Calibri"/>
                        </a:defRPr>
                      </a:pPr>
                      <a:r>
                        <a:t>Assignments</a:t>
                      </a:r>
                    </a:p>
                  </a:txBody>
                  <a:tcPr anchor="ctr">
                    <a:solidFill>
                      <a:srgbClr val="13161C"/>
                    </a:solidFill>
                  </a:tcPr>
                </a:tc>
                <a:tc>
                  <a:txBody>
                    <a:bodyPr/>
                    <a:lstStyle/>
                    <a:p>
                      <a:pPr>
                        <a:defRPr sz="950">
                          <a:solidFill>
                            <a:srgbClr val="A5ACB9"/>
                          </a:solidFill>
                          <a:latin typeface="Calibri"/>
                        </a:defRPr>
                      </a:pPr>
                      <a:r>
                        <a:t>{Assignment_ID}, {Approval_ID}</a:t>
                      </a:r>
                    </a:p>
                  </a:txBody>
                  <a:tcPr anchor="ctr">
                    <a:solidFill>
                      <a:srgbClr val="13161C"/>
                    </a:solidFill>
                  </a:tcPr>
                </a:tc>
                <a:tc>
                  <a:txBody>
                    <a:bodyPr/>
                    <a:lstStyle/>
                    <a:p>
                      <a:pPr>
                        <a:defRPr sz="950">
                          <a:solidFill>
                            <a:srgbClr val="A5ACB9"/>
                          </a:solidFill>
                          <a:latin typeface="Calibri"/>
                        </a:defRPr>
                      </a:pPr>
                      <a:r>
                        <a:t>Assignment_ID</a:t>
                      </a:r>
                    </a:p>
                  </a:txBody>
                  <a:tcPr anchor="ctr">
                    <a:solidFill>
                      <a:srgbClr val="13161C"/>
                    </a:solidFill>
                  </a:tcPr>
                </a:tc>
                <a:tc>
                  <a:txBody>
                    <a:bodyPr/>
                    <a:lstStyle/>
                    <a:p>
                      <a:pPr>
                        <a:defRPr sz="950">
                          <a:solidFill>
                            <a:srgbClr val="A5ACB9"/>
                          </a:solidFill>
                          <a:latin typeface="Calibri"/>
                        </a:defRPr>
                      </a:pPr>
                      <a:r>
                        <a:t>Assignment_ID → {Approval_ID, Faculty_ID, Supervisor_ID, Start_Date, End_Date}</a:t>
                      </a:r>
                    </a:p>
                  </a:txBody>
                  <a:tcPr anchor="ctr">
                    <a:solidFill>
                      <a:srgbClr val="13161C"/>
                    </a:solidFill>
                  </a:tcPr>
                </a:tc>
                <a:extLst>
                  <a:ext uri="{0D108BD9-81ED-4DB2-BD59-A6C34878D82A}">
                    <a16:rowId xmlns:a16="http://schemas.microsoft.com/office/drawing/2014/main" val="10008"/>
                  </a:ext>
                </a:extLst>
              </a:tr>
              <a:tr h="344658">
                <a:tc>
                  <a:txBody>
                    <a:bodyPr/>
                    <a:lstStyle/>
                    <a:p>
                      <a:pPr>
                        <a:defRPr sz="950" b="1">
                          <a:solidFill>
                            <a:srgbClr val="FFFFFF"/>
                          </a:solidFill>
                          <a:latin typeface="Calibri"/>
                        </a:defRPr>
                      </a:pPr>
                      <a:r>
                        <a:t>Weekly_Logs</a:t>
                      </a:r>
                    </a:p>
                  </a:txBody>
                  <a:tcPr anchor="ctr">
                    <a:solidFill>
                      <a:srgbClr val="181C24"/>
                    </a:solidFill>
                  </a:tcPr>
                </a:tc>
                <a:tc>
                  <a:txBody>
                    <a:bodyPr/>
                    <a:lstStyle/>
                    <a:p>
                      <a:pPr>
                        <a:defRPr sz="950">
                          <a:solidFill>
                            <a:srgbClr val="A5ACB9"/>
                          </a:solidFill>
                          <a:latin typeface="Calibri"/>
                        </a:defRPr>
                      </a:pPr>
                      <a:r>
                        <a:t>{Log_ID}, {Assignment_ID, Week_No}</a:t>
                      </a:r>
                    </a:p>
                  </a:txBody>
                  <a:tcPr anchor="ctr">
                    <a:solidFill>
                      <a:srgbClr val="181C24"/>
                    </a:solidFill>
                  </a:tcPr>
                </a:tc>
                <a:tc>
                  <a:txBody>
                    <a:bodyPr/>
                    <a:lstStyle/>
                    <a:p>
                      <a:pPr>
                        <a:defRPr sz="950">
                          <a:solidFill>
                            <a:srgbClr val="A5ACB9"/>
                          </a:solidFill>
                          <a:latin typeface="Calibri"/>
                        </a:defRPr>
                      </a:pPr>
                      <a:r>
                        <a:t>Log_ID</a:t>
                      </a:r>
                    </a:p>
                  </a:txBody>
                  <a:tcPr anchor="ctr">
                    <a:solidFill>
                      <a:srgbClr val="181C24"/>
                    </a:solidFill>
                  </a:tcPr>
                </a:tc>
                <a:tc>
                  <a:txBody>
                    <a:bodyPr/>
                    <a:lstStyle/>
                    <a:p>
                      <a:pPr>
                        <a:defRPr sz="950">
                          <a:solidFill>
                            <a:srgbClr val="A5ACB9"/>
                          </a:solidFill>
                          <a:latin typeface="Calibri"/>
                        </a:defRPr>
                      </a:pPr>
                      <a:r>
                        <a:t>Log_ID → {Assignment_ID, Week_Number, Report_Text, Submission_Date}</a:t>
                      </a:r>
                    </a:p>
                  </a:txBody>
                  <a:tcPr anchor="ctr">
                    <a:solidFill>
                      <a:srgbClr val="181C24"/>
                    </a:solidFill>
                  </a:tcPr>
                </a:tc>
                <a:extLst>
                  <a:ext uri="{0D108BD9-81ED-4DB2-BD59-A6C34878D82A}">
                    <a16:rowId xmlns:a16="http://schemas.microsoft.com/office/drawing/2014/main" val="10009"/>
                  </a:ext>
                </a:extLst>
              </a:tr>
              <a:tr h="344658">
                <a:tc>
                  <a:txBody>
                    <a:bodyPr/>
                    <a:lstStyle/>
                    <a:p>
                      <a:pPr>
                        <a:defRPr sz="950" b="1">
                          <a:solidFill>
                            <a:srgbClr val="FFFFFF"/>
                          </a:solidFill>
                          <a:latin typeface="Calibri"/>
                        </a:defRPr>
                      </a:pPr>
                      <a:r>
                        <a:t>Evaluations</a:t>
                      </a:r>
                    </a:p>
                  </a:txBody>
                  <a:tcPr anchor="ctr">
                    <a:solidFill>
                      <a:srgbClr val="13161C"/>
                    </a:solidFill>
                  </a:tcPr>
                </a:tc>
                <a:tc>
                  <a:txBody>
                    <a:bodyPr/>
                    <a:lstStyle/>
                    <a:p>
                      <a:pPr>
                        <a:defRPr sz="950">
                          <a:solidFill>
                            <a:srgbClr val="A5ACB9"/>
                          </a:solidFill>
                          <a:latin typeface="Calibri"/>
                        </a:defRPr>
                      </a:pPr>
                      <a:r>
                        <a:t>{Evaluation_ID}, {Assignment_ID}</a:t>
                      </a:r>
                    </a:p>
                  </a:txBody>
                  <a:tcPr anchor="ctr">
                    <a:solidFill>
                      <a:srgbClr val="13161C"/>
                    </a:solidFill>
                  </a:tcPr>
                </a:tc>
                <a:tc>
                  <a:txBody>
                    <a:bodyPr/>
                    <a:lstStyle/>
                    <a:p>
                      <a:pPr>
                        <a:defRPr sz="950">
                          <a:solidFill>
                            <a:srgbClr val="A5ACB9"/>
                          </a:solidFill>
                          <a:latin typeface="Calibri"/>
                        </a:defRPr>
                      </a:pPr>
                      <a:r>
                        <a:t>Evaluation_ID</a:t>
                      </a:r>
                    </a:p>
                  </a:txBody>
                  <a:tcPr anchor="ctr">
                    <a:solidFill>
                      <a:srgbClr val="13161C"/>
                    </a:solidFill>
                  </a:tcPr>
                </a:tc>
                <a:tc>
                  <a:txBody>
                    <a:bodyPr/>
                    <a:lstStyle/>
                    <a:p>
                      <a:pPr>
                        <a:defRPr sz="950">
                          <a:solidFill>
                            <a:srgbClr val="A5ACB9"/>
                          </a:solidFill>
                          <a:latin typeface="Calibri"/>
                        </a:defRPr>
                      </a:pPr>
                      <a:r>
                        <a:t>Evaluation_ID → {Assignment_ID, Score, Feedback_Text, Evaluation_Date}</a:t>
                      </a:r>
                    </a:p>
                  </a:txBody>
                  <a:tcPr anchor="ctr">
                    <a:solidFill>
                      <a:srgbClr val="13161C"/>
                    </a:solidFill>
                  </a:tcPr>
                </a:tc>
                <a:extLst>
                  <a:ext uri="{0D108BD9-81ED-4DB2-BD59-A6C34878D82A}">
                    <a16:rowId xmlns:a16="http://schemas.microsoft.com/office/drawing/2014/main" val="10010"/>
                  </a:ext>
                </a:extLst>
              </a:tr>
              <a:tr h="344658">
                <a:tc>
                  <a:txBody>
                    <a:bodyPr/>
                    <a:lstStyle/>
                    <a:p>
                      <a:pPr>
                        <a:defRPr sz="950" b="1">
                          <a:solidFill>
                            <a:srgbClr val="FFFFFF"/>
                          </a:solidFill>
                          <a:latin typeface="Calibri"/>
                        </a:defRPr>
                      </a:pPr>
                      <a:r>
                        <a:t>Certificates</a:t>
                      </a:r>
                    </a:p>
                  </a:txBody>
                  <a:tcPr anchor="ctr">
                    <a:solidFill>
                      <a:srgbClr val="181C24"/>
                    </a:solidFill>
                  </a:tcPr>
                </a:tc>
                <a:tc>
                  <a:txBody>
                    <a:bodyPr/>
                    <a:lstStyle/>
                    <a:p>
                      <a:pPr>
                        <a:defRPr sz="950">
                          <a:solidFill>
                            <a:srgbClr val="A5ACB9"/>
                          </a:solidFill>
                          <a:latin typeface="Calibri"/>
                        </a:defRPr>
                      </a:pPr>
                      <a:r>
                        <a:t>{Cert_ID}, {Assignment_ID}, {Code}</a:t>
                      </a:r>
                    </a:p>
                  </a:txBody>
                  <a:tcPr anchor="ctr">
                    <a:solidFill>
                      <a:srgbClr val="181C24"/>
                    </a:solidFill>
                  </a:tcPr>
                </a:tc>
                <a:tc>
                  <a:txBody>
                    <a:bodyPr/>
                    <a:lstStyle/>
                    <a:p>
                      <a:pPr>
                        <a:defRPr sz="950">
                          <a:solidFill>
                            <a:srgbClr val="A5ACB9"/>
                          </a:solidFill>
                          <a:latin typeface="Calibri"/>
                        </a:defRPr>
                      </a:pPr>
                      <a:r>
                        <a:t>Cert_ID</a:t>
                      </a:r>
                    </a:p>
                  </a:txBody>
                  <a:tcPr anchor="ctr">
                    <a:solidFill>
                      <a:srgbClr val="181C24"/>
                    </a:solidFill>
                  </a:tcPr>
                </a:tc>
                <a:tc>
                  <a:txBody>
                    <a:bodyPr/>
                    <a:lstStyle/>
                    <a:p>
                      <a:pPr>
                        <a:defRPr sz="950">
                          <a:solidFill>
                            <a:srgbClr val="A5ACB9"/>
                          </a:solidFill>
                          <a:latin typeface="Calibri"/>
                        </a:defRPr>
                      </a:pPr>
                      <a:r>
                        <a:t>Cert_ID → {Assignment_ID, Issue_Date, Verification_Code}</a:t>
                      </a:r>
                    </a:p>
                  </a:txBody>
                  <a:tcPr anchor="ctr">
                    <a:solidFill>
                      <a:srgbClr val="181C24"/>
                    </a:solidFill>
                  </a:tcPr>
                </a:tc>
                <a:extLst>
                  <a:ext uri="{0D108BD9-81ED-4DB2-BD59-A6C34878D82A}">
                    <a16:rowId xmlns:a16="http://schemas.microsoft.com/office/drawing/2014/main" val="10011"/>
                  </a:ext>
                </a:extLst>
              </a:tr>
              <a:tr h="344664">
                <a:tc>
                  <a:txBody>
                    <a:bodyPr/>
                    <a:lstStyle/>
                    <a:p>
                      <a:pPr>
                        <a:defRPr sz="950" b="1">
                          <a:solidFill>
                            <a:srgbClr val="FFFFFF"/>
                          </a:solidFill>
                          <a:latin typeface="Calibri"/>
                        </a:defRPr>
                      </a:pPr>
                      <a:r>
                        <a:t>Feedback</a:t>
                      </a:r>
                    </a:p>
                  </a:txBody>
                  <a:tcPr anchor="ctr">
                    <a:solidFill>
                      <a:srgbClr val="13161C"/>
                    </a:solidFill>
                  </a:tcPr>
                </a:tc>
                <a:tc>
                  <a:txBody>
                    <a:bodyPr/>
                    <a:lstStyle/>
                    <a:p>
                      <a:pPr>
                        <a:defRPr sz="950">
                          <a:solidFill>
                            <a:srgbClr val="A5ACB9"/>
                          </a:solidFill>
                          <a:latin typeface="Calibri"/>
                        </a:defRPr>
                      </a:pPr>
                      <a:r>
                        <a:t>{Feedback_ID}</a:t>
                      </a:r>
                    </a:p>
                  </a:txBody>
                  <a:tcPr anchor="ctr">
                    <a:solidFill>
                      <a:srgbClr val="13161C"/>
                    </a:solidFill>
                  </a:tcPr>
                </a:tc>
                <a:tc>
                  <a:txBody>
                    <a:bodyPr/>
                    <a:lstStyle/>
                    <a:p>
                      <a:pPr>
                        <a:defRPr sz="950">
                          <a:solidFill>
                            <a:srgbClr val="A5ACB9"/>
                          </a:solidFill>
                          <a:latin typeface="Calibri"/>
                        </a:defRPr>
                      </a:pPr>
                      <a:r>
                        <a:t>Feedback_ID</a:t>
                      </a:r>
                    </a:p>
                  </a:txBody>
                  <a:tcPr anchor="ctr">
                    <a:solidFill>
                      <a:srgbClr val="13161C"/>
                    </a:solidFill>
                  </a:tcPr>
                </a:tc>
                <a:tc>
                  <a:txBody>
                    <a:bodyPr/>
                    <a:lstStyle/>
                    <a:p>
                      <a:pPr>
                        <a:defRPr sz="950">
                          <a:solidFill>
                            <a:srgbClr val="A5ACB9"/>
                          </a:solidFill>
                          <a:latin typeface="Calibri"/>
                        </a:defRPr>
                      </a:pPr>
                      <a:r>
                        <a:t>Feedback_ID → {Assignment_ID, Given_By, Comments}</a:t>
                      </a:r>
                    </a:p>
                  </a:txBody>
                  <a:tcPr anchor="ctr">
                    <a:solidFill>
                      <a:srgbClr val="13161C"/>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1 • RELATIONAL SCHEMA</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Relational Schema: Workflow Foundation (Tables 1–6)</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Relational Schema</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graphicFrame>
        <p:nvGraphicFramePr>
          <p:cNvPr id="9" name="Table 8"/>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3596335">
                  <a:extLst>
                    <a:ext uri="{9D8B030D-6E8A-4147-A177-3AD203B41FA5}">
                      <a16:colId xmlns:a16="http://schemas.microsoft.com/office/drawing/2014/main" val="20003"/>
                    </a:ext>
                  </a:extLst>
                </a:gridCol>
              </a:tblGrid>
              <a:tr h="627017">
                <a:tc>
                  <a:txBody>
                    <a:bodyPr/>
                    <a:lstStyle/>
                    <a:p>
                      <a:pPr>
                        <a:defRPr sz="1000" b="1">
                          <a:solidFill>
                            <a:srgbClr val="E5A93C"/>
                          </a:solidFill>
                          <a:latin typeface="Calibri"/>
                        </a:defRPr>
                      </a:pPr>
                      <a:r>
                        <a:t>Table Name</a:t>
                      </a:r>
                    </a:p>
                  </a:txBody>
                  <a:tcPr marT="54864" marB="54864" anchor="ctr">
                    <a:solidFill>
                      <a:srgbClr val="222834"/>
                    </a:solidFill>
                  </a:tcPr>
                </a:tc>
                <a:tc>
                  <a:txBody>
                    <a:bodyPr/>
                    <a:lstStyle/>
                    <a:p>
                      <a:pPr>
                        <a:defRPr sz="1000" b="1">
                          <a:solidFill>
                            <a:srgbClr val="E5A93C"/>
                          </a:solidFill>
                          <a:latin typeface="Calibri"/>
                        </a:defRPr>
                      </a:pPr>
                      <a:r>
                        <a:t>Primary Key (PK)</a:t>
                      </a:r>
                    </a:p>
                  </a:txBody>
                  <a:tcPr marT="54864" marB="54864" anchor="ctr">
                    <a:solidFill>
                      <a:srgbClr val="222834"/>
                    </a:solidFill>
                  </a:tcPr>
                </a:tc>
                <a:tc>
                  <a:txBody>
                    <a:bodyPr/>
                    <a:lstStyle/>
                    <a:p>
                      <a:pPr>
                        <a:defRPr sz="1000" b="1">
                          <a:solidFill>
                            <a:srgbClr val="E5A93C"/>
                          </a:solidFill>
                          <a:latin typeface="Calibri"/>
                        </a:defRPr>
                      </a:pPr>
                      <a:r>
                        <a:t>Foreign Keys (FK) &amp; References</a:t>
                      </a:r>
                    </a:p>
                  </a:txBody>
                  <a:tcPr marT="54864" marB="54864" anchor="ctr">
                    <a:solidFill>
                      <a:srgbClr val="222834"/>
                    </a:solidFill>
                  </a:tcPr>
                </a:tc>
                <a:tc>
                  <a:txBody>
                    <a:bodyPr/>
                    <a:lstStyle/>
                    <a:p>
                      <a:pPr>
                        <a:defRPr sz="1000" b="1">
                          <a:solidFill>
                            <a:srgbClr val="E5A93C"/>
                          </a:solidFill>
                          <a:latin typeface="Calibri"/>
                        </a:defRPr>
                      </a:pPr>
                      <a:r>
                        <a:t>Core Attributes</a:t>
                      </a:r>
                    </a:p>
                  </a:txBody>
                  <a:tcPr marT="54864" marB="54864" anchor="ctr">
                    <a:solidFill>
                      <a:srgbClr val="222834"/>
                    </a:solidFill>
                  </a:tcPr>
                </a:tc>
                <a:extLst>
                  <a:ext uri="{0D108BD9-81ED-4DB2-BD59-A6C34878D82A}">
                    <a16:rowId xmlns:a16="http://schemas.microsoft.com/office/drawing/2014/main" val="10000"/>
                  </a:ext>
                </a:extLst>
              </a:tr>
              <a:tr h="627017">
                <a:tc>
                  <a:txBody>
                    <a:bodyPr/>
                    <a:lstStyle/>
                    <a:p>
                      <a:pPr>
                        <a:defRPr sz="950" b="1">
                          <a:solidFill>
                            <a:srgbClr val="FFFFFF"/>
                          </a:solidFill>
                          <a:latin typeface="Calibri"/>
                        </a:defRPr>
                      </a:pPr>
                      <a:r>
                        <a:t>Students</a:t>
                      </a:r>
                    </a:p>
                  </a:txBody>
                  <a:tcPr anchor="ctr">
                    <a:solidFill>
                      <a:srgbClr val="181C24"/>
                    </a:solidFill>
                  </a:tcPr>
                </a:tc>
                <a:tc>
                  <a:txBody>
                    <a:bodyPr/>
                    <a:lstStyle/>
                    <a:p>
                      <a:pPr>
                        <a:defRPr sz="950">
                          <a:solidFill>
                            <a:srgbClr val="A5ACB9"/>
                          </a:solidFill>
                          <a:latin typeface="Calibri"/>
                        </a:defRPr>
                      </a:pPr>
                      <a:r>
                        <a:t>Student_ID</a:t>
                      </a:r>
                    </a:p>
                  </a:txBody>
                  <a:tcPr anchor="ctr">
                    <a:solidFill>
                      <a:srgbClr val="181C24"/>
                    </a:solidFill>
                  </a:tcPr>
                </a:tc>
                <a:tc>
                  <a:txBody>
                    <a:bodyPr/>
                    <a:lstStyle/>
                    <a:p>
                      <a:pPr>
                        <a:defRPr sz="950">
                          <a:solidFill>
                            <a:srgbClr val="A5ACB9"/>
                          </a:solidFill>
                          <a:latin typeface="Calibri"/>
                        </a:defRPr>
                      </a:pPr>
                      <a:r>
                        <a:t>None</a:t>
                      </a:r>
                    </a:p>
                  </a:txBody>
                  <a:tcPr anchor="ctr">
                    <a:solidFill>
                      <a:srgbClr val="181C24"/>
                    </a:solidFill>
                  </a:tcPr>
                </a:tc>
                <a:tc>
                  <a:txBody>
                    <a:bodyPr/>
                    <a:lstStyle/>
                    <a:p>
                      <a:pPr>
                        <a:defRPr sz="950">
                          <a:solidFill>
                            <a:srgbClr val="A5ACB9"/>
                          </a:solidFill>
                          <a:latin typeface="Calibri"/>
                        </a:defRPr>
                      </a:pPr>
                      <a:r>
                        <a:t>Name, Department, Email, Phone</a:t>
                      </a:r>
                    </a:p>
                  </a:txBody>
                  <a:tcPr anchor="ctr">
                    <a:solidFill>
                      <a:srgbClr val="181C24"/>
                    </a:solidFill>
                  </a:tcPr>
                </a:tc>
                <a:extLst>
                  <a:ext uri="{0D108BD9-81ED-4DB2-BD59-A6C34878D82A}">
                    <a16:rowId xmlns:a16="http://schemas.microsoft.com/office/drawing/2014/main" val="10001"/>
                  </a:ext>
                </a:extLst>
              </a:tr>
              <a:tr h="627017">
                <a:tc>
                  <a:txBody>
                    <a:bodyPr/>
                    <a:lstStyle/>
                    <a:p>
                      <a:pPr>
                        <a:defRPr sz="950" b="1">
                          <a:solidFill>
                            <a:srgbClr val="FFFFFF"/>
                          </a:solidFill>
                          <a:latin typeface="Calibri"/>
                        </a:defRPr>
                      </a:pPr>
                      <a:r>
                        <a:t>Organizations</a:t>
                      </a:r>
                    </a:p>
                  </a:txBody>
                  <a:tcPr anchor="ctr">
                    <a:solidFill>
                      <a:srgbClr val="13161C"/>
                    </a:solidFill>
                  </a:tcPr>
                </a:tc>
                <a:tc>
                  <a:txBody>
                    <a:bodyPr/>
                    <a:lstStyle/>
                    <a:p>
                      <a:pPr>
                        <a:defRPr sz="950">
                          <a:solidFill>
                            <a:srgbClr val="A5ACB9"/>
                          </a:solidFill>
                          <a:latin typeface="Calibri"/>
                        </a:defRPr>
                      </a:pPr>
                      <a:r>
                        <a:t>Org_ID</a:t>
                      </a:r>
                    </a:p>
                  </a:txBody>
                  <a:tcPr anchor="ctr">
                    <a:solidFill>
                      <a:srgbClr val="13161C"/>
                    </a:solidFill>
                  </a:tcPr>
                </a:tc>
                <a:tc>
                  <a:txBody>
                    <a:bodyPr/>
                    <a:lstStyle/>
                    <a:p>
                      <a:pPr>
                        <a:defRPr sz="950">
                          <a:solidFill>
                            <a:srgbClr val="A5ACB9"/>
                          </a:solidFill>
                          <a:latin typeface="Calibri"/>
                        </a:defRPr>
                      </a:pPr>
                      <a:r>
                        <a:t>None</a:t>
                      </a:r>
                    </a:p>
                  </a:txBody>
                  <a:tcPr anchor="ctr">
                    <a:solidFill>
                      <a:srgbClr val="13161C"/>
                    </a:solidFill>
                  </a:tcPr>
                </a:tc>
                <a:tc>
                  <a:txBody>
                    <a:bodyPr/>
                    <a:lstStyle/>
                    <a:p>
                      <a:pPr>
                        <a:defRPr sz="950">
                          <a:solidFill>
                            <a:srgbClr val="A5ACB9"/>
                          </a:solidFill>
                          <a:latin typeface="Calibri"/>
                        </a:defRPr>
                      </a:pPr>
                      <a:r>
                        <a:t>Org_Name, Industry, Address, Email</a:t>
                      </a:r>
                    </a:p>
                  </a:txBody>
                  <a:tcPr anchor="ctr">
                    <a:solidFill>
                      <a:srgbClr val="13161C"/>
                    </a:solidFill>
                  </a:tcPr>
                </a:tc>
                <a:extLst>
                  <a:ext uri="{0D108BD9-81ED-4DB2-BD59-A6C34878D82A}">
                    <a16:rowId xmlns:a16="http://schemas.microsoft.com/office/drawing/2014/main" val="10002"/>
                  </a:ext>
                </a:extLst>
              </a:tr>
              <a:tr h="627017">
                <a:tc>
                  <a:txBody>
                    <a:bodyPr/>
                    <a:lstStyle/>
                    <a:p>
                      <a:pPr>
                        <a:defRPr sz="950" b="1">
                          <a:solidFill>
                            <a:srgbClr val="FFFFFF"/>
                          </a:solidFill>
                          <a:latin typeface="Calibri"/>
                        </a:defRPr>
                      </a:pPr>
                      <a:r>
                        <a:t>Opportunities</a:t>
                      </a:r>
                    </a:p>
                  </a:txBody>
                  <a:tcPr anchor="ctr">
                    <a:solidFill>
                      <a:srgbClr val="181C24"/>
                    </a:solidFill>
                  </a:tcPr>
                </a:tc>
                <a:tc>
                  <a:txBody>
                    <a:bodyPr/>
                    <a:lstStyle/>
                    <a:p>
                      <a:pPr>
                        <a:defRPr sz="950">
                          <a:solidFill>
                            <a:srgbClr val="A5ACB9"/>
                          </a:solidFill>
                          <a:latin typeface="Calibri"/>
                        </a:defRPr>
                      </a:pPr>
                      <a:r>
                        <a:t>Opp_ID</a:t>
                      </a:r>
                    </a:p>
                  </a:txBody>
                  <a:tcPr anchor="ctr">
                    <a:solidFill>
                      <a:srgbClr val="181C24"/>
                    </a:solidFill>
                  </a:tcPr>
                </a:tc>
                <a:tc>
                  <a:txBody>
                    <a:bodyPr/>
                    <a:lstStyle/>
                    <a:p>
                      <a:pPr>
                        <a:defRPr sz="950">
                          <a:solidFill>
                            <a:srgbClr val="4ECCA3"/>
                          </a:solidFill>
                          <a:latin typeface="Calibri"/>
                        </a:defRPr>
                      </a:pPr>
                      <a:r>
                        <a:t>Org_ID → Organizations(Org_ID)</a:t>
                      </a:r>
                    </a:p>
                  </a:txBody>
                  <a:tcPr anchor="ctr">
                    <a:solidFill>
                      <a:srgbClr val="181C24"/>
                    </a:solidFill>
                  </a:tcPr>
                </a:tc>
                <a:tc>
                  <a:txBody>
                    <a:bodyPr/>
                    <a:lstStyle/>
                    <a:p>
                      <a:pPr>
                        <a:defRPr sz="950">
                          <a:solidFill>
                            <a:srgbClr val="A5ACB9"/>
                          </a:solidFill>
                          <a:latin typeface="Calibri"/>
                        </a:defRPr>
                      </a:pPr>
                      <a:r>
                        <a:t>Title, Description, Stipend, Location</a:t>
                      </a:r>
                    </a:p>
                  </a:txBody>
                  <a:tcPr anchor="ctr">
                    <a:solidFill>
                      <a:srgbClr val="181C24"/>
                    </a:solidFill>
                  </a:tcPr>
                </a:tc>
                <a:extLst>
                  <a:ext uri="{0D108BD9-81ED-4DB2-BD59-A6C34878D82A}">
                    <a16:rowId xmlns:a16="http://schemas.microsoft.com/office/drawing/2014/main" val="10003"/>
                  </a:ext>
                </a:extLst>
              </a:tr>
              <a:tr h="627017">
                <a:tc>
                  <a:txBody>
                    <a:bodyPr/>
                    <a:lstStyle/>
                    <a:p>
                      <a:pPr>
                        <a:defRPr sz="950" b="1">
                          <a:solidFill>
                            <a:srgbClr val="FFFFFF"/>
                          </a:solidFill>
                          <a:latin typeface="Calibri"/>
                        </a:defRPr>
                      </a:pPr>
                      <a:r>
                        <a:t>Applications</a:t>
                      </a:r>
                    </a:p>
                  </a:txBody>
                  <a:tcPr anchor="ctr">
                    <a:solidFill>
                      <a:srgbClr val="13161C"/>
                    </a:solidFill>
                  </a:tcPr>
                </a:tc>
                <a:tc>
                  <a:txBody>
                    <a:bodyPr/>
                    <a:lstStyle/>
                    <a:p>
                      <a:pPr>
                        <a:defRPr sz="950">
                          <a:solidFill>
                            <a:srgbClr val="A5ACB9"/>
                          </a:solidFill>
                          <a:latin typeface="Calibri"/>
                        </a:defRPr>
                      </a:pPr>
                      <a:r>
                        <a:t>App_ID</a:t>
                      </a:r>
                    </a:p>
                  </a:txBody>
                  <a:tcPr anchor="ctr">
                    <a:solidFill>
                      <a:srgbClr val="13161C"/>
                    </a:solidFill>
                  </a:tcPr>
                </a:tc>
                <a:tc>
                  <a:txBody>
                    <a:bodyPr/>
                    <a:lstStyle/>
                    <a:p>
                      <a:pPr>
                        <a:defRPr sz="950">
                          <a:solidFill>
                            <a:srgbClr val="4ECCA3"/>
                          </a:solidFill>
                          <a:latin typeface="Calibri"/>
                        </a:defRPr>
                      </a:pPr>
                      <a:r>
                        <a:t>Student_ID → Students(Student_ID)</a:t>
                      </a:r>
                      <a:br/>
                      <a:r>
                        <a:t>Opp_ID → Opportunities(Opp_ID)</a:t>
                      </a:r>
                    </a:p>
                  </a:txBody>
                  <a:tcPr anchor="ctr">
                    <a:solidFill>
                      <a:srgbClr val="13161C"/>
                    </a:solidFill>
                  </a:tcPr>
                </a:tc>
                <a:tc>
                  <a:txBody>
                    <a:bodyPr/>
                    <a:lstStyle/>
                    <a:p>
                      <a:pPr>
                        <a:defRPr sz="950">
                          <a:solidFill>
                            <a:srgbClr val="A5ACB9"/>
                          </a:solidFill>
                          <a:latin typeface="Calibri"/>
                        </a:defRPr>
                      </a:pPr>
                      <a:r>
                        <a:t>Application_Date, Status</a:t>
                      </a:r>
                    </a:p>
                  </a:txBody>
                  <a:tcPr anchor="ctr">
                    <a:solidFill>
                      <a:srgbClr val="13161C"/>
                    </a:solidFill>
                  </a:tcPr>
                </a:tc>
                <a:extLst>
                  <a:ext uri="{0D108BD9-81ED-4DB2-BD59-A6C34878D82A}">
                    <a16:rowId xmlns:a16="http://schemas.microsoft.com/office/drawing/2014/main" val="10004"/>
                  </a:ext>
                </a:extLst>
              </a:tr>
              <a:tr h="627017">
                <a:tc>
                  <a:txBody>
                    <a:bodyPr/>
                    <a:lstStyle/>
                    <a:p>
                      <a:pPr>
                        <a:defRPr sz="950" b="1">
                          <a:solidFill>
                            <a:srgbClr val="FFFFFF"/>
                          </a:solidFill>
                          <a:latin typeface="Calibri"/>
                        </a:defRPr>
                      </a:pPr>
                      <a:r>
                        <a:t>Approvals</a:t>
                      </a:r>
                    </a:p>
                  </a:txBody>
                  <a:tcPr anchor="ctr">
                    <a:solidFill>
                      <a:srgbClr val="181C24"/>
                    </a:solidFill>
                  </a:tcPr>
                </a:tc>
                <a:tc>
                  <a:txBody>
                    <a:bodyPr/>
                    <a:lstStyle/>
                    <a:p>
                      <a:pPr>
                        <a:defRPr sz="950">
                          <a:solidFill>
                            <a:srgbClr val="A5ACB9"/>
                          </a:solidFill>
                          <a:latin typeface="Calibri"/>
                        </a:defRPr>
                      </a:pPr>
                      <a:r>
                        <a:t>Approval_ID</a:t>
                      </a:r>
                    </a:p>
                  </a:txBody>
                  <a:tcPr anchor="ctr">
                    <a:solidFill>
                      <a:srgbClr val="181C24"/>
                    </a:solidFill>
                  </a:tcPr>
                </a:tc>
                <a:tc>
                  <a:txBody>
                    <a:bodyPr/>
                    <a:lstStyle/>
                    <a:p>
                      <a:pPr>
                        <a:defRPr sz="950">
                          <a:solidFill>
                            <a:srgbClr val="4ECCA3"/>
                          </a:solidFill>
                          <a:latin typeface="Calibri"/>
                        </a:defRPr>
                      </a:pPr>
                      <a:r>
                        <a:t>App_ID → Applications(App_ID)</a:t>
                      </a:r>
                      <a:br/>
                      <a:r>
                        <a:t>Faculty_ID → Faculty_Mentors(Faculty_ID)</a:t>
                      </a:r>
                    </a:p>
                  </a:txBody>
                  <a:tcPr anchor="ctr">
                    <a:solidFill>
                      <a:srgbClr val="181C24"/>
                    </a:solidFill>
                  </a:tcPr>
                </a:tc>
                <a:tc>
                  <a:txBody>
                    <a:bodyPr/>
                    <a:lstStyle/>
                    <a:p>
                      <a:pPr>
                        <a:defRPr sz="950">
                          <a:solidFill>
                            <a:srgbClr val="A5ACB9"/>
                          </a:solidFill>
                          <a:latin typeface="Calibri"/>
                        </a:defRPr>
                      </a:pPr>
                      <a:r>
                        <a:t>Approval_Status, Approval_Date</a:t>
                      </a:r>
                    </a:p>
                  </a:txBody>
                  <a:tcPr anchor="ctr">
                    <a:solidFill>
                      <a:srgbClr val="181C24"/>
                    </a:solidFill>
                  </a:tcPr>
                </a:tc>
                <a:extLst>
                  <a:ext uri="{0D108BD9-81ED-4DB2-BD59-A6C34878D82A}">
                    <a16:rowId xmlns:a16="http://schemas.microsoft.com/office/drawing/2014/main" val="10005"/>
                  </a:ext>
                </a:extLst>
              </a:tr>
              <a:tr h="627018">
                <a:tc>
                  <a:txBody>
                    <a:bodyPr/>
                    <a:lstStyle/>
                    <a:p>
                      <a:pPr>
                        <a:defRPr sz="950" b="1">
                          <a:solidFill>
                            <a:srgbClr val="FFFFFF"/>
                          </a:solidFill>
                          <a:latin typeface="Calibri"/>
                        </a:defRPr>
                      </a:pPr>
                      <a:r>
                        <a:t>Faculty_Mentors</a:t>
                      </a:r>
                    </a:p>
                  </a:txBody>
                  <a:tcPr anchor="ctr">
                    <a:solidFill>
                      <a:srgbClr val="13161C"/>
                    </a:solidFill>
                  </a:tcPr>
                </a:tc>
                <a:tc>
                  <a:txBody>
                    <a:bodyPr/>
                    <a:lstStyle/>
                    <a:p>
                      <a:pPr>
                        <a:defRPr sz="950">
                          <a:solidFill>
                            <a:srgbClr val="A5ACB9"/>
                          </a:solidFill>
                          <a:latin typeface="Calibri"/>
                        </a:defRPr>
                      </a:pPr>
                      <a:r>
                        <a:t>Faculty_ID</a:t>
                      </a:r>
                    </a:p>
                  </a:txBody>
                  <a:tcPr anchor="ctr">
                    <a:solidFill>
                      <a:srgbClr val="13161C"/>
                    </a:solidFill>
                  </a:tcPr>
                </a:tc>
                <a:tc>
                  <a:txBody>
                    <a:bodyPr/>
                    <a:lstStyle/>
                    <a:p>
                      <a:pPr>
                        <a:defRPr sz="950">
                          <a:solidFill>
                            <a:srgbClr val="A5ACB9"/>
                          </a:solidFill>
                          <a:latin typeface="Calibri"/>
                        </a:defRPr>
                      </a:pPr>
                      <a:r>
                        <a:t>None</a:t>
                      </a:r>
                    </a:p>
                  </a:txBody>
                  <a:tcPr anchor="ctr">
                    <a:solidFill>
                      <a:srgbClr val="13161C"/>
                    </a:solidFill>
                  </a:tcPr>
                </a:tc>
                <a:tc>
                  <a:txBody>
                    <a:bodyPr/>
                    <a:lstStyle/>
                    <a:p>
                      <a:pPr>
                        <a:defRPr sz="950">
                          <a:solidFill>
                            <a:srgbClr val="A5ACB9"/>
                          </a:solidFill>
                          <a:latin typeface="Calibri"/>
                        </a:defRPr>
                      </a:pPr>
                      <a:r>
                        <a:t>Name, Department, Email</a:t>
                      </a:r>
                    </a:p>
                  </a:txBody>
                  <a:tcPr anchor="ctr">
                    <a:solidFill>
                      <a:srgbClr val="13161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1 • RELATIONAL SCHEMA</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Relational Schema: Execution &amp; Monitoring (Tables 7–12)</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Relational Schema</a:t>
            </a:r>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graphicFrame>
        <p:nvGraphicFramePr>
          <p:cNvPr id="9" name="Table 8"/>
          <p:cNvGraphicFramePr>
            <a:graphicFrameLocks noGrp="1"/>
          </p:cNvGraphicFramePr>
          <p:nvPr/>
        </p:nvGraphicFramePr>
        <p:xfrm>
          <a:off x="731520" y="1645920"/>
          <a:ext cx="10728654" cy="43891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gridCol w="3139135">
                  <a:extLst>
                    <a:ext uri="{9D8B030D-6E8A-4147-A177-3AD203B41FA5}">
                      <a16:colId xmlns:a16="http://schemas.microsoft.com/office/drawing/2014/main" val="20003"/>
                    </a:ext>
                  </a:extLst>
                </a:gridCol>
              </a:tblGrid>
              <a:tr h="627017">
                <a:tc>
                  <a:txBody>
                    <a:bodyPr/>
                    <a:lstStyle/>
                    <a:p>
                      <a:pPr>
                        <a:defRPr sz="1000" b="1">
                          <a:solidFill>
                            <a:srgbClr val="E5A93C"/>
                          </a:solidFill>
                          <a:latin typeface="Calibri"/>
                        </a:defRPr>
                      </a:pPr>
                      <a:r>
                        <a:t>Table Name</a:t>
                      </a:r>
                    </a:p>
                  </a:txBody>
                  <a:tcPr marT="54864" marB="54864" anchor="ctr">
                    <a:solidFill>
                      <a:srgbClr val="222834"/>
                    </a:solidFill>
                  </a:tcPr>
                </a:tc>
                <a:tc>
                  <a:txBody>
                    <a:bodyPr/>
                    <a:lstStyle/>
                    <a:p>
                      <a:pPr>
                        <a:defRPr sz="1000" b="1">
                          <a:solidFill>
                            <a:srgbClr val="E5A93C"/>
                          </a:solidFill>
                          <a:latin typeface="Calibri"/>
                        </a:defRPr>
                      </a:pPr>
                      <a:r>
                        <a:t>Primary Key (PK)</a:t>
                      </a:r>
                    </a:p>
                  </a:txBody>
                  <a:tcPr marT="54864" marB="54864" anchor="ctr">
                    <a:solidFill>
                      <a:srgbClr val="222834"/>
                    </a:solidFill>
                  </a:tcPr>
                </a:tc>
                <a:tc>
                  <a:txBody>
                    <a:bodyPr/>
                    <a:lstStyle/>
                    <a:p>
                      <a:pPr>
                        <a:defRPr sz="1000" b="1">
                          <a:solidFill>
                            <a:srgbClr val="E5A93C"/>
                          </a:solidFill>
                          <a:latin typeface="Calibri"/>
                        </a:defRPr>
                      </a:pPr>
                      <a:r>
                        <a:t>Foreign Keys (FK) &amp; References</a:t>
                      </a:r>
                    </a:p>
                  </a:txBody>
                  <a:tcPr marT="54864" marB="54864" anchor="ctr">
                    <a:solidFill>
                      <a:srgbClr val="222834"/>
                    </a:solidFill>
                  </a:tcPr>
                </a:tc>
                <a:tc>
                  <a:txBody>
                    <a:bodyPr/>
                    <a:lstStyle/>
                    <a:p>
                      <a:pPr>
                        <a:defRPr sz="1000" b="1">
                          <a:solidFill>
                            <a:srgbClr val="E5A93C"/>
                          </a:solidFill>
                          <a:latin typeface="Calibri"/>
                        </a:defRPr>
                      </a:pPr>
                      <a:r>
                        <a:t>Core Attributes</a:t>
                      </a:r>
                    </a:p>
                  </a:txBody>
                  <a:tcPr marT="54864" marB="54864" anchor="ctr">
                    <a:solidFill>
                      <a:srgbClr val="222834"/>
                    </a:solidFill>
                  </a:tcPr>
                </a:tc>
                <a:extLst>
                  <a:ext uri="{0D108BD9-81ED-4DB2-BD59-A6C34878D82A}">
                    <a16:rowId xmlns:a16="http://schemas.microsoft.com/office/drawing/2014/main" val="10000"/>
                  </a:ext>
                </a:extLst>
              </a:tr>
              <a:tr h="627017">
                <a:tc>
                  <a:txBody>
                    <a:bodyPr/>
                    <a:lstStyle/>
                    <a:p>
                      <a:pPr>
                        <a:defRPr sz="950" b="1">
                          <a:solidFill>
                            <a:srgbClr val="FFFFFF"/>
                          </a:solidFill>
                          <a:latin typeface="Calibri"/>
                        </a:defRPr>
                      </a:pPr>
                      <a:r>
                        <a:t>Company_Supervisors</a:t>
                      </a:r>
                    </a:p>
                  </a:txBody>
                  <a:tcPr anchor="ctr">
                    <a:solidFill>
                      <a:srgbClr val="181C24"/>
                    </a:solidFill>
                  </a:tcPr>
                </a:tc>
                <a:tc>
                  <a:txBody>
                    <a:bodyPr/>
                    <a:lstStyle/>
                    <a:p>
                      <a:pPr>
                        <a:defRPr sz="950">
                          <a:solidFill>
                            <a:srgbClr val="A5ACB9"/>
                          </a:solidFill>
                          <a:latin typeface="Calibri"/>
                        </a:defRPr>
                      </a:pPr>
                      <a:r>
                        <a:t>Supervisor_ID</a:t>
                      </a:r>
                    </a:p>
                  </a:txBody>
                  <a:tcPr anchor="ctr">
                    <a:solidFill>
                      <a:srgbClr val="181C24"/>
                    </a:solidFill>
                  </a:tcPr>
                </a:tc>
                <a:tc>
                  <a:txBody>
                    <a:bodyPr/>
                    <a:lstStyle/>
                    <a:p>
                      <a:pPr>
                        <a:defRPr sz="950">
                          <a:solidFill>
                            <a:srgbClr val="4ECCA3"/>
                          </a:solidFill>
                          <a:latin typeface="Calibri"/>
                        </a:defRPr>
                      </a:pPr>
                      <a:r>
                        <a:t>Org_ID → Organizations(Org_ID)</a:t>
                      </a:r>
                    </a:p>
                  </a:txBody>
                  <a:tcPr anchor="ctr">
                    <a:solidFill>
                      <a:srgbClr val="181C24"/>
                    </a:solidFill>
                  </a:tcPr>
                </a:tc>
                <a:tc>
                  <a:txBody>
                    <a:bodyPr/>
                    <a:lstStyle/>
                    <a:p>
                      <a:pPr>
                        <a:defRPr sz="950">
                          <a:solidFill>
                            <a:srgbClr val="A5ACB9"/>
                          </a:solidFill>
                          <a:latin typeface="Calibri"/>
                        </a:defRPr>
                      </a:pPr>
                      <a:r>
                        <a:t>Name, Email, Phone</a:t>
                      </a:r>
                    </a:p>
                  </a:txBody>
                  <a:tcPr anchor="ctr">
                    <a:solidFill>
                      <a:srgbClr val="181C24"/>
                    </a:solidFill>
                  </a:tcPr>
                </a:tc>
                <a:extLst>
                  <a:ext uri="{0D108BD9-81ED-4DB2-BD59-A6C34878D82A}">
                    <a16:rowId xmlns:a16="http://schemas.microsoft.com/office/drawing/2014/main" val="10001"/>
                  </a:ext>
                </a:extLst>
              </a:tr>
              <a:tr h="627017">
                <a:tc>
                  <a:txBody>
                    <a:bodyPr/>
                    <a:lstStyle/>
                    <a:p>
                      <a:pPr>
                        <a:defRPr sz="950" b="1">
                          <a:solidFill>
                            <a:srgbClr val="FFFFFF"/>
                          </a:solidFill>
                          <a:latin typeface="Calibri"/>
                        </a:defRPr>
                      </a:pPr>
                      <a:r>
                        <a:t>Assignments</a:t>
                      </a:r>
                    </a:p>
                  </a:txBody>
                  <a:tcPr anchor="ctr">
                    <a:solidFill>
                      <a:srgbClr val="13161C"/>
                    </a:solidFill>
                  </a:tcPr>
                </a:tc>
                <a:tc>
                  <a:txBody>
                    <a:bodyPr/>
                    <a:lstStyle/>
                    <a:p>
                      <a:pPr>
                        <a:defRPr sz="950">
                          <a:solidFill>
                            <a:srgbClr val="A5ACB9"/>
                          </a:solidFill>
                          <a:latin typeface="Calibri"/>
                        </a:defRPr>
                      </a:pPr>
                      <a:r>
                        <a:t>Assignment_ID</a:t>
                      </a:r>
                    </a:p>
                  </a:txBody>
                  <a:tcPr anchor="ctr">
                    <a:solidFill>
                      <a:srgbClr val="13161C"/>
                    </a:solidFill>
                  </a:tcPr>
                </a:tc>
                <a:tc>
                  <a:txBody>
                    <a:bodyPr/>
                    <a:lstStyle/>
                    <a:p>
                      <a:pPr>
                        <a:defRPr sz="950">
                          <a:solidFill>
                            <a:srgbClr val="4ECCA3"/>
                          </a:solidFill>
                          <a:latin typeface="Calibri"/>
                        </a:defRPr>
                      </a:pPr>
                      <a:r>
                        <a:t>Approval_ID → Approvals(Approval_ID)</a:t>
                      </a:r>
                      <a:br/>
                      <a:r>
                        <a:t>Faculty_ID → Faculty_Mentors(Faculty_ID)</a:t>
                      </a:r>
                      <a:br/>
                      <a:r>
                        <a:t>Supervisor_ID → Company_Supervisors(Supervisor_ID)</a:t>
                      </a:r>
                    </a:p>
                  </a:txBody>
                  <a:tcPr anchor="ctr">
                    <a:solidFill>
                      <a:srgbClr val="13161C"/>
                    </a:solidFill>
                  </a:tcPr>
                </a:tc>
                <a:tc>
                  <a:txBody>
                    <a:bodyPr/>
                    <a:lstStyle/>
                    <a:p>
                      <a:pPr>
                        <a:defRPr sz="950">
                          <a:solidFill>
                            <a:srgbClr val="A5ACB9"/>
                          </a:solidFill>
                          <a:latin typeface="Calibri"/>
                        </a:defRPr>
                      </a:pPr>
                      <a:r>
                        <a:t>Start_Date, End_Date</a:t>
                      </a:r>
                    </a:p>
                  </a:txBody>
                  <a:tcPr anchor="ctr">
                    <a:solidFill>
                      <a:srgbClr val="13161C"/>
                    </a:solidFill>
                  </a:tcPr>
                </a:tc>
                <a:extLst>
                  <a:ext uri="{0D108BD9-81ED-4DB2-BD59-A6C34878D82A}">
                    <a16:rowId xmlns:a16="http://schemas.microsoft.com/office/drawing/2014/main" val="10002"/>
                  </a:ext>
                </a:extLst>
              </a:tr>
              <a:tr h="627017">
                <a:tc>
                  <a:txBody>
                    <a:bodyPr/>
                    <a:lstStyle/>
                    <a:p>
                      <a:pPr>
                        <a:defRPr sz="950" b="1">
                          <a:solidFill>
                            <a:srgbClr val="FFFFFF"/>
                          </a:solidFill>
                          <a:latin typeface="Calibri"/>
                        </a:defRPr>
                      </a:pPr>
                      <a:r>
                        <a:t>Weekly_Logs</a:t>
                      </a:r>
                    </a:p>
                  </a:txBody>
                  <a:tcPr anchor="ctr">
                    <a:solidFill>
                      <a:srgbClr val="181C24"/>
                    </a:solidFill>
                  </a:tcPr>
                </a:tc>
                <a:tc>
                  <a:txBody>
                    <a:bodyPr/>
                    <a:lstStyle/>
                    <a:p>
                      <a:pPr>
                        <a:defRPr sz="950">
                          <a:solidFill>
                            <a:srgbClr val="A5ACB9"/>
                          </a:solidFill>
                          <a:latin typeface="Calibri"/>
                        </a:defRPr>
                      </a:pPr>
                      <a:r>
                        <a:t>Log_ID</a:t>
                      </a:r>
                    </a:p>
                  </a:txBody>
                  <a:tcPr anchor="ctr">
                    <a:solidFill>
                      <a:srgbClr val="181C24"/>
                    </a:solidFill>
                  </a:tcPr>
                </a:tc>
                <a:tc>
                  <a:txBody>
                    <a:bodyPr/>
                    <a:lstStyle/>
                    <a:p>
                      <a:pPr>
                        <a:defRPr sz="950">
                          <a:solidFill>
                            <a:srgbClr val="4ECCA3"/>
                          </a:solidFill>
                          <a:latin typeface="Calibri"/>
                        </a:defRPr>
                      </a:pPr>
                      <a:r>
                        <a:t>Assignment_ID → Assignments(Assignment_ID)</a:t>
                      </a:r>
                    </a:p>
                  </a:txBody>
                  <a:tcPr anchor="ctr">
                    <a:solidFill>
                      <a:srgbClr val="181C24"/>
                    </a:solidFill>
                  </a:tcPr>
                </a:tc>
                <a:tc>
                  <a:txBody>
                    <a:bodyPr/>
                    <a:lstStyle/>
                    <a:p>
                      <a:pPr>
                        <a:defRPr sz="950">
                          <a:solidFill>
                            <a:srgbClr val="A5ACB9"/>
                          </a:solidFill>
                          <a:latin typeface="Calibri"/>
                        </a:defRPr>
                      </a:pPr>
                      <a:r>
                        <a:t>Week_Number, Report_Text, Submission_Date</a:t>
                      </a:r>
                    </a:p>
                  </a:txBody>
                  <a:tcPr anchor="ctr">
                    <a:solidFill>
                      <a:srgbClr val="181C24"/>
                    </a:solidFill>
                  </a:tcPr>
                </a:tc>
                <a:extLst>
                  <a:ext uri="{0D108BD9-81ED-4DB2-BD59-A6C34878D82A}">
                    <a16:rowId xmlns:a16="http://schemas.microsoft.com/office/drawing/2014/main" val="10003"/>
                  </a:ext>
                </a:extLst>
              </a:tr>
              <a:tr h="627017">
                <a:tc>
                  <a:txBody>
                    <a:bodyPr/>
                    <a:lstStyle/>
                    <a:p>
                      <a:pPr>
                        <a:defRPr sz="950" b="1">
                          <a:solidFill>
                            <a:srgbClr val="FFFFFF"/>
                          </a:solidFill>
                          <a:latin typeface="Calibri"/>
                        </a:defRPr>
                      </a:pPr>
                      <a:r>
                        <a:t>Evaluations</a:t>
                      </a:r>
                    </a:p>
                  </a:txBody>
                  <a:tcPr anchor="ctr">
                    <a:solidFill>
                      <a:srgbClr val="13161C"/>
                    </a:solidFill>
                  </a:tcPr>
                </a:tc>
                <a:tc>
                  <a:txBody>
                    <a:bodyPr/>
                    <a:lstStyle/>
                    <a:p>
                      <a:pPr>
                        <a:defRPr sz="950">
                          <a:solidFill>
                            <a:srgbClr val="A5ACB9"/>
                          </a:solidFill>
                          <a:latin typeface="Calibri"/>
                        </a:defRPr>
                      </a:pPr>
                      <a:r>
                        <a:t>Evaluation_ID</a:t>
                      </a:r>
                    </a:p>
                  </a:txBody>
                  <a:tcPr anchor="ctr">
                    <a:solidFill>
                      <a:srgbClr val="13161C"/>
                    </a:solidFill>
                  </a:tcPr>
                </a:tc>
                <a:tc>
                  <a:txBody>
                    <a:bodyPr/>
                    <a:lstStyle/>
                    <a:p>
                      <a:pPr>
                        <a:defRPr sz="950">
                          <a:solidFill>
                            <a:srgbClr val="4ECCA3"/>
                          </a:solidFill>
                          <a:latin typeface="Calibri"/>
                        </a:defRPr>
                      </a:pPr>
                      <a:r>
                        <a:t>Assignment_ID → Assignments(Assignment_ID)</a:t>
                      </a:r>
                    </a:p>
                  </a:txBody>
                  <a:tcPr anchor="ctr">
                    <a:solidFill>
                      <a:srgbClr val="13161C"/>
                    </a:solidFill>
                  </a:tcPr>
                </a:tc>
                <a:tc>
                  <a:txBody>
                    <a:bodyPr/>
                    <a:lstStyle/>
                    <a:p>
                      <a:pPr>
                        <a:defRPr sz="950">
                          <a:solidFill>
                            <a:srgbClr val="A5ACB9"/>
                          </a:solidFill>
                          <a:latin typeface="Calibri"/>
                        </a:defRPr>
                      </a:pPr>
                      <a:r>
                        <a:t>Score, Feedback_Text, Evaluation_Date</a:t>
                      </a:r>
                    </a:p>
                  </a:txBody>
                  <a:tcPr anchor="ctr">
                    <a:solidFill>
                      <a:srgbClr val="13161C"/>
                    </a:solidFill>
                  </a:tcPr>
                </a:tc>
                <a:extLst>
                  <a:ext uri="{0D108BD9-81ED-4DB2-BD59-A6C34878D82A}">
                    <a16:rowId xmlns:a16="http://schemas.microsoft.com/office/drawing/2014/main" val="10004"/>
                  </a:ext>
                </a:extLst>
              </a:tr>
              <a:tr h="627017">
                <a:tc>
                  <a:txBody>
                    <a:bodyPr/>
                    <a:lstStyle/>
                    <a:p>
                      <a:pPr>
                        <a:defRPr sz="950" b="1">
                          <a:solidFill>
                            <a:srgbClr val="FFFFFF"/>
                          </a:solidFill>
                          <a:latin typeface="Calibri"/>
                        </a:defRPr>
                      </a:pPr>
                      <a:r>
                        <a:t>Certificates</a:t>
                      </a:r>
                    </a:p>
                  </a:txBody>
                  <a:tcPr anchor="ctr">
                    <a:solidFill>
                      <a:srgbClr val="181C24"/>
                    </a:solidFill>
                  </a:tcPr>
                </a:tc>
                <a:tc>
                  <a:txBody>
                    <a:bodyPr/>
                    <a:lstStyle/>
                    <a:p>
                      <a:pPr>
                        <a:defRPr sz="950">
                          <a:solidFill>
                            <a:srgbClr val="A5ACB9"/>
                          </a:solidFill>
                          <a:latin typeface="Calibri"/>
                        </a:defRPr>
                      </a:pPr>
                      <a:r>
                        <a:t>Cert_ID</a:t>
                      </a:r>
                    </a:p>
                  </a:txBody>
                  <a:tcPr anchor="ctr">
                    <a:solidFill>
                      <a:srgbClr val="181C24"/>
                    </a:solidFill>
                  </a:tcPr>
                </a:tc>
                <a:tc>
                  <a:txBody>
                    <a:bodyPr/>
                    <a:lstStyle/>
                    <a:p>
                      <a:pPr>
                        <a:defRPr sz="950">
                          <a:solidFill>
                            <a:srgbClr val="4ECCA3"/>
                          </a:solidFill>
                          <a:latin typeface="Calibri"/>
                        </a:defRPr>
                      </a:pPr>
                      <a:r>
                        <a:t>Assignment_ID → Assignments(Assignment_ID)</a:t>
                      </a:r>
                    </a:p>
                  </a:txBody>
                  <a:tcPr anchor="ctr">
                    <a:solidFill>
                      <a:srgbClr val="181C24"/>
                    </a:solidFill>
                  </a:tcPr>
                </a:tc>
                <a:tc>
                  <a:txBody>
                    <a:bodyPr/>
                    <a:lstStyle/>
                    <a:p>
                      <a:pPr>
                        <a:defRPr sz="950">
                          <a:solidFill>
                            <a:srgbClr val="A5ACB9"/>
                          </a:solidFill>
                          <a:latin typeface="Calibri"/>
                        </a:defRPr>
                      </a:pPr>
                      <a:r>
                        <a:t>Issue_Date, Verification_Code</a:t>
                      </a:r>
                    </a:p>
                  </a:txBody>
                  <a:tcPr anchor="ctr">
                    <a:solidFill>
                      <a:srgbClr val="181C24"/>
                    </a:solidFill>
                  </a:tcPr>
                </a:tc>
                <a:extLst>
                  <a:ext uri="{0D108BD9-81ED-4DB2-BD59-A6C34878D82A}">
                    <a16:rowId xmlns:a16="http://schemas.microsoft.com/office/drawing/2014/main" val="10005"/>
                  </a:ext>
                </a:extLst>
              </a:tr>
              <a:tr h="627018">
                <a:tc>
                  <a:txBody>
                    <a:bodyPr/>
                    <a:lstStyle/>
                    <a:p>
                      <a:pPr>
                        <a:defRPr sz="950" b="1">
                          <a:solidFill>
                            <a:srgbClr val="FFFFFF"/>
                          </a:solidFill>
                          <a:latin typeface="Calibri"/>
                        </a:defRPr>
                      </a:pPr>
                      <a:r>
                        <a:t>Feedback</a:t>
                      </a:r>
                    </a:p>
                  </a:txBody>
                  <a:tcPr anchor="ctr">
                    <a:solidFill>
                      <a:srgbClr val="13161C"/>
                    </a:solidFill>
                  </a:tcPr>
                </a:tc>
                <a:tc>
                  <a:txBody>
                    <a:bodyPr/>
                    <a:lstStyle/>
                    <a:p>
                      <a:pPr>
                        <a:defRPr sz="950">
                          <a:solidFill>
                            <a:srgbClr val="A5ACB9"/>
                          </a:solidFill>
                          <a:latin typeface="Calibri"/>
                        </a:defRPr>
                      </a:pPr>
                      <a:r>
                        <a:t>Feedback_ID</a:t>
                      </a:r>
                    </a:p>
                  </a:txBody>
                  <a:tcPr anchor="ctr">
                    <a:solidFill>
                      <a:srgbClr val="13161C"/>
                    </a:solidFill>
                  </a:tcPr>
                </a:tc>
                <a:tc>
                  <a:txBody>
                    <a:bodyPr/>
                    <a:lstStyle/>
                    <a:p>
                      <a:pPr>
                        <a:defRPr sz="950">
                          <a:solidFill>
                            <a:srgbClr val="4ECCA3"/>
                          </a:solidFill>
                          <a:latin typeface="Calibri"/>
                        </a:defRPr>
                      </a:pPr>
                      <a:r>
                        <a:t>Assignment_ID → Assignments(Assignment_ID)</a:t>
                      </a:r>
                    </a:p>
                  </a:txBody>
                  <a:tcPr anchor="ctr">
                    <a:solidFill>
                      <a:srgbClr val="13161C"/>
                    </a:solidFill>
                  </a:tcPr>
                </a:tc>
                <a:tc>
                  <a:txBody>
                    <a:bodyPr/>
                    <a:lstStyle/>
                    <a:p>
                      <a:pPr>
                        <a:defRPr sz="950">
                          <a:solidFill>
                            <a:srgbClr val="A5ACB9"/>
                          </a:solidFill>
                          <a:latin typeface="Calibri"/>
                        </a:defRPr>
                      </a:pPr>
                      <a:r>
                        <a:t>Given_By, Comments</a:t>
                      </a:r>
                    </a:p>
                  </a:txBody>
                  <a:tcPr anchor="ctr">
                    <a:solidFill>
                      <a:srgbClr val="13161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2 • NORMALIZATION ANALYSIS</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Normalization: First &amp; Second Normal Form (1NF &amp; 2NF)</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Normalization</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9" name="Rounded Rectangle 8"/>
          <p:cNvSpPr/>
          <p:nvPr/>
        </p:nvSpPr>
        <p:spPr>
          <a:xfrm>
            <a:off x="731520" y="1645920"/>
            <a:ext cx="5166360"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flipV="1">
            <a:off x="731520" y="1512740"/>
            <a:ext cx="5140960" cy="45719"/>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7534" y="2523744"/>
            <a:ext cx="4800600" cy="1974900"/>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First Normal Form (1NF) Verification</a:t>
            </a:r>
          </a:p>
          <a:p>
            <a:pPr>
              <a:spcAft>
                <a:spcPts val="400"/>
              </a:spcAft>
            </a:pPr>
            <a:r>
              <a:rPr sz="1100" b="1" dirty="0">
                <a:solidFill>
                  <a:srgbClr val="FFFFFF"/>
                </a:solidFill>
                <a:latin typeface="Calibri"/>
              </a:rPr>
              <a:t>• Theoretical Rule: </a:t>
            </a:r>
            <a:r>
              <a:rPr sz="1100" dirty="0">
                <a:solidFill>
                  <a:srgbClr val="A5ACB9"/>
                </a:solidFill>
                <a:latin typeface="Calibri"/>
              </a:rPr>
              <a:t>Each column contains atomic (indivisible) values; no repeating groups or multivalued arrays.</a:t>
            </a:r>
          </a:p>
          <a:p>
            <a:pPr>
              <a:spcAft>
                <a:spcPts val="400"/>
              </a:spcAft>
            </a:pPr>
            <a:r>
              <a:rPr sz="1100" b="1" dirty="0">
                <a:solidFill>
                  <a:srgbClr val="FFFFFF"/>
                </a:solidFill>
                <a:latin typeface="Calibri"/>
              </a:rPr>
              <a:t>• Verification across Schema: </a:t>
            </a:r>
            <a:r>
              <a:rPr sz="1100" dirty="0">
                <a:solidFill>
                  <a:srgbClr val="A5ACB9"/>
                </a:solidFill>
                <a:latin typeface="Calibri"/>
              </a:rPr>
              <a:t>All attributes (Name, Phone, Dates, Stipend, Status) store strictly scalar atomic values.</a:t>
            </a:r>
          </a:p>
          <a:p>
            <a:pPr>
              <a:spcAft>
                <a:spcPts val="400"/>
              </a:spcAft>
            </a:pPr>
            <a:r>
              <a:rPr sz="1100" b="1" dirty="0">
                <a:solidFill>
                  <a:srgbClr val="FFFFFF"/>
                </a:solidFill>
                <a:latin typeface="Calibri"/>
              </a:rPr>
              <a:t>• No Multivalued Arrays: </a:t>
            </a:r>
            <a:r>
              <a:rPr sz="1100" dirty="0">
                <a:solidFill>
                  <a:srgbClr val="A5ACB9"/>
                </a:solidFill>
                <a:latin typeface="Calibri"/>
              </a:rPr>
              <a:t>Students cannot store multiple phone numbers in a single column; distinct rows or relations are enforced.</a:t>
            </a:r>
          </a:p>
          <a:p>
            <a:pPr>
              <a:spcAft>
                <a:spcPts val="400"/>
              </a:spcAft>
            </a:pPr>
            <a:r>
              <a:rPr sz="1100" b="1" dirty="0">
                <a:solidFill>
                  <a:srgbClr val="FFFFFF"/>
                </a:solidFill>
                <a:latin typeface="Calibri"/>
              </a:rPr>
              <a:t>• Explicit Primary Keys: </a:t>
            </a:r>
            <a:r>
              <a:rPr sz="1100" dirty="0">
                <a:solidFill>
                  <a:srgbClr val="A5ACB9"/>
                </a:solidFill>
                <a:latin typeface="Calibri"/>
              </a:rPr>
              <a:t>Every entity is defined with an explicit primary key ensuring row uniqueness.</a:t>
            </a:r>
          </a:p>
          <a:p>
            <a:pPr>
              <a:spcAft>
                <a:spcPts val="400"/>
              </a:spcAft>
            </a:pPr>
            <a:r>
              <a:rPr sz="1100" b="1" dirty="0">
                <a:solidFill>
                  <a:srgbClr val="FFFFFF"/>
                </a:solidFill>
                <a:latin typeface="Calibri"/>
              </a:rPr>
              <a:t>• Conclusion: </a:t>
            </a:r>
            <a:r>
              <a:rPr sz="1100" dirty="0">
                <a:solidFill>
                  <a:srgbClr val="A5ACB9"/>
                </a:solidFill>
                <a:latin typeface="Calibri"/>
              </a:rPr>
              <a:t>All 12 tables satisfy 1NF criteria unconditionally.</a:t>
            </a:r>
          </a:p>
        </p:txBody>
      </p:sp>
      <p:sp>
        <p:nvSpPr>
          <p:cNvPr id="12" name="Rounded Rectangle 11"/>
          <p:cNvSpPr/>
          <p:nvPr/>
        </p:nvSpPr>
        <p:spPr>
          <a:xfrm>
            <a:off x="6291072" y="1645920"/>
            <a:ext cx="5166360"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03772" y="1516549"/>
            <a:ext cx="5140960"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83604" y="2523744"/>
            <a:ext cx="4800600" cy="1974900"/>
          </a:xfrm>
          <a:prstGeom prst="rect">
            <a:avLst/>
          </a:prstGeom>
          <a:noFill/>
        </p:spPr>
        <p:txBody>
          <a:bodyPr wrap="square" lIns="0" tIns="0" rIns="0" bIns="0">
            <a:spAutoFit/>
          </a:bodyPr>
          <a:lstStyle/>
          <a:p>
            <a:pPr>
              <a:spcAft>
                <a:spcPts val="600"/>
              </a:spcAft>
              <a:defRPr sz="1300" b="1">
                <a:solidFill>
                  <a:srgbClr val="FFD778"/>
                </a:solidFill>
                <a:latin typeface="Georgia"/>
              </a:defRPr>
            </a:pPr>
            <a:r>
              <a:rPr lang="en-US" sz="1100" dirty="0"/>
              <a:t>Second Normal Form (2NF) Verification</a:t>
            </a:r>
          </a:p>
          <a:p>
            <a:pPr>
              <a:spcAft>
                <a:spcPts val="400"/>
              </a:spcAft>
            </a:pPr>
            <a:r>
              <a:rPr lang="en-US" sz="1100" b="1" dirty="0">
                <a:solidFill>
                  <a:srgbClr val="FFFFFF"/>
                </a:solidFill>
                <a:latin typeface="Calibri"/>
              </a:rPr>
              <a:t>• Theoretical Rule: </a:t>
            </a:r>
            <a:r>
              <a:rPr lang="en-US" sz="1100" dirty="0">
                <a:solidFill>
                  <a:srgbClr val="A5ACB9"/>
                </a:solidFill>
                <a:latin typeface="Calibri"/>
              </a:rPr>
              <a:t>The relation is in 1NF and no non-prime attribute is partially dependent on any proper subset of a candidate key.</a:t>
            </a:r>
          </a:p>
          <a:p>
            <a:pPr>
              <a:spcAft>
                <a:spcPts val="400"/>
              </a:spcAft>
            </a:pPr>
            <a:r>
              <a:rPr lang="en-US" sz="1100" b="1" dirty="0">
                <a:solidFill>
                  <a:srgbClr val="FFFFFF"/>
                </a:solidFill>
                <a:latin typeface="Calibri"/>
              </a:rPr>
              <a:t>• Condition for Partial Dependency: </a:t>
            </a:r>
            <a:r>
              <a:rPr lang="en-US" sz="1100" dirty="0">
                <a:solidFill>
                  <a:srgbClr val="A5ACB9"/>
                </a:solidFill>
                <a:latin typeface="Calibri"/>
              </a:rPr>
              <a:t>Can only occur when a candidate key is composite (consisting of two or more attributes).</a:t>
            </a:r>
          </a:p>
          <a:p>
            <a:pPr>
              <a:spcAft>
                <a:spcPts val="400"/>
              </a:spcAft>
            </a:pPr>
            <a:r>
              <a:rPr lang="en-US" sz="1100" b="1" dirty="0">
                <a:solidFill>
                  <a:srgbClr val="FFFFFF"/>
                </a:solidFill>
                <a:latin typeface="Calibri"/>
              </a:rPr>
              <a:t>• Schema Candidate Key Structure: </a:t>
            </a:r>
            <a:r>
              <a:rPr lang="en-US" sz="1100" dirty="0">
                <a:solidFill>
                  <a:srgbClr val="A5ACB9"/>
                </a:solidFill>
                <a:latin typeface="Calibri"/>
              </a:rPr>
              <a:t>In our design, all primary keys are single attributes (e.g., Student_ID, </a:t>
            </a:r>
            <a:r>
              <a:rPr lang="en-US" sz="1100" dirty="0" err="1">
                <a:solidFill>
                  <a:srgbClr val="A5ACB9"/>
                </a:solidFill>
                <a:latin typeface="Calibri"/>
              </a:rPr>
              <a:t>App_ID</a:t>
            </a:r>
            <a:r>
              <a:rPr lang="en-US" sz="1100" dirty="0">
                <a:solidFill>
                  <a:srgbClr val="A5ACB9"/>
                </a:solidFill>
                <a:latin typeface="Calibri"/>
              </a:rPr>
              <a:t>, </a:t>
            </a:r>
            <a:r>
              <a:rPr lang="en-US" sz="1100" dirty="0" err="1">
                <a:solidFill>
                  <a:srgbClr val="A5ACB9"/>
                </a:solidFill>
                <a:latin typeface="Calibri"/>
              </a:rPr>
              <a:t>Assignment_ID</a:t>
            </a:r>
            <a:r>
              <a:rPr lang="en-US" sz="1100" dirty="0">
                <a:solidFill>
                  <a:srgbClr val="A5ACB9"/>
                </a:solidFill>
                <a:latin typeface="Calibri"/>
              </a:rPr>
              <a:t>).</a:t>
            </a:r>
          </a:p>
          <a:p>
            <a:pPr>
              <a:spcAft>
                <a:spcPts val="400"/>
              </a:spcAft>
            </a:pPr>
            <a:r>
              <a:rPr lang="en-US" sz="1100" b="1" dirty="0">
                <a:solidFill>
                  <a:srgbClr val="FFFFFF"/>
                </a:solidFill>
                <a:latin typeface="Calibri"/>
              </a:rPr>
              <a:t>• Absence of Partial Dependencies: </a:t>
            </a:r>
            <a:r>
              <a:rPr lang="en-US" sz="1100" dirty="0">
                <a:solidFill>
                  <a:srgbClr val="A5ACB9"/>
                </a:solidFill>
                <a:latin typeface="Calibri"/>
              </a:rPr>
              <a:t>Since no primary key is composite, partial functional dependency is mathematically impossible.</a:t>
            </a:r>
          </a:p>
          <a:p>
            <a:pPr>
              <a:spcAft>
                <a:spcPts val="400"/>
              </a:spcAft>
            </a:pPr>
            <a:r>
              <a:rPr lang="en-US" sz="1100" b="1" dirty="0">
                <a:solidFill>
                  <a:srgbClr val="FFFFFF"/>
                </a:solidFill>
                <a:latin typeface="Calibri"/>
              </a:rPr>
              <a:t>• Conclusion: </a:t>
            </a:r>
            <a:r>
              <a:rPr lang="en-US" sz="1100" dirty="0">
                <a:solidFill>
                  <a:srgbClr val="A5ACB9"/>
                </a:solidFill>
                <a:latin typeface="Calibri"/>
              </a:rPr>
              <a:t>All 12 tables satisfy 2NF criteria unconditionally.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2 • NORMALIZATION ANALYSIS</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Normalization: Third Normal Form (3NF) &amp; BCNF Justification</a:t>
            </a:r>
          </a:p>
        </p:txBody>
      </p:sp>
      <p:sp>
        <p:nvSpPr>
          <p:cNvPr id="5" name="Rounded Rectangle 4"/>
          <p:cNvSpPr/>
          <p:nvPr/>
        </p:nvSpPr>
        <p:spPr>
          <a:xfrm>
            <a:off x="8961120" y="493776"/>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Normalization</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9" name="Rounded Rectangle 8"/>
          <p:cNvSpPr/>
          <p:nvPr/>
        </p:nvSpPr>
        <p:spPr>
          <a:xfrm>
            <a:off x="731520" y="1645920"/>
            <a:ext cx="5166360"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520698"/>
            <a:ext cx="5140960"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84580" y="2386584"/>
            <a:ext cx="4800600" cy="2144177"/>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Third Normal Form (3NF) Justification</a:t>
            </a:r>
          </a:p>
          <a:p>
            <a:pPr>
              <a:spcAft>
                <a:spcPts val="400"/>
              </a:spcAft>
            </a:pPr>
            <a:r>
              <a:rPr sz="1100" b="1" dirty="0">
                <a:solidFill>
                  <a:srgbClr val="FFFFFF"/>
                </a:solidFill>
                <a:latin typeface="Calibri"/>
              </a:rPr>
              <a:t>• Theoretical Rule: </a:t>
            </a:r>
            <a:r>
              <a:rPr sz="1100" dirty="0">
                <a:solidFill>
                  <a:srgbClr val="A5ACB9"/>
                </a:solidFill>
                <a:latin typeface="Calibri"/>
              </a:rPr>
              <a:t>Relation is in 2NF, and for every non-trivial FD X → Y, either X is a </a:t>
            </a:r>
            <a:r>
              <a:rPr sz="1100" dirty="0" err="1">
                <a:solidFill>
                  <a:srgbClr val="A5ACB9"/>
                </a:solidFill>
                <a:latin typeface="Calibri"/>
              </a:rPr>
              <a:t>superkey</a:t>
            </a:r>
            <a:r>
              <a:rPr sz="1100" dirty="0">
                <a:solidFill>
                  <a:srgbClr val="A5ACB9"/>
                </a:solidFill>
                <a:latin typeface="Calibri"/>
              </a:rPr>
              <a:t> OR Y is a prime attribute (no transitive dependencies: PK → A → B).</a:t>
            </a:r>
          </a:p>
          <a:p>
            <a:pPr>
              <a:spcAft>
                <a:spcPts val="400"/>
              </a:spcAft>
            </a:pPr>
            <a:r>
              <a:rPr sz="1100" b="1" dirty="0">
                <a:solidFill>
                  <a:srgbClr val="FFFFFF"/>
                </a:solidFill>
                <a:latin typeface="Calibri"/>
              </a:rPr>
              <a:t>• Transitive Dependency Elimination: </a:t>
            </a:r>
            <a:r>
              <a:rPr sz="1100" dirty="0">
                <a:solidFill>
                  <a:srgbClr val="A5ACB9"/>
                </a:solidFill>
                <a:latin typeface="Calibri"/>
              </a:rPr>
              <a:t>Mentor details (Name, Dept) are NOT stored in Assignments; they reside strictly in </a:t>
            </a:r>
            <a:r>
              <a:rPr sz="1100" dirty="0" err="1">
                <a:solidFill>
                  <a:srgbClr val="A5ACB9"/>
                </a:solidFill>
                <a:latin typeface="Calibri"/>
              </a:rPr>
              <a:t>Faculty_Mentors</a:t>
            </a:r>
            <a:r>
              <a:rPr sz="1100" dirty="0">
                <a:solidFill>
                  <a:srgbClr val="A5ACB9"/>
                </a:solidFill>
                <a:latin typeface="Calibri"/>
              </a:rPr>
              <a:t>(</a:t>
            </a:r>
            <a:r>
              <a:rPr sz="1100" dirty="0" err="1">
                <a:solidFill>
                  <a:srgbClr val="A5ACB9"/>
                </a:solidFill>
                <a:latin typeface="Calibri"/>
              </a:rPr>
              <a:t>Faculty_ID</a:t>
            </a:r>
            <a:r>
              <a:rPr sz="1100" dirty="0">
                <a:solidFill>
                  <a:srgbClr val="A5ACB9"/>
                </a:solidFill>
                <a:latin typeface="Calibri"/>
              </a:rPr>
              <a:t>).</a:t>
            </a:r>
          </a:p>
          <a:p>
            <a:pPr>
              <a:spcAft>
                <a:spcPts val="400"/>
              </a:spcAft>
            </a:pPr>
            <a:r>
              <a:rPr sz="1100" b="1" dirty="0">
                <a:solidFill>
                  <a:srgbClr val="FFFFFF"/>
                </a:solidFill>
                <a:latin typeface="Calibri"/>
              </a:rPr>
              <a:t>• Company Details Isolation: </a:t>
            </a:r>
            <a:r>
              <a:rPr sz="1100" dirty="0">
                <a:solidFill>
                  <a:srgbClr val="A5ACB9"/>
                </a:solidFill>
                <a:latin typeface="Calibri"/>
              </a:rPr>
              <a:t>Supervisor details are separated from Organizations into </a:t>
            </a:r>
            <a:r>
              <a:rPr sz="1100" dirty="0" err="1">
                <a:solidFill>
                  <a:srgbClr val="A5ACB9"/>
                </a:solidFill>
                <a:latin typeface="Calibri"/>
              </a:rPr>
              <a:t>Company_Supervisors</a:t>
            </a:r>
            <a:r>
              <a:rPr sz="1100" dirty="0">
                <a:solidFill>
                  <a:srgbClr val="A5ACB9"/>
                </a:solidFill>
                <a:latin typeface="Calibri"/>
              </a:rPr>
              <a:t>, avoiding </a:t>
            </a:r>
            <a:r>
              <a:rPr sz="1100" dirty="0" err="1">
                <a:solidFill>
                  <a:srgbClr val="A5ACB9"/>
                </a:solidFill>
                <a:latin typeface="Calibri"/>
              </a:rPr>
              <a:t>Org_ID</a:t>
            </a:r>
            <a:r>
              <a:rPr sz="1100" dirty="0">
                <a:solidFill>
                  <a:srgbClr val="A5ACB9"/>
                </a:solidFill>
                <a:latin typeface="Calibri"/>
              </a:rPr>
              <a:t> transitive leakage.</a:t>
            </a:r>
          </a:p>
          <a:p>
            <a:pPr>
              <a:spcAft>
                <a:spcPts val="400"/>
              </a:spcAft>
            </a:pPr>
            <a:r>
              <a:rPr sz="1100" b="1" dirty="0">
                <a:solidFill>
                  <a:srgbClr val="FFFFFF"/>
                </a:solidFill>
                <a:latin typeface="Calibri"/>
              </a:rPr>
              <a:t>• Application &amp; Approval Separation: </a:t>
            </a:r>
            <a:r>
              <a:rPr sz="1100" dirty="0">
                <a:solidFill>
                  <a:srgbClr val="A5ACB9"/>
                </a:solidFill>
                <a:latin typeface="Calibri"/>
              </a:rPr>
              <a:t>Approvals are decoupled from Opportunities, preventing transitive status conflicts.</a:t>
            </a:r>
          </a:p>
          <a:p>
            <a:pPr>
              <a:spcAft>
                <a:spcPts val="400"/>
              </a:spcAft>
            </a:pPr>
            <a:r>
              <a:rPr sz="1100" b="1" dirty="0">
                <a:solidFill>
                  <a:srgbClr val="FFFFFF"/>
                </a:solidFill>
                <a:latin typeface="Calibri"/>
              </a:rPr>
              <a:t>• Mathematical Proof: </a:t>
            </a:r>
            <a:r>
              <a:rPr sz="1100" dirty="0">
                <a:solidFill>
                  <a:srgbClr val="A5ACB9"/>
                </a:solidFill>
                <a:latin typeface="Calibri"/>
              </a:rPr>
              <a:t>In all 12 tables, every determinant X is a </a:t>
            </a:r>
            <a:r>
              <a:rPr sz="1100" dirty="0" err="1">
                <a:solidFill>
                  <a:srgbClr val="A5ACB9"/>
                </a:solidFill>
                <a:latin typeface="Calibri"/>
              </a:rPr>
              <a:t>Superkey</a:t>
            </a:r>
            <a:r>
              <a:rPr sz="1100" dirty="0">
                <a:solidFill>
                  <a:srgbClr val="A5ACB9"/>
                </a:solidFill>
                <a:latin typeface="Calibri"/>
              </a:rPr>
              <a:t>. Hence, 3NF is strictly preserved.</a:t>
            </a:r>
          </a:p>
        </p:txBody>
      </p:sp>
      <p:sp>
        <p:nvSpPr>
          <p:cNvPr id="12" name="Rounded Rectangle 11"/>
          <p:cNvSpPr/>
          <p:nvPr/>
        </p:nvSpPr>
        <p:spPr>
          <a:xfrm>
            <a:off x="6291072" y="1645920"/>
            <a:ext cx="5166360"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66932" y="1516888"/>
            <a:ext cx="5077799" cy="45719"/>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2386584"/>
            <a:ext cx="4800600" cy="2144177"/>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BCNF Compliance &amp; Anomaly Elimination</a:t>
            </a:r>
          </a:p>
          <a:p>
            <a:pPr>
              <a:spcAft>
                <a:spcPts val="400"/>
              </a:spcAft>
            </a:pPr>
            <a:r>
              <a:rPr sz="1100" b="1" dirty="0">
                <a:solidFill>
                  <a:srgbClr val="FFFFFF"/>
                </a:solidFill>
                <a:latin typeface="Calibri"/>
              </a:rPr>
              <a:t>• Boyce-Codd Normal Form (BCNF): </a:t>
            </a:r>
            <a:r>
              <a:rPr sz="1100" dirty="0">
                <a:solidFill>
                  <a:srgbClr val="A5ACB9"/>
                </a:solidFill>
                <a:latin typeface="Calibri"/>
              </a:rPr>
              <a:t>For every non-trivial FD X → Y, X must strictly be a </a:t>
            </a:r>
            <a:r>
              <a:rPr sz="1100" dirty="0" err="1">
                <a:solidFill>
                  <a:srgbClr val="A5ACB9"/>
                </a:solidFill>
                <a:latin typeface="Calibri"/>
              </a:rPr>
              <a:t>Superkey</a:t>
            </a:r>
            <a:r>
              <a:rPr sz="1100" dirty="0">
                <a:solidFill>
                  <a:srgbClr val="A5ACB9"/>
                </a:solidFill>
                <a:latin typeface="Calibri"/>
              </a:rPr>
              <a:t>.</a:t>
            </a:r>
          </a:p>
          <a:p>
            <a:pPr>
              <a:spcAft>
                <a:spcPts val="400"/>
              </a:spcAft>
            </a:pPr>
            <a:r>
              <a:rPr sz="1100" b="1" dirty="0">
                <a:solidFill>
                  <a:srgbClr val="FFFFFF"/>
                </a:solidFill>
                <a:latin typeface="Calibri"/>
              </a:rPr>
              <a:t>• Decomposition Validation: </a:t>
            </a:r>
            <a:r>
              <a:rPr sz="1100" dirty="0">
                <a:solidFill>
                  <a:srgbClr val="A5ACB9"/>
                </a:solidFill>
                <a:latin typeface="Calibri"/>
              </a:rPr>
              <a:t>Because every non-trivial determinant across all 12 relations is a candidate key, the schema achieves BCNF.</a:t>
            </a:r>
          </a:p>
          <a:p>
            <a:pPr>
              <a:spcAft>
                <a:spcPts val="400"/>
              </a:spcAft>
            </a:pPr>
            <a:r>
              <a:rPr sz="1100" b="1" dirty="0">
                <a:solidFill>
                  <a:srgbClr val="FFFFFF"/>
                </a:solidFill>
                <a:latin typeface="Calibri"/>
              </a:rPr>
              <a:t>• Insertion Anomalies Eliminated: </a:t>
            </a:r>
            <a:r>
              <a:rPr sz="1100" dirty="0">
                <a:solidFill>
                  <a:srgbClr val="A5ACB9"/>
                </a:solidFill>
                <a:latin typeface="Calibri"/>
              </a:rPr>
              <a:t>Can register an Organization without having posted an Opportunity.</a:t>
            </a:r>
          </a:p>
          <a:p>
            <a:pPr>
              <a:spcAft>
                <a:spcPts val="400"/>
              </a:spcAft>
            </a:pPr>
            <a:r>
              <a:rPr sz="1100" b="1" dirty="0">
                <a:solidFill>
                  <a:srgbClr val="FFFFFF"/>
                </a:solidFill>
                <a:latin typeface="Calibri"/>
              </a:rPr>
              <a:t>• Deletion Anomalies Eliminated: </a:t>
            </a:r>
            <a:r>
              <a:rPr sz="1100" dirty="0">
                <a:solidFill>
                  <a:srgbClr val="A5ACB9"/>
                </a:solidFill>
                <a:latin typeface="Calibri"/>
              </a:rPr>
              <a:t>Deleting an obsolete Weekly Log does not erase the student's Assignment or Evaluation record.</a:t>
            </a:r>
          </a:p>
          <a:p>
            <a:pPr>
              <a:spcAft>
                <a:spcPts val="400"/>
              </a:spcAft>
            </a:pPr>
            <a:r>
              <a:rPr sz="1100" b="1" dirty="0">
                <a:solidFill>
                  <a:srgbClr val="FFFFFF"/>
                </a:solidFill>
                <a:latin typeface="Calibri"/>
              </a:rPr>
              <a:t>• Update Anomalies Eliminated: </a:t>
            </a:r>
            <a:r>
              <a:rPr sz="1100" dirty="0">
                <a:solidFill>
                  <a:srgbClr val="A5ACB9"/>
                </a:solidFill>
                <a:latin typeface="Calibri"/>
              </a:rPr>
              <a:t>Updating a supervisor's phone number requires modifying exactly one tuple in </a:t>
            </a:r>
            <a:r>
              <a:rPr sz="1100" dirty="0" err="1">
                <a:solidFill>
                  <a:srgbClr val="A5ACB9"/>
                </a:solidFill>
                <a:latin typeface="Calibri"/>
              </a:rPr>
              <a:t>Company_Supervisors</a:t>
            </a:r>
            <a:r>
              <a:rPr sz="1100" dirty="0">
                <a:solidFill>
                  <a:srgbClr val="A5ACB9"/>
                </a:solidFill>
                <a:latin typeface="Calibri"/>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2 • DATA DICTIONARY</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Data Dictionary: Workflow Foundation Tables</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Data Dictionary</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8" name="TextBox 7"/>
          <p:cNvSpPr txBox="1"/>
          <p:nvPr/>
        </p:nvSpPr>
        <p:spPr>
          <a:xfrm>
            <a:off x="10515600" y="6473952"/>
            <a:ext cx="914400" cy="274320"/>
          </a:xfrm>
          <a:prstGeom prst="rect">
            <a:avLst/>
          </a:prstGeom>
          <a:noFill/>
        </p:spPr>
        <p:txBody>
          <a:bodyPr wrap="none" lIns="0" tIns="0" rIns="0" bIns="0">
            <a:spAutoFit/>
          </a:bodyPr>
          <a:lstStyle/>
          <a:p>
            <a:pPr algn="r">
              <a:defRPr sz="850">
                <a:solidFill>
                  <a:srgbClr val="737A87"/>
                </a:solidFill>
                <a:latin typeface="Calibri"/>
              </a:defRPr>
            </a:pPr>
            <a:r>
              <a:t>15 / 32</a:t>
            </a:r>
          </a:p>
        </p:txBody>
      </p:sp>
      <p:graphicFrame>
        <p:nvGraphicFramePr>
          <p:cNvPr id="9" name="Table 8"/>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2590495">
                  <a:extLst>
                    <a:ext uri="{9D8B030D-6E8A-4147-A177-3AD203B41FA5}">
                      <a16:colId xmlns:a16="http://schemas.microsoft.com/office/drawing/2014/main" val="20005"/>
                    </a:ext>
                  </a:extLst>
                </a:gridCol>
              </a:tblGrid>
              <a:tr h="373380">
                <a:tc>
                  <a:txBody>
                    <a:bodyPr/>
                    <a:lstStyle/>
                    <a:p>
                      <a:pPr>
                        <a:defRPr sz="1000" b="1">
                          <a:solidFill>
                            <a:srgbClr val="E5A93C"/>
                          </a:solidFill>
                          <a:latin typeface="Calibri"/>
                        </a:defRPr>
                      </a:pPr>
                      <a:r>
                        <a:t>Table</a:t>
                      </a:r>
                    </a:p>
                  </a:txBody>
                  <a:tcPr marT="54864" marB="54864" anchor="ctr">
                    <a:solidFill>
                      <a:srgbClr val="222834"/>
                    </a:solidFill>
                  </a:tcPr>
                </a:tc>
                <a:tc>
                  <a:txBody>
                    <a:bodyPr/>
                    <a:lstStyle/>
                    <a:p>
                      <a:pPr>
                        <a:defRPr sz="1000" b="1">
                          <a:solidFill>
                            <a:srgbClr val="E5A93C"/>
                          </a:solidFill>
                          <a:latin typeface="Calibri"/>
                        </a:defRPr>
                      </a:pPr>
                      <a:r>
                        <a:t>Attribute</a:t>
                      </a:r>
                    </a:p>
                  </a:txBody>
                  <a:tcPr marT="54864" marB="54864" anchor="ctr">
                    <a:solidFill>
                      <a:srgbClr val="222834"/>
                    </a:solidFill>
                  </a:tcPr>
                </a:tc>
                <a:tc>
                  <a:txBody>
                    <a:bodyPr/>
                    <a:lstStyle/>
                    <a:p>
                      <a:pPr>
                        <a:defRPr sz="1000" b="1">
                          <a:solidFill>
                            <a:srgbClr val="E5A93C"/>
                          </a:solidFill>
                          <a:latin typeface="Calibri"/>
                        </a:defRPr>
                      </a:pPr>
                      <a:r>
                        <a:t>Data Type</a:t>
                      </a:r>
                    </a:p>
                  </a:txBody>
                  <a:tcPr marT="54864" marB="54864" anchor="ctr">
                    <a:solidFill>
                      <a:srgbClr val="222834"/>
                    </a:solidFill>
                  </a:tcPr>
                </a:tc>
                <a:tc>
                  <a:txBody>
                    <a:bodyPr/>
                    <a:lstStyle/>
                    <a:p>
                      <a:pPr>
                        <a:defRPr sz="1000" b="1">
                          <a:solidFill>
                            <a:srgbClr val="E5A93C"/>
                          </a:solidFill>
                          <a:latin typeface="Calibri"/>
                        </a:defRPr>
                      </a:pPr>
                      <a:r>
                        <a:t>Constraint</a:t>
                      </a:r>
                    </a:p>
                  </a:txBody>
                  <a:tcPr marT="54864" marB="54864" anchor="ctr">
                    <a:solidFill>
                      <a:srgbClr val="222834"/>
                    </a:solidFill>
                  </a:tcPr>
                </a:tc>
                <a:tc>
                  <a:txBody>
                    <a:bodyPr/>
                    <a:lstStyle/>
                    <a:p>
                      <a:pPr>
                        <a:defRPr sz="1000" b="1">
                          <a:solidFill>
                            <a:srgbClr val="E5A93C"/>
                          </a:solidFill>
                          <a:latin typeface="Calibri"/>
                        </a:defRPr>
                      </a:pPr>
                      <a:r>
                        <a:t>Nullable</a:t>
                      </a:r>
                    </a:p>
                  </a:txBody>
                  <a:tcPr marT="54864" marB="54864" anchor="ctr">
                    <a:solidFill>
                      <a:srgbClr val="222834"/>
                    </a:solidFill>
                  </a:tcPr>
                </a:tc>
                <a:tc>
                  <a:txBody>
                    <a:bodyPr/>
                    <a:lstStyle/>
                    <a:p>
                      <a:pPr>
                        <a:defRPr sz="1000" b="1">
                          <a:solidFill>
                            <a:srgbClr val="E5A93C"/>
                          </a:solidFill>
                          <a:latin typeface="Calibri"/>
                        </a:defRPr>
                      </a:pPr>
                      <a:r>
                        <a:t>Description</a:t>
                      </a:r>
                    </a:p>
                  </a:txBody>
                  <a:tcPr marT="54864" marB="54864" anchor="ctr">
                    <a:solidFill>
                      <a:srgbClr val="222834"/>
                    </a:solidFill>
                  </a:tcPr>
                </a:tc>
                <a:extLst>
                  <a:ext uri="{0D108BD9-81ED-4DB2-BD59-A6C34878D82A}">
                    <a16:rowId xmlns:a16="http://schemas.microsoft.com/office/drawing/2014/main" val="10000"/>
                  </a:ext>
                </a:extLst>
              </a:tr>
              <a:tr h="373380">
                <a:tc>
                  <a:txBody>
                    <a:bodyPr/>
                    <a:lstStyle/>
                    <a:p>
                      <a:pPr>
                        <a:defRPr sz="950" b="1">
                          <a:solidFill>
                            <a:srgbClr val="FFFFFF"/>
                          </a:solidFill>
                          <a:latin typeface="Calibri"/>
                        </a:defRPr>
                      </a:pPr>
                      <a:r>
                        <a:t>Students</a:t>
                      </a:r>
                    </a:p>
                  </a:txBody>
                  <a:tcPr anchor="ctr">
                    <a:solidFill>
                      <a:srgbClr val="181C24"/>
                    </a:solidFill>
                  </a:tcPr>
                </a:tc>
                <a:tc>
                  <a:txBody>
                    <a:bodyPr/>
                    <a:lstStyle/>
                    <a:p>
                      <a:pPr>
                        <a:defRPr sz="950">
                          <a:solidFill>
                            <a:srgbClr val="A5ACB9"/>
                          </a:solidFill>
                          <a:latin typeface="Calibri"/>
                        </a:defRPr>
                      </a:pPr>
                      <a:r>
                        <a:t>Student_ID</a:t>
                      </a:r>
                    </a:p>
                  </a:txBody>
                  <a:tcPr anchor="ctr">
                    <a:solidFill>
                      <a:srgbClr val="181C24"/>
                    </a:solidFill>
                  </a:tcPr>
                </a:tc>
                <a:tc>
                  <a:txBody>
                    <a:bodyPr/>
                    <a:lstStyle/>
                    <a:p>
                      <a:pPr>
                        <a:defRPr sz="950">
                          <a:solidFill>
                            <a:srgbClr val="A5ACB9"/>
                          </a:solidFill>
                          <a:latin typeface="Calibri"/>
                        </a:defRPr>
                      </a:pPr>
                      <a:r>
                        <a:t>VARCHAR(20)</a:t>
                      </a:r>
                    </a:p>
                  </a:txBody>
                  <a:tcPr anchor="ctr">
                    <a:solidFill>
                      <a:srgbClr val="181C24"/>
                    </a:solidFill>
                  </a:tcPr>
                </a:tc>
                <a:tc>
                  <a:txBody>
                    <a:bodyPr/>
                    <a:lstStyle/>
                    <a:p>
                      <a:pPr>
                        <a:defRPr sz="950">
                          <a:solidFill>
                            <a:srgbClr val="A5ACB9"/>
                          </a:solidFill>
                          <a:latin typeface="Calibri"/>
                        </a:defRPr>
                      </a:pPr>
                      <a:r>
                        <a:t>PRIMARY KEY</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Unique university roll / student identifier</a:t>
                      </a:r>
                    </a:p>
                  </a:txBody>
                  <a:tcPr anchor="ctr">
                    <a:solidFill>
                      <a:srgbClr val="181C24"/>
                    </a:solidFill>
                  </a:tcPr>
                </a:tc>
                <a:extLst>
                  <a:ext uri="{0D108BD9-81ED-4DB2-BD59-A6C34878D82A}">
                    <a16:rowId xmlns:a16="http://schemas.microsoft.com/office/drawing/2014/main" val="10001"/>
                  </a:ext>
                </a:extLst>
              </a:tr>
              <a:tr h="373380">
                <a:tc>
                  <a:txBody>
                    <a:bodyPr/>
                    <a:lstStyle/>
                    <a:p>
                      <a:pPr>
                        <a:defRPr sz="950" b="1">
                          <a:solidFill>
                            <a:srgbClr val="FFFFFF"/>
                          </a:solidFill>
                          <a:latin typeface="Calibri"/>
                        </a:defRPr>
                      </a:pPr>
                      <a:r>
                        <a:t>Students</a:t>
                      </a:r>
                    </a:p>
                  </a:txBody>
                  <a:tcPr anchor="ctr">
                    <a:solidFill>
                      <a:srgbClr val="13161C"/>
                    </a:solidFill>
                  </a:tcPr>
                </a:tc>
                <a:tc>
                  <a:txBody>
                    <a:bodyPr/>
                    <a:lstStyle/>
                    <a:p>
                      <a:pPr>
                        <a:defRPr sz="950">
                          <a:solidFill>
                            <a:srgbClr val="A5ACB9"/>
                          </a:solidFill>
                          <a:latin typeface="Calibri"/>
                        </a:defRPr>
                      </a:pPr>
                      <a:r>
                        <a:t>Email</a:t>
                      </a:r>
                    </a:p>
                  </a:txBody>
                  <a:tcPr anchor="ctr">
                    <a:solidFill>
                      <a:srgbClr val="13161C"/>
                    </a:solidFill>
                  </a:tcPr>
                </a:tc>
                <a:tc>
                  <a:txBody>
                    <a:bodyPr/>
                    <a:lstStyle/>
                    <a:p>
                      <a:pPr>
                        <a:defRPr sz="950">
                          <a:solidFill>
                            <a:srgbClr val="A5ACB9"/>
                          </a:solidFill>
                          <a:latin typeface="Calibri"/>
                        </a:defRPr>
                      </a:pPr>
                      <a:r>
                        <a:t>VARCHAR(100)</a:t>
                      </a:r>
                    </a:p>
                  </a:txBody>
                  <a:tcPr anchor="ctr">
                    <a:solidFill>
                      <a:srgbClr val="13161C"/>
                    </a:solidFill>
                  </a:tcPr>
                </a:tc>
                <a:tc>
                  <a:txBody>
                    <a:bodyPr/>
                    <a:lstStyle/>
                    <a:p>
                      <a:pPr>
                        <a:defRPr sz="950">
                          <a:solidFill>
                            <a:srgbClr val="A5ACB9"/>
                          </a:solidFill>
                          <a:latin typeface="Calibri"/>
                        </a:defRPr>
                      </a:pPr>
                      <a:r>
                        <a:t>UNIQUE, NOT NULL</a:t>
                      </a:r>
                    </a:p>
                  </a:txBody>
                  <a:tcPr anchor="ctr">
                    <a:solidFill>
                      <a:srgbClr val="13161C"/>
                    </a:solidFill>
                  </a:tcPr>
                </a:tc>
                <a:tc>
                  <a:txBody>
                    <a:bodyPr/>
                    <a:lstStyle/>
                    <a:p>
                      <a:pPr>
                        <a:defRPr sz="950">
                          <a:solidFill>
                            <a:srgbClr val="A5ACB9"/>
                          </a:solidFill>
                          <a:latin typeface="Calibri"/>
                        </a:defRPr>
                      </a:pPr>
                      <a:r>
                        <a:t>NO</a:t>
                      </a:r>
                    </a:p>
                  </a:txBody>
                  <a:tcPr anchor="ctr">
                    <a:solidFill>
                      <a:srgbClr val="13161C"/>
                    </a:solidFill>
                  </a:tcPr>
                </a:tc>
                <a:tc>
                  <a:txBody>
                    <a:bodyPr/>
                    <a:lstStyle/>
                    <a:p>
                      <a:pPr>
                        <a:defRPr sz="950">
                          <a:solidFill>
                            <a:srgbClr val="A5ACB9"/>
                          </a:solidFill>
                          <a:latin typeface="Calibri"/>
                        </a:defRPr>
                      </a:pPr>
                      <a:r>
                        <a:t>Institutional email for official alerts</a:t>
                      </a:r>
                    </a:p>
                  </a:txBody>
                  <a:tcPr anchor="ctr">
                    <a:solidFill>
                      <a:srgbClr val="13161C"/>
                    </a:solidFill>
                  </a:tcPr>
                </a:tc>
                <a:extLst>
                  <a:ext uri="{0D108BD9-81ED-4DB2-BD59-A6C34878D82A}">
                    <a16:rowId xmlns:a16="http://schemas.microsoft.com/office/drawing/2014/main" val="10002"/>
                  </a:ext>
                </a:extLst>
              </a:tr>
              <a:tr h="373380">
                <a:tc>
                  <a:txBody>
                    <a:bodyPr/>
                    <a:lstStyle/>
                    <a:p>
                      <a:pPr>
                        <a:defRPr sz="950" b="1">
                          <a:solidFill>
                            <a:srgbClr val="FFFFFF"/>
                          </a:solidFill>
                          <a:latin typeface="Calibri"/>
                        </a:defRPr>
                      </a:pPr>
                      <a:r>
                        <a:t>Organizations</a:t>
                      </a:r>
                    </a:p>
                  </a:txBody>
                  <a:tcPr anchor="ctr">
                    <a:solidFill>
                      <a:srgbClr val="181C24"/>
                    </a:solidFill>
                  </a:tcPr>
                </a:tc>
                <a:tc>
                  <a:txBody>
                    <a:bodyPr/>
                    <a:lstStyle/>
                    <a:p>
                      <a:pPr>
                        <a:defRPr sz="950">
                          <a:solidFill>
                            <a:srgbClr val="A5ACB9"/>
                          </a:solidFill>
                          <a:latin typeface="Calibri"/>
                        </a:defRPr>
                      </a:pPr>
                      <a:r>
                        <a:t>Org_ID</a:t>
                      </a:r>
                    </a:p>
                  </a:txBody>
                  <a:tcPr anchor="ctr">
                    <a:solidFill>
                      <a:srgbClr val="181C24"/>
                    </a:solidFill>
                  </a:tcPr>
                </a:tc>
                <a:tc>
                  <a:txBody>
                    <a:bodyPr/>
                    <a:lstStyle/>
                    <a:p>
                      <a:pPr>
                        <a:defRPr sz="950">
                          <a:solidFill>
                            <a:srgbClr val="A5ACB9"/>
                          </a:solidFill>
                          <a:latin typeface="Calibri"/>
                        </a:defRPr>
                      </a:pPr>
                      <a:r>
                        <a:t>INT AUTO_INCREMENT</a:t>
                      </a:r>
                    </a:p>
                  </a:txBody>
                  <a:tcPr anchor="ctr">
                    <a:solidFill>
                      <a:srgbClr val="181C24"/>
                    </a:solidFill>
                  </a:tcPr>
                </a:tc>
                <a:tc>
                  <a:txBody>
                    <a:bodyPr/>
                    <a:lstStyle/>
                    <a:p>
                      <a:pPr>
                        <a:defRPr sz="950">
                          <a:solidFill>
                            <a:srgbClr val="A5ACB9"/>
                          </a:solidFill>
                          <a:latin typeface="Calibri"/>
                        </a:defRPr>
                      </a:pPr>
                      <a:r>
                        <a:t>PRIMARY KEY</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System surrogate key for registered company</a:t>
                      </a:r>
                    </a:p>
                  </a:txBody>
                  <a:tcPr anchor="ctr">
                    <a:solidFill>
                      <a:srgbClr val="181C24"/>
                    </a:solidFill>
                  </a:tcPr>
                </a:tc>
                <a:extLst>
                  <a:ext uri="{0D108BD9-81ED-4DB2-BD59-A6C34878D82A}">
                    <a16:rowId xmlns:a16="http://schemas.microsoft.com/office/drawing/2014/main" val="10003"/>
                  </a:ext>
                </a:extLst>
              </a:tr>
              <a:tr h="373380">
                <a:tc>
                  <a:txBody>
                    <a:bodyPr/>
                    <a:lstStyle/>
                    <a:p>
                      <a:pPr>
                        <a:defRPr sz="950" b="1">
                          <a:solidFill>
                            <a:srgbClr val="FFFFFF"/>
                          </a:solidFill>
                          <a:latin typeface="Calibri"/>
                        </a:defRPr>
                      </a:pPr>
                      <a:r>
                        <a:t>Organizations</a:t>
                      </a:r>
                    </a:p>
                  </a:txBody>
                  <a:tcPr anchor="ctr">
                    <a:solidFill>
                      <a:srgbClr val="13161C"/>
                    </a:solidFill>
                  </a:tcPr>
                </a:tc>
                <a:tc>
                  <a:txBody>
                    <a:bodyPr/>
                    <a:lstStyle/>
                    <a:p>
                      <a:pPr>
                        <a:defRPr sz="950">
                          <a:solidFill>
                            <a:srgbClr val="A5ACB9"/>
                          </a:solidFill>
                          <a:latin typeface="Calibri"/>
                        </a:defRPr>
                      </a:pPr>
                      <a:r>
                        <a:t>Org_Name</a:t>
                      </a:r>
                    </a:p>
                  </a:txBody>
                  <a:tcPr anchor="ctr">
                    <a:solidFill>
                      <a:srgbClr val="13161C"/>
                    </a:solidFill>
                  </a:tcPr>
                </a:tc>
                <a:tc>
                  <a:txBody>
                    <a:bodyPr/>
                    <a:lstStyle/>
                    <a:p>
                      <a:pPr>
                        <a:defRPr sz="950">
                          <a:solidFill>
                            <a:srgbClr val="A5ACB9"/>
                          </a:solidFill>
                          <a:latin typeface="Calibri"/>
                        </a:defRPr>
                      </a:pPr>
                      <a:r>
                        <a:t>VARCHAR(100)</a:t>
                      </a:r>
                    </a:p>
                  </a:txBody>
                  <a:tcPr anchor="ctr">
                    <a:solidFill>
                      <a:srgbClr val="13161C"/>
                    </a:solidFill>
                  </a:tcPr>
                </a:tc>
                <a:tc>
                  <a:txBody>
                    <a:bodyPr/>
                    <a:lstStyle/>
                    <a:p>
                      <a:pPr>
                        <a:defRPr sz="950">
                          <a:solidFill>
                            <a:srgbClr val="A5ACB9"/>
                          </a:solidFill>
                          <a:latin typeface="Calibri"/>
                        </a:defRPr>
                      </a:pPr>
                      <a:r>
                        <a:t>NOT NULL</a:t>
                      </a:r>
                    </a:p>
                  </a:txBody>
                  <a:tcPr anchor="ctr">
                    <a:solidFill>
                      <a:srgbClr val="13161C"/>
                    </a:solidFill>
                  </a:tcPr>
                </a:tc>
                <a:tc>
                  <a:txBody>
                    <a:bodyPr/>
                    <a:lstStyle/>
                    <a:p>
                      <a:pPr>
                        <a:defRPr sz="950">
                          <a:solidFill>
                            <a:srgbClr val="A5ACB9"/>
                          </a:solidFill>
                          <a:latin typeface="Calibri"/>
                        </a:defRPr>
                      </a:pPr>
                      <a:r>
                        <a:t>NO</a:t>
                      </a:r>
                    </a:p>
                  </a:txBody>
                  <a:tcPr anchor="ctr">
                    <a:solidFill>
                      <a:srgbClr val="13161C"/>
                    </a:solidFill>
                  </a:tcPr>
                </a:tc>
                <a:tc>
                  <a:txBody>
                    <a:bodyPr/>
                    <a:lstStyle/>
                    <a:p>
                      <a:pPr>
                        <a:defRPr sz="950">
                          <a:solidFill>
                            <a:srgbClr val="A5ACB9"/>
                          </a:solidFill>
                          <a:latin typeface="Calibri"/>
                        </a:defRPr>
                      </a:pPr>
                      <a:r>
                        <a:t>Legal corporate or organization name</a:t>
                      </a:r>
                    </a:p>
                  </a:txBody>
                  <a:tcPr anchor="ctr">
                    <a:solidFill>
                      <a:srgbClr val="13161C"/>
                    </a:solidFill>
                  </a:tcPr>
                </a:tc>
                <a:extLst>
                  <a:ext uri="{0D108BD9-81ED-4DB2-BD59-A6C34878D82A}">
                    <a16:rowId xmlns:a16="http://schemas.microsoft.com/office/drawing/2014/main" val="10004"/>
                  </a:ext>
                </a:extLst>
              </a:tr>
              <a:tr h="373380">
                <a:tc>
                  <a:txBody>
                    <a:bodyPr/>
                    <a:lstStyle/>
                    <a:p>
                      <a:pPr>
                        <a:defRPr sz="950" b="1">
                          <a:solidFill>
                            <a:srgbClr val="FFFFFF"/>
                          </a:solidFill>
                          <a:latin typeface="Calibri"/>
                        </a:defRPr>
                      </a:pPr>
                      <a:r>
                        <a:t>Opportunities</a:t>
                      </a:r>
                    </a:p>
                  </a:txBody>
                  <a:tcPr anchor="ctr">
                    <a:solidFill>
                      <a:srgbClr val="181C24"/>
                    </a:solidFill>
                  </a:tcPr>
                </a:tc>
                <a:tc>
                  <a:txBody>
                    <a:bodyPr/>
                    <a:lstStyle/>
                    <a:p>
                      <a:pPr>
                        <a:defRPr sz="950">
                          <a:solidFill>
                            <a:srgbClr val="A5ACB9"/>
                          </a:solidFill>
                          <a:latin typeface="Calibri"/>
                        </a:defRPr>
                      </a:pPr>
                      <a:r>
                        <a:t>Opp_ID</a:t>
                      </a:r>
                    </a:p>
                  </a:txBody>
                  <a:tcPr anchor="ctr">
                    <a:solidFill>
                      <a:srgbClr val="181C24"/>
                    </a:solidFill>
                  </a:tcPr>
                </a:tc>
                <a:tc>
                  <a:txBody>
                    <a:bodyPr/>
                    <a:lstStyle/>
                    <a:p>
                      <a:pPr>
                        <a:defRPr sz="950">
                          <a:solidFill>
                            <a:srgbClr val="A5ACB9"/>
                          </a:solidFill>
                          <a:latin typeface="Calibri"/>
                        </a:defRPr>
                      </a:pPr>
                      <a:r>
                        <a:t>INT AUTO_INCREMENT</a:t>
                      </a:r>
                    </a:p>
                  </a:txBody>
                  <a:tcPr anchor="ctr">
                    <a:solidFill>
                      <a:srgbClr val="181C24"/>
                    </a:solidFill>
                  </a:tcPr>
                </a:tc>
                <a:tc>
                  <a:txBody>
                    <a:bodyPr/>
                    <a:lstStyle/>
                    <a:p>
                      <a:pPr>
                        <a:defRPr sz="950">
                          <a:solidFill>
                            <a:srgbClr val="A5ACB9"/>
                          </a:solidFill>
                          <a:latin typeface="Calibri"/>
                        </a:defRPr>
                      </a:pPr>
                      <a:r>
                        <a:t>PRIMARY KEY</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Unique internship posting identifier</a:t>
                      </a:r>
                    </a:p>
                  </a:txBody>
                  <a:tcPr anchor="ctr">
                    <a:solidFill>
                      <a:srgbClr val="181C24"/>
                    </a:solidFill>
                  </a:tcPr>
                </a:tc>
                <a:extLst>
                  <a:ext uri="{0D108BD9-81ED-4DB2-BD59-A6C34878D82A}">
                    <a16:rowId xmlns:a16="http://schemas.microsoft.com/office/drawing/2014/main" val="10005"/>
                  </a:ext>
                </a:extLst>
              </a:tr>
              <a:tr h="373380">
                <a:tc>
                  <a:txBody>
                    <a:bodyPr/>
                    <a:lstStyle/>
                    <a:p>
                      <a:pPr>
                        <a:defRPr sz="950" b="1">
                          <a:solidFill>
                            <a:srgbClr val="FFFFFF"/>
                          </a:solidFill>
                          <a:latin typeface="Calibri"/>
                        </a:defRPr>
                      </a:pPr>
                      <a:r>
                        <a:t>Opportunities</a:t>
                      </a:r>
                    </a:p>
                  </a:txBody>
                  <a:tcPr anchor="ctr">
                    <a:solidFill>
                      <a:srgbClr val="13161C"/>
                    </a:solidFill>
                  </a:tcPr>
                </a:tc>
                <a:tc>
                  <a:txBody>
                    <a:bodyPr/>
                    <a:lstStyle/>
                    <a:p>
                      <a:pPr>
                        <a:defRPr sz="950">
                          <a:solidFill>
                            <a:srgbClr val="A5ACB9"/>
                          </a:solidFill>
                          <a:latin typeface="Calibri"/>
                        </a:defRPr>
                      </a:pPr>
                      <a:r>
                        <a:t>Org_ID</a:t>
                      </a:r>
                    </a:p>
                  </a:txBody>
                  <a:tcPr anchor="ctr">
                    <a:solidFill>
                      <a:srgbClr val="13161C"/>
                    </a:solidFill>
                  </a:tcPr>
                </a:tc>
                <a:tc>
                  <a:txBody>
                    <a:bodyPr/>
                    <a:lstStyle/>
                    <a:p>
                      <a:pPr>
                        <a:defRPr sz="950">
                          <a:solidFill>
                            <a:srgbClr val="A5ACB9"/>
                          </a:solidFill>
                          <a:latin typeface="Calibri"/>
                        </a:defRPr>
                      </a:pPr>
                      <a:r>
                        <a:t>INT</a:t>
                      </a:r>
                    </a:p>
                  </a:txBody>
                  <a:tcPr anchor="ctr">
                    <a:solidFill>
                      <a:srgbClr val="13161C"/>
                    </a:solidFill>
                  </a:tcPr>
                </a:tc>
                <a:tc>
                  <a:txBody>
                    <a:bodyPr/>
                    <a:lstStyle/>
                    <a:p>
                      <a:pPr>
                        <a:defRPr sz="950">
                          <a:solidFill>
                            <a:srgbClr val="A5ACB9"/>
                          </a:solidFill>
                          <a:latin typeface="Calibri"/>
                        </a:defRPr>
                      </a:pPr>
                      <a:r>
                        <a:t>FOREIGN KEY</a:t>
                      </a:r>
                    </a:p>
                  </a:txBody>
                  <a:tcPr anchor="ctr">
                    <a:solidFill>
                      <a:srgbClr val="13161C"/>
                    </a:solidFill>
                  </a:tcPr>
                </a:tc>
                <a:tc>
                  <a:txBody>
                    <a:bodyPr/>
                    <a:lstStyle/>
                    <a:p>
                      <a:pPr>
                        <a:defRPr sz="950">
                          <a:solidFill>
                            <a:srgbClr val="A5ACB9"/>
                          </a:solidFill>
                          <a:latin typeface="Calibri"/>
                        </a:defRPr>
                      </a:pPr>
                      <a:r>
                        <a:t>NO</a:t>
                      </a:r>
                    </a:p>
                  </a:txBody>
                  <a:tcPr anchor="ctr">
                    <a:solidFill>
                      <a:srgbClr val="13161C"/>
                    </a:solidFill>
                  </a:tcPr>
                </a:tc>
                <a:tc>
                  <a:txBody>
                    <a:bodyPr/>
                    <a:lstStyle/>
                    <a:p>
                      <a:pPr>
                        <a:defRPr sz="950">
                          <a:solidFill>
                            <a:srgbClr val="A5ACB9"/>
                          </a:solidFill>
                          <a:latin typeface="Calibri"/>
                        </a:defRPr>
                      </a:pPr>
                      <a:r>
                        <a:t>References Organizations(Org_ID)</a:t>
                      </a:r>
                    </a:p>
                  </a:txBody>
                  <a:tcPr anchor="ctr">
                    <a:solidFill>
                      <a:srgbClr val="13161C"/>
                    </a:solidFill>
                  </a:tcPr>
                </a:tc>
                <a:extLst>
                  <a:ext uri="{0D108BD9-81ED-4DB2-BD59-A6C34878D82A}">
                    <a16:rowId xmlns:a16="http://schemas.microsoft.com/office/drawing/2014/main" val="10006"/>
                  </a:ext>
                </a:extLst>
              </a:tr>
              <a:tr h="373380">
                <a:tc>
                  <a:txBody>
                    <a:bodyPr/>
                    <a:lstStyle/>
                    <a:p>
                      <a:pPr>
                        <a:defRPr sz="950" b="1">
                          <a:solidFill>
                            <a:srgbClr val="FFFFFF"/>
                          </a:solidFill>
                          <a:latin typeface="Calibri"/>
                        </a:defRPr>
                      </a:pPr>
                      <a:r>
                        <a:t>Opportunities</a:t>
                      </a:r>
                    </a:p>
                  </a:txBody>
                  <a:tcPr anchor="ctr">
                    <a:solidFill>
                      <a:srgbClr val="181C24"/>
                    </a:solidFill>
                  </a:tcPr>
                </a:tc>
                <a:tc>
                  <a:txBody>
                    <a:bodyPr/>
                    <a:lstStyle/>
                    <a:p>
                      <a:pPr>
                        <a:defRPr sz="950">
                          <a:solidFill>
                            <a:srgbClr val="A5ACB9"/>
                          </a:solidFill>
                          <a:latin typeface="Calibri"/>
                        </a:defRPr>
                      </a:pPr>
                      <a:r>
                        <a:t>Stipend</a:t>
                      </a:r>
                    </a:p>
                  </a:txBody>
                  <a:tcPr anchor="ctr">
                    <a:solidFill>
                      <a:srgbClr val="181C24"/>
                    </a:solidFill>
                  </a:tcPr>
                </a:tc>
                <a:tc>
                  <a:txBody>
                    <a:bodyPr/>
                    <a:lstStyle/>
                    <a:p>
                      <a:pPr>
                        <a:defRPr sz="950">
                          <a:solidFill>
                            <a:srgbClr val="A5ACB9"/>
                          </a:solidFill>
                          <a:latin typeface="Calibri"/>
                        </a:defRPr>
                      </a:pPr>
                      <a:r>
                        <a:t>DECIMAL(10,2)</a:t>
                      </a:r>
                    </a:p>
                  </a:txBody>
                  <a:tcPr anchor="ctr">
                    <a:solidFill>
                      <a:srgbClr val="181C24"/>
                    </a:solidFill>
                  </a:tcPr>
                </a:tc>
                <a:tc>
                  <a:txBody>
                    <a:bodyPr/>
                    <a:lstStyle/>
                    <a:p>
                      <a:pPr>
                        <a:defRPr sz="950">
                          <a:solidFill>
                            <a:srgbClr val="A5ACB9"/>
                          </a:solidFill>
                          <a:latin typeface="Calibri"/>
                        </a:defRPr>
                      </a:pPr>
                      <a:r>
                        <a:t>CHECK(Stipend&gt;=0)</a:t>
                      </a:r>
                    </a:p>
                  </a:txBody>
                  <a:tcPr anchor="ctr">
                    <a:solidFill>
                      <a:srgbClr val="181C24"/>
                    </a:solidFill>
                  </a:tcPr>
                </a:tc>
                <a:tc>
                  <a:txBody>
                    <a:bodyPr/>
                    <a:lstStyle/>
                    <a:p>
                      <a:pPr>
                        <a:defRPr sz="950">
                          <a:solidFill>
                            <a:srgbClr val="A5ACB9"/>
                          </a:solidFill>
                          <a:latin typeface="Calibri"/>
                        </a:defRPr>
                      </a:pPr>
                      <a:r>
                        <a:t>YES</a:t>
                      </a:r>
                    </a:p>
                  </a:txBody>
                  <a:tcPr anchor="ctr">
                    <a:solidFill>
                      <a:srgbClr val="181C24"/>
                    </a:solidFill>
                  </a:tcPr>
                </a:tc>
                <a:tc>
                  <a:txBody>
                    <a:bodyPr/>
                    <a:lstStyle/>
                    <a:p>
                      <a:pPr>
                        <a:defRPr sz="950">
                          <a:solidFill>
                            <a:srgbClr val="A5ACB9"/>
                          </a:solidFill>
                          <a:latin typeface="Calibri"/>
                        </a:defRPr>
                      </a:pPr>
                      <a:r>
                        <a:t>Monthly remuneration stipend amount</a:t>
                      </a:r>
                    </a:p>
                  </a:txBody>
                  <a:tcPr anchor="ctr">
                    <a:solidFill>
                      <a:srgbClr val="181C24"/>
                    </a:solidFill>
                  </a:tcPr>
                </a:tc>
                <a:extLst>
                  <a:ext uri="{0D108BD9-81ED-4DB2-BD59-A6C34878D82A}">
                    <a16:rowId xmlns:a16="http://schemas.microsoft.com/office/drawing/2014/main" val="10007"/>
                  </a:ext>
                </a:extLst>
              </a:tr>
              <a:tr h="373380">
                <a:tc>
                  <a:txBody>
                    <a:bodyPr/>
                    <a:lstStyle/>
                    <a:p>
                      <a:pPr>
                        <a:defRPr sz="950" b="1">
                          <a:solidFill>
                            <a:srgbClr val="FFFFFF"/>
                          </a:solidFill>
                          <a:latin typeface="Calibri"/>
                        </a:defRPr>
                      </a:pPr>
                      <a:r>
                        <a:t>Applications</a:t>
                      </a:r>
                    </a:p>
                  </a:txBody>
                  <a:tcPr anchor="ctr">
                    <a:solidFill>
                      <a:srgbClr val="13161C"/>
                    </a:solidFill>
                  </a:tcPr>
                </a:tc>
                <a:tc>
                  <a:txBody>
                    <a:bodyPr/>
                    <a:lstStyle/>
                    <a:p>
                      <a:pPr>
                        <a:defRPr sz="950">
                          <a:solidFill>
                            <a:srgbClr val="A5ACB9"/>
                          </a:solidFill>
                          <a:latin typeface="Calibri"/>
                        </a:defRPr>
                      </a:pPr>
                      <a:r>
                        <a:t>App_ID</a:t>
                      </a:r>
                    </a:p>
                  </a:txBody>
                  <a:tcPr anchor="ctr">
                    <a:solidFill>
                      <a:srgbClr val="13161C"/>
                    </a:solidFill>
                  </a:tcPr>
                </a:tc>
                <a:tc>
                  <a:txBody>
                    <a:bodyPr/>
                    <a:lstStyle/>
                    <a:p>
                      <a:pPr>
                        <a:defRPr sz="950">
                          <a:solidFill>
                            <a:srgbClr val="A5ACB9"/>
                          </a:solidFill>
                          <a:latin typeface="Calibri"/>
                        </a:defRPr>
                      </a:pPr>
                      <a:r>
                        <a:t>INT AUTO_INCREMENT</a:t>
                      </a:r>
                    </a:p>
                  </a:txBody>
                  <a:tcPr anchor="ctr">
                    <a:solidFill>
                      <a:srgbClr val="13161C"/>
                    </a:solidFill>
                  </a:tcPr>
                </a:tc>
                <a:tc>
                  <a:txBody>
                    <a:bodyPr/>
                    <a:lstStyle/>
                    <a:p>
                      <a:pPr>
                        <a:defRPr sz="950">
                          <a:solidFill>
                            <a:srgbClr val="A5ACB9"/>
                          </a:solidFill>
                          <a:latin typeface="Calibri"/>
                        </a:defRPr>
                      </a:pPr>
                      <a:r>
                        <a:t>PRIMARY KEY</a:t>
                      </a:r>
                    </a:p>
                  </a:txBody>
                  <a:tcPr anchor="ctr">
                    <a:solidFill>
                      <a:srgbClr val="13161C"/>
                    </a:solidFill>
                  </a:tcPr>
                </a:tc>
                <a:tc>
                  <a:txBody>
                    <a:bodyPr/>
                    <a:lstStyle/>
                    <a:p>
                      <a:pPr>
                        <a:defRPr sz="950">
                          <a:solidFill>
                            <a:srgbClr val="A5ACB9"/>
                          </a:solidFill>
                          <a:latin typeface="Calibri"/>
                        </a:defRPr>
                      </a:pPr>
                      <a:r>
                        <a:t>NO</a:t>
                      </a:r>
                    </a:p>
                  </a:txBody>
                  <a:tcPr anchor="ctr">
                    <a:solidFill>
                      <a:srgbClr val="13161C"/>
                    </a:solidFill>
                  </a:tcPr>
                </a:tc>
                <a:tc>
                  <a:txBody>
                    <a:bodyPr/>
                    <a:lstStyle/>
                    <a:p>
                      <a:pPr>
                        <a:defRPr sz="950">
                          <a:solidFill>
                            <a:srgbClr val="A5ACB9"/>
                          </a:solidFill>
                          <a:latin typeface="Calibri"/>
                        </a:defRPr>
                      </a:pPr>
                      <a:r>
                        <a:t>Unique application instance identifier</a:t>
                      </a:r>
                    </a:p>
                  </a:txBody>
                  <a:tcPr anchor="ctr">
                    <a:solidFill>
                      <a:srgbClr val="13161C"/>
                    </a:solidFill>
                  </a:tcPr>
                </a:tc>
                <a:extLst>
                  <a:ext uri="{0D108BD9-81ED-4DB2-BD59-A6C34878D82A}">
                    <a16:rowId xmlns:a16="http://schemas.microsoft.com/office/drawing/2014/main" val="10008"/>
                  </a:ext>
                </a:extLst>
              </a:tr>
              <a:tr h="373380">
                <a:tc>
                  <a:txBody>
                    <a:bodyPr/>
                    <a:lstStyle/>
                    <a:p>
                      <a:pPr>
                        <a:defRPr sz="950" b="1">
                          <a:solidFill>
                            <a:srgbClr val="FFFFFF"/>
                          </a:solidFill>
                          <a:latin typeface="Calibri"/>
                        </a:defRPr>
                      </a:pPr>
                      <a:r>
                        <a:t>Applications</a:t>
                      </a:r>
                    </a:p>
                  </a:txBody>
                  <a:tcPr anchor="ctr">
                    <a:solidFill>
                      <a:srgbClr val="181C24"/>
                    </a:solidFill>
                  </a:tcPr>
                </a:tc>
                <a:tc>
                  <a:txBody>
                    <a:bodyPr/>
                    <a:lstStyle/>
                    <a:p>
                      <a:pPr>
                        <a:defRPr sz="950">
                          <a:solidFill>
                            <a:srgbClr val="A5ACB9"/>
                          </a:solidFill>
                          <a:latin typeface="Calibri"/>
                        </a:defRPr>
                      </a:pPr>
                      <a:r>
                        <a:t>Status</a:t>
                      </a:r>
                    </a:p>
                  </a:txBody>
                  <a:tcPr anchor="ctr">
                    <a:solidFill>
                      <a:srgbClr val="181C24"/>
                    </a:solidFill>
                  </a:tcPr>
                </a:tc>
                <a:tc>
                  <a:txBody>
                    <a:bodyPr/>
                    <a:lstStyle/>
                    <a:p>
                      <a:pPr>
                        <a:defRPr sz="950">
                          <a:solidFill>
                            <a:srgbClr val="A5ACB9"/>
                          </a:solidFill>
                          <a:latin typeface="Calibri"/>
                        </a:defRPr>
                      </a:pPr>
                      <a:r>
                        <a:t>VARCHAR(20)</a:t>
                      </a:r>
                    </a:p>
                  </a:txBody>
                  <a:tcPr anchor="ctr">
                    <a:solidFill>
                      <a:srgbClr val="181C24"/>
                    </a:solidFill>
                  </a:tcPr>
                </a:tc>
                <a:tc>
                  <a:txBody>
                    <a:bodyPr/>
                    <a:lstStyle/>
                    <a:p>
                      <a:pPr>
                        <a:defRPr sz="950">
                          <a:solidFill>
                            <a:srgbClr val="A5ACB9"/>
                          </a:solidFill>
                          <a:latin typeface="Calibri"/>
                        </a:defRPr>
                      </a:pPr>
                      <a:r>
                        <a:t>DEFAULT 'Applied'</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State: 'Applied', 'Under Review', 'Approved'</a:t>
                      </a:r>
                    </a:p>
                  </a:txBody>
                  <a:tcPr anchor="ctr">
                    <a:solidFill>
                      <a:srgbClr val="181C24"/>
                    </a:solidFill>
                  </a:tcPr>
                </a:tc>
                <a:extLst>
                  <a:ext uri="{0D108BD9-81ED-4DB2-BD59-A6C34878D82A}">
                    <a16:rowId xmlns:a16="http://schemas.microsoft.com/office/drawing/2014/main" val="10009"/>
                  </a:ext>
                </a:extLst>
              </a:tr>
              <a:tr h="373380">
                <a:tc>
                  <a:txBody>
                    <a:bodyPr/>
                    <a:lstStyle/>
                    <a:p>
                      <a:pPr>
                        <a:defRPr sz="950" b="1">
                          <a:solidFill>
                            <a:srgbClr val="FFFFFF"/>
                          </a:solidFill>
                          <a:latin typeface="Calibri"/>
                        </a:defRPr>
                      </a:pPr>
                      <a:r>
                        <a:t>Approvals</a:t>
                      </a:r>
                    </a:p>
                  </a:txBody>
                  <a:tcPr anchor="ctr">
                    <a:solidFill>
                      <a:srgbClr val="13161C"/>
                    </a:solidFill>
                  </a:tcPr>
                </a:tc>
                <a:tc>
                  <a:txBody>
                    <a:bodyPr/>
                    <a:lstStyle/>
                    <a:p>
                      <a:pPr>
                        <a:defRPr sz="950">
                          <a:solidFill>
                            <a:srgbClr val="A5ACB9"/>
                          </a:solidFill>
                          <a:latin typeface="Calibri"/>
                        </a:defRPr>
                      </a:pPr>
                      <a:r>
                        <a:t>Approval_ID</a:t>
                      </a:r>
                    </a:p>
                  </a:txBody>
                  <a:tcPr anchor="ctr">
                    <a:solidFill>
                      <a:srgbClr val="13161C"/>
                    </a:solidFill>
                  </a:tcPr>
                </a:tc>
                <a:tc>
                  <a:txBody>
                    <a:bodyPr/>
                    <a:lstStyle/>
                    <a:p>
                      <a:pPr>
                        <a:defRPr sz="950">
                          <a:solidFill>
                            <a:srgbClr val="A5ACB9"/>
                          </a:solidFill>
                          <a:latin typeface="Calibri"/>
                        </a:defRPr>
                      </a:pPr>
                      <a:r>
                        <a:t>INT AUTO_INCREMENT</a:t>
                      </a:r>
                    </a:p>
                  </a:txBody>
                  <a:tcPr anchor="ctr">
                    <a:solidFill>
                      <a:srgbClr val="13161C"/>
                    </a:solidFill>
                  </a:tcPr>
                </a:tc>
                <a:tc>
                  <a:txBody>
                    <a:bodyPr/>
                    <a:lstStyle/>
                    <a:p>
                      <a:pPr>
                        <a:defRPr sz="950">
                          <a:solidFill>
                            <a:srgbClr val="A5ACB9"/>
                          </a:solidFill>
                          <a:latin typeface="Calibri"/>
                        </a:defRPr>
                      </a:pPr>
                      <a:r>
                        <a:t>PRIMARY KEY</a:t>
                      </a:r>
                    </a:p>
                  </a:txBody>
                  <a:tcPr anchor="ctr">
                    <a:solidFill>
                      <a:srgbClr val="13161C"/>
                    </a:solidFill>
                  </a:tcPr>
                </a:tc>
                <a:tc>
                  <a:txBody>
                    <a:bodyPr/>
                    <a:lstStyle/>
                    <a:p>
                      <a:pPr>
                        <a:defRPr sz="950">
                          <a:solidFill>
                            <a:srgbClr val="A5ACB9"/>
                          </a:solidFill>
                          <a:latin typeface="Calibri"/>
                        </a:defRPr>
                      </a:pPr>
                      <a:r>
                        <a:t>NO</a:t>
                      </a:r>
                    </a:p>
                  </a:txBody>
                  <a:tcPr anchor="ctr">
                    <a:solidFill>
                      <a:srgbClr val="13161C"/>
                    </a:solidFill>
                  </a:tcPr>
                </a:tc>
                <a:tc>
                  <a:txBody>
                    <a:bodyPr/>
                    <a:lstStyle/>
                    <a:p>
                      <a:pPr>
                        <a:defRPr sz="950">
                          <a:solidFill>
                            <a:srgbClr val="A5ACB9"/>
                          </a:solidFill>
                          <a:latin typeface="Calibri"/>
                        </a:defRPr>
                      </a:pPr>
                      <a:r>
                        <a:t>Official academic vetting record key</a:t>
                      </a:r>
                    </a:p>
                  </a:txBody>
                  <a:tcPr anchor="ctr">
                    <a:solidFill>
                      <a:srgbClr val="13161C"/>
                    </a:solidFill>
                  </a:tcPr>
                </a:tc>
                <a:extLst>
                  <a:ext uri="{0D108BD9-81ED-4DB2-BD59-A6C34878D82A}">
                    <a16:rowId xmlns:a16="http://schemas.microsoft.com/office/drawing/2014/main" val="10010"/>
                  </a:ext>
                </a:extLst>
              </a:tr>
              <a:tr h="373380">
                <a:tc>
                  <a:txBody>
                    <a:bodyPr/>
                    <a:lstStyle/>
                    <a:p>
                      <a:pPr>
                        <a:defRPr sz="950" b="1">
                          <a:solidFill>
                            <a:srgbClr val="FFFFFF"/>
                          </a:solidFill>
                          <a:latin typeface="Calibri"/>
                        </a:defRPr>
                      </a:pPr>
                      <a:r>
                        <a:t>Faculty_Mentors</a:t>
                      </a:r>
                    </a:p>
                  </a:txBody>
                  <a:tcPr anchor="ctr">
                    <a:solidFill>
                      <a:srgbClr val="181C24"/>
                    </a:solidFill>
                  </a:tcPr>
                </a:tc>
                <a:tc>
                  <a:txBody>
                    <a:bodyPr/>
                    <a:lstStyle/>
                    <a:p>
                      <a:pPr>
                        <a:defRPr sz="950">
                          <a:solidFill>
                            <a:srgbClr val="A5ACB9"/>
                          </a:solidFill>
                          <a:latin typeface="Calibri"/>
                        </a:defRPr>
                      </a:pPr>
                      <a:r>
                        <a:t>Faculty_ID</a:t>
                      </a:r>
                    </a:p>
                  </a:txBody>
                  <a:tcPr anchor="ctr">
                    <a:solidFill>
                      <a:srgbClr val="181C24"/>
                    </a:solidFill>
                  </a:tcPr>
                </a:tc>
                <a:tc>
                  <a:txBody>
                    <a:bodyPr/>
                    <a:lstStyle/>
                    <a:p>
                      <a:pPr>
                        <a:defRPr sz="950">
                          <a:solidFill>
                            <a:srgbClr val="A5ACB9"/>
                          </a:solidFill>
                          <a:latin typeface="Calibri"/>
                        </a:defRPr>
                      </a:pPr>
                      <a:r>
                        <a:t>VARCHAR(20)</a:t>
                      </a:r>
                    </a:p>
                  </a:txBody>
                  <a:tcPr anchor="ctr">
                    <a:solidFill>
                      <a:srgbClr val="181C24"/>
                    </a:solidFill>
                  </a:tcPr>
                </a:tc>
                <a:tc>
                  <a:txBody>
                    <a:bodyPr/>
                    <a:lstStyle/>
                    <a:p>
                      <a:pPr>
                        <a:defRPr sz="950">
                          <a:solidFill>
                            <a:srgbClr val="A5ACB9"/>
                          </a:solidFill>
                          <a:latin typeface="Calibri"/>
                        </a:defRPr>
                      </a:pPr>
                      <a:r>
                        <a:t>PRIMARY KEY</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Academic employee identification number</a:t>
                      </a:r>
                    </a:p>
                  </a:txBody>
                  <a:tcPr anchor="ctr">
                    <a:solidFill>
                      <a:srgbClr val="181C24"/>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2 • DATA DICTIONARY</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Data Dictionary: Tracking &amp; Certification Tables</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Data Dictionary</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8" name="TextBox 7"/>
          <p:cNvSpPr txBox="1"/>
          <p:nvPr/>
        </p:nvSpPr>
        <p:spPr>
          <a:xfrm>
            <a:off x="10515600" y="6473952"/>
            <a:ext cx="914400" cy="274320"/>
          </a:xfrm>
          <a:prstGeom prst="rect">
            <a:avLst/>
          </a:prstGeom>
          <a:noFill/>
        </p:spPr>
        <p:txBody>
          <a:bodyPr wrap="none" lIns="0" tIns="0" rIns="0" bIns="0">
            <a:spAutoFit/>
          </a:bodyPr>
          <a:lstStyle/>
          <a:p>
            <a:pPr algn="r">
              <a:defRPr sz="850">
                <a:solidFill>
                  <a:srgbClr val="737A87"/>
                </a:solidFill>
                <a:latin typeface="Calibri"/>
              </a:defRPr>
            </a:pPr>
            <a:r>
              <a:t>16 / 32</a:t>
            </a:r>
          </a:p>
        </p:txBody>
      </p:sp>
      <p:graphicFrame>
        <p:nvGraphicFramePr>
          <p:cNvPr id="9" name="Table 8"/>
          <p:cNvGraphicFramePr>
            <a:graphicFrameLocks noGrp="1"/>
          </p:cNvGraphicFramePr>
          <p:nvPr/>
        </p:nvGraphicFramePr>
        <p:xfrm>
          <a:off x="731520" y="1645920"/>
          <a:ext cx="10728655" cy="45339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2041855">
                  <a:extLst>
                    <a:ext uri="{9D8B030D-6E8A-4147-A177-3AD203B41FA5}">
                      <a16:colId xmlns:a16="http://schemas.microsoft.com/office/drawing/2014/main" val="20005"/>
                    </a:ext>
                  </a:extLst>
                </a:gridCol>
              </a:tblGrid>
              <a:tr h="373380">
                <a:tc>
                  <a:txBody>
                    <a:bodyPr/>
                    <a:lstStyle/>
                    <a:p>
                      <a:pPr>
                        <a:defRPr sz="1000" b="1">
                          <a:solidFill>
                            <a:srgbClr val="E5A93C"/>
                          </a:solidFill>
                          <a:latin typeface="Calibri"/>
                        </a:defRPr>
                      </a:pPr>
                      <a:r>
                        <a:t>Table</a:t>
                      </a:r>
                    </a:p>
                  </a:txBody>
                  <a:tcPr marT="54864" marB="54864" anchor="ctr">
                    <a:solidFill>
                      <a:srgbClr val="222834"/>
                    </a:solidFill>
                  </a:tcPr>
                </a:tc>
                <a:tc>
                  <a:txBody>
                    <a:bodyPr/>
                    <a:lstStyle/>
                    <a:p>
                      <a:pPr>
                        <a:defRPr sz="1000" b="1">
                          <a:solidFill>
                            <a:srgbClr val="E5A93C"/>
                          </a:solidFill>
                          <a:latin typeface="Calibri"/>
                        </a:defRPr>
                      </a:pPr>
                      <a:r>
                        <a:t>Attribute</a:t>
                      </a:r>
                    </a:p>
                  </a:txBody>
                  <a:tcPr marT="54864" marB="54864" anchor="ctr">
                    <a:solidFill>
                      <a:srgbClr val="222834"/>
                    </a:solidFill>
                  </a:tcPr>
                </a:tc>
                <a:tc>
                  <a:txBody>
                    <a:bodyPr/>
                    <a:lstStyle/>
                    <a:p>
                      <a:pPr>
                        <a:defRPr sz="1000" b="1">
                          <a:solidFill>
                            <a:srgbClr val="E5A93C"/>
                          </a:solidFill>
                          <a:latin typeface="Calibri"/>
                        </a:defRPr>
                      </a:pPr>
                      <a:r>
                        <a:t>Data Type</a:t>
                      </a:r>
                    </a:p>
                  </a:txBody>
                  <a:tcPr marT="54864" marB="54864" anchor="ctr">
                    <a:solidFill>
                      <a:srgbClr val="222834"/>
                    </a:solidFill>
                  </a:tcPr>
                </a:tc>
                <a:tc>
                  <a:txBody>
                    <a:bodyPr/>
                    <a:lstStyle/>
                    <a:p>
                      <a:pPr>
                        <a:defRPr sz="1000" b="1">
                          <a:solidFill>
                            <a:srgbClr val="E5A93C"/>
                          </a:solidFill>
                          <a:latin typeface="Calibri"/>
                        </a:defRPr>
                      </a:pPr>
                      <a:r>
                        <a:t>Constraint</a:t>
                      </a:r>
                    </a:p>
                  </a:txBody>
                  <a:tcPr marT="54864" marB="54864" anchor="ctr">
                    <a:solidFill>
                      <a:srgbClr val="222834"/>
                    </a:solidFill>
                  </a:tcPr>
                </a:tc>
                <a:tc>
                  <a:txBody>
                    <a:bodyPr/>
                    <a:lstStyle/>
                    <a:p>
                      <a:pPr>
                        <a:defRPr sz="1000" b="1">
                          <a:solidFill>
                            <a:srgbClr val="E5A93C"/>
                          </a:solidFill>
                          <a:latin typeface="Calibri"/>
                        </a:defRPr>
                      </a:pPr>
                      <a:r>
                        <a:t>Nullable</a:t>
                      </a:r>
                    </a:p>
                  </a:txBody>
                  <a:tcPr marT="54864" marB="54864" anchor="ctr">
                    <a:solidFill>
                      <a:srgbClr val="222834"/>
                    </a:solidFill>
                  </a:tcPr>
                </a:tc>
                <a:tc>
                  <a:txBody>
                    <a:bodyPr/>
                    <a:lstStyle/>
                    <a:p>
                      <a:pPr>
                        <a:defRPr sz="1000" b="1">
                          <a:solidFill>
                            <a:srgbClr val="E5A93C"/>
                          </a:solidFill>
                          <a:latin typeface="Calibri"/>
                        </a:defRPr>
                      </a:pPr>
                      <a:r>
                        <a:t>Description</a:t>
                      </a:r>
                    </a:p>
                  </a:txBody>
                  <a:tcPr marT="54864" marB="54864" anchor="ctr">
                    <a:solidFill>
                      <a:srgbClr val="222834"/>
                    </a:solidFill>
                  </a:tcPr>
                </a:tc>
                <a:extLst>
                  <a:ext uri="{0D108BD9-81ED-4DB2-BD59-A6C34878D82A}">
                    <a16:rowId xmlns:a16="http://schemas.microsoft.com/office/drawing/2014/main" val="10000"/>
                  </a:ext>
                </a:extLst>
              </a:tr>
              <a:tr h="373380">
                <a:tc>
                  <a:txBody>
                    <a:bodyPr/>
                    <a:lstStyle/>
                    <a:p>
                      <a:pPr>
                        <a:defRPr sz="950" b="1">
                          <a:solidFill>
                            <a:srgbClr val="FFFFFF"/>
                          </a:solidFill>
                          <a:latin typeface="Calibri"/>
                        </a:defRPr>
                      </a:pPr>
                      <a:r>
                        <a:t>Company_Supervisors</a:t>
                      </a:r>
                    </a:p>
                  </a:txBody>
                  <a:tcPr anchor="ctr">
                    <a:solidFill>
                      <a:srgbClr val="181C24"/>
                    </a:solidFill>
                  </a:tcPr>
                </a:tc>
                <a:tc>
                  <a:txBody>
                    <a:bodyPr/>
                    <a:lstStyle/>
                    <a:p>
                      <a:pPr>
                        <a:defRPr sz="950">
                          <a:solidFill>
                            <a:srgbClr val="A5ACB9"/>
                          </a:solidFill>
                          <a:latin typeface="Calibri"/>
                        </a:defRPr>
                      </a:pPr>
                      <a:r>
                        <a:t>Supervisor_ID</a:t>
                      </a:r>
                    </a:p>
                  </a:txBody>
                  <a:tcPr anchor="ctr">
                    <a:solidFill>
                      <a:srgbClr val="181C24"/>
                    </a:solidFill>
                  </a:tcPr>
                </a:tc>
                <a:tc>
                  <a:txBody>
                    <a:bodyPr/>
                    <a:lstStyle/>
                    <a:p>
                      <a:pPr>
                        <a:defRPr sz="950">
                          <a:solidFill>
                            <a:srgbClr val="A5ACB9"/>
                          </a:solidFill>
                          <a:latin typeface="Calibri"/>
                        </a:defRPr>
                      </a:pPr>
                      <a:r>
                        <a:t>INT AUTO_INCREMENT</a:t>
                      </a:r>
                    </a:p>
                  </a:txBody>
                  <a:tcPr anchor="ctr">
                    <a:solidFill>
                      <a:srgbClr val="181C24"/>
                    </a:solidFill>
                  </a:tcPr>
                </a:tc>
                <a:tc>
                  <a:txBody>
                    <a:bodyPr/>
                    <a:lstStyle/>
                    <a:p>
                      <a:pPr>
                        <a:defRPr sz="950">
                          <a:solidFill>
                            <a:srgbClr val="A5ACB9"/>
                          </a:solidFill>
                          <a:latin typeface="Calibri"/>
                        </a:defRPr>
                      </a:pPr>
                      <a:r>
                        <a:t>PRIMARY KEY</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Surrogate key for industry guide</a:t>
                      </a:r>
                    </a:p>
                  </a:txBody>
                  <a:tcPr anchor="ctr">
                    <a:solidFill>
                      <a:srgbClr val="181C24"/>
                    </a:solidFill>
                  </a:tcPr>
                </a:tc>
                <a:extLst>
                  <a:ext uri="{0D108BD9-81ED-4DB2-BD59-A6C34878D82A}">
                    <a16:rowId xmlns:a16="http://schemas.microsoft.com/office/drawing/2014/main" val="10001"/>
                  </a:ext>
                </a:extLst>
              </a:tr>
              <a:tr h="373380">
                <a:tc>
                  <a:txBody>
                    <a:bodyPr/>
                    <a:lstStyle/>
                    <a:p>
                      <a:pPr>
                        <a:defRPr sz="950" b="1">
                          <a:solidFill>
                            <a:srgbClr val="FFFFFF"/>
                          </a:solidFill>
                          <a:latin typeface="Calibri"/>
                        </a:defRPr>
                      </a:pPr>
                      <a:r>
                        <a:t>Assignments</a:t>
                      </a:r>
                    </a:p>
                  </a:txBody>
                  <a:tcPr anchor="ctr">
                    <a:solidFill>
                      <a:srgbClr val="13161C"/>
                    </a:solidFill>
                  </a:tcPr>
                </a:tc>
                <a:tc>
                  <a:txBody>
                    <a:bodyPr/>
                    <a:lstStyle/>
                    <a:p>
                      <a:pPr>
                        <a:defRPr sz="950">
                          <a:solidFill>
                            <a:srgbClr val="A5ACB9"/>
                          </a:solidFill>
                          <a:latin typeface="Calibri"/>
                        </a:defRPr>
                      </a:pPr>
                      <a:r>
                        <a:t>Assignment_ID</a:t>
                      </a:r>
                    </a:p>
                  </a:txBody>
                  <a:tcPr anchor="ctr">
                    <a:solidFill>
                      <a:srgbClr val="13161C"/>
                    </a:solidFill>
                  </a:tcPr>
                </a:tc>
                <a:tc>
                  <a:txBody>
                    <a:bodyPr/>
                    <a:lstStyle/>
                    <a:p>
                      <a:pPr>
                        <a:defRPr sz="950">
                          <a:solidFill>
                            <a:srgbClr val="A5ACB9"/>
                          </a:solidFill>
                          <a:latin typeface="Calibri"/>
                        </a:defRPr>
                      </a:pPr>
                      <a:r>
                        <a:t>INT AUTO_INCREMENT</a:t>
                      </a:r>
                    </a:p>
                  </a:txBody>
                  <a:tcPr anchor="ctr">
                    <a:solidFill>
                      <a:srgbClr val="13161C"/>
                    </a:solidFill>
                  </a:tcPr>
                </a:tc>
                <a:tc>
                  <a:txBody>
                    <a:bodyPr/>
                    <a:lstStyle/>
                    <a:p>
                      <a:pPr>
                        <a:defRPr sz="950">
                          <a:solidFill>
                            <a:srgbClr val="A5ACB9"/>
                          </a:solidFill>
                          <a:latin typeface="Calibri"/>
                        </a:defRPr>
                      </a:pPr>
                      <a:r>
                        <a:t>PRIMARY KEY</a:t>
                      </a:r>
                    </a:p>
                  </a:txBody>
                  <a:tcPr anchor="ctr">
                    <a:solidFill>
                      <a:srgbClr val="13161C"/>
                    </a:solidFill>
                  </a:tcPr>
                </a:tc>
                <a:tc>
                  <a:txBody>
                    <a:bodyPr/>
                    <a:lstStyle/>
                    <a:p>
                      <a:pPr>
                        <a:defRPr sz="950">
                          <a:solidFill>
                            <a:srgbClr val="A5ACB9"/>
                          </a:solidFill>
                          <a:latin typeface="Calibri"/>
                        </a:defRPr>
                      </a:pPr>
                      <a:r>
                        <a:t>NO</a:t>
                      </a:r>
                    </a:p>
                  </a:txBody>
                  <a:tcPr anchor="ctr">
                    <a:solidFill>
                      <a:srgbClr val="13161C"/>
                    </a:solidFill>
                  </a:tcPr>
                </a:tc>
                <a:tc>
                  <a:txBody>
                    <a:bodyPr/>
                    <a:lstStyle/>
                    <a:p>
                      <a:pPr>
                        <a:defRPr sz="950">
                          <a:solidFill>
                            <a:srgbClr val="A5ACB9"/>
                          </a:solidFill>
                          <a:latin typeface="Calibri"/>
                        </a:defRPr>
                      </a:pPr>
                      <a:r>
                        <a:t>Core active internship assignment key</a:t>
                      </a:r>
                    </a:p>
                  </a:txBody>
                  <a:tcPr anchor="ctr">
                    <a:solidFill>
                      <a:srgbClr val="13161C"/>
                    </a:solidFill>
                  </a:tcPr>
                </a:tc>
                <a:extLst>
                  <a:ext uri="{0D108BD9-81ED-4DB2-BD59-A6C34878D82A}">
                    <a16:rowId xmlns:a16="http://schemas.microsoft.com/office/drawing/2014/main" val="10002"/>
                  </a:ext>
                </a:extLst>
              </a:tr>
              <a:tr h="373380">
                <a:tc>
                  <a:txBody>
                    <a:bodyPr/>
                    <a:lstStyle/>
                    <a:p>
                      <a:pPr>
                        <a:defRPr sz="950" b="1">
                          <a:solidFill>
                            <a:srgbClr val="FFFFFF"/>
                          </a:solidFill>
                          <a:latin typeface="Calibri"/>
                        </a:defRPr>
                      </a:pPr>
                      <a:r>
                        <a:t>Assignments</a:t>
                      </a:r>
                    </a:p>
                  </a:txBody>
                  <a:tcPr anchor="ctr">
                    <a:solidFill>
                      <a:srgbClr val="181C24"/>
                    </a:solidFill>
                  </a:tcPr>
                </a:tc>
                <a:tc>
                  <a:txBody>
                    <a:bodyPr/>
                    <a:lstStyle/>
                    <a:p>
                      <a:pPr>
                        <a:defRPr sz="950">
                          <a:solidFill>
                            <a:srgbClr val="A5ACB9"/>
                          </a:solidFill>
                          <a:latin typeface="Calibri"/>
                        </a:defRPr>
                      </a:pPr>
                      <a:r>
                        <a:t>Approval_ID</a:t>
                      </a:r>
                    </a:p>
                  </a:txBody>
                  <a:tcPr anchor="ctr">
                    <a:solidFill>
                      <a:srgbClr val="181C24"/>
                    </a:solidFill>
                  </a:tcPr>
                </a:tc>
                <a:tc>
                  <a:txBody>
                    <a:bodyPr/>
                    <a:lstStyle/>
                    <a:p>
                      <a:pPr>
                        <a:defRPr sz="950">
                          <a:solidFill>
                            <a:srgbClr val="A5ACB9"/>
                          </a:solidFill>
                          <a:latin typeface="Calibri"/>
                        </a:defRPr>
                      </a:pPr>
                      <a:r>
                        <a:t>INT</a:t>
                      </a:r>
                    </a:p>
                  </a:txBody>
                  <a:tcPr anchor="ctr">
                    <a:solidFill>
                      <a:srgbClr val="181C24"/>
                    </a:solidFill>
                  </a:tcPr>
                </a:tc>
                <a:tc>
                  <a:txBody>
                    <a:bodyPr/>
                    <a:lstStyle/>
                    <a:p>
                      <a:pPr>
                        <a:defRPr sz="950">
                          <a:solidFill>
                            <a:srgbClr val="A5ACB9"/>
                          </a:solidFill>
                          <a:latin typeface="Calibri"/>
                        </a:defRPr>
                      </a:pPr>
                      <a:r>
                        <a:t>FK, UNIQUE</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1:1 reference to approved application</a:t>
                      </a:r>
                    </a:p>
                  </a:txBody>
                  <a:tcPr anchor="ctr">
                    <a:solidFill>
                      <a:srgbClr val="181C24"/>
                    </a:solidFill>
                  </a:tcPr>
                </a:tc>
                <a:extLst>
                  <a:ext uri="{0D108BD9-81ED-4DB2-BD59-A6C34878D82A}">
                    <a16:rowId xmlns:a16="http://schemas.microsoft.com/office/drawing/2014/main" val="10003"/>
                  </a:ext>
                </a:extLst>
              </a:tr>
              <a:tr h="373380">
                <a:tc>
                  <a:txBody>
                    <a:bodyPr/>
                    <a:lstStyle/>
                    <a:p>
                      <a:pPr>
                        <a:defRPr sz="950" b="1">
                          <a:solidFill>
                            <a:srgbClr val="FFFFFF"/>
                          </a:solidFill>
                          <a:latin typeface="Calibri"/>
                        </a:defRPr>
                      </a:pPr>
                      <a:r>
                        <a:t>Assignments</a:t>
                      </a:r>
                    </a:p>
                  </a:txBody>
                  <a:tcPr anchor="ctr">
                    <a:solidFill>
                      <a:srgbClr val="13161C"/>
                    </a:solidFill>
                  </a:tcPr>
                </a:tc>
                <a:tc>
                  <a:txBody>
                    <a:bodyPr/>
                    <a:lstStyle/>
                    <a:p>
                      <a:pPr>
                        <a:defRPr sz="950">
                          <a:solidFill>
                            <a:srgbClr val="A5ACB9"/>
                          </a:solidFill>
                          <a:latin typeface="Calibri"/>
                        </a:defRPr>
                      </a:pPr>
                      <a:r>
                        <a:t>Start_Date</a:t>
                      </a:r>
                    </a:p>
                  </a:txBody>
                  <a:tcPr anchor="ctr">
                    <a:solidFill>
                      <a:srgbClr val="13161C"/>
                    </a:solidFill>
                  </a:tcPr>
                </a:tc>
                <a:tc>
                  <a:txBody>
                    <a:bodyPr/>
                    <a:lstStyle/>
                    <a:p>
                      <a:pPr>
                        <a:defRPr sz="950">
                          <a:solidFill>
                            <a:srgbClr val="A5ACB9"/>
                          </a:solidFill>
                          <a:latin typeface="Calibri"/>
                        </a:defRPr>
                      </a:pPr>
                      <a:r>
                        <a:t>DATE</a:t>
                      </a:r>
                    </a:p>
                  </a:txBody>
                  <a:tcPr anchor="ctr">
                    <a:solidFill>
                      <a:srgbClr val="13161C"/>
                    </a:solidFill>
                  </a:tcPr>
                </a:tc>
                <a:tc>
                  <a:txBody>
                    <a:bodyPr/>
                    <a:lstStyle/>
                    <a:p>
                      <a:pPr>
                        <a:defRPr sz="950">
                          <a:solidFill>
                            <a:srgbClr val="A5ACB9"/>
                          </a:solidFill>
                          <a:latin typeface="Calibri"/>
                        </a:defRPr>
                      </a:pPr>
                      <a:r>
                        <a:t>NOT NULL</a:t>
                      </a:r>
                    </a:p>
                  </a:txBody>
                  <a:tcPr anchor="ctr">
                    <a:solidFill>
                      <a:srgbClr val="13161C"/>
                    </a:solidFill>
                  </a:tcPr>
                </a:tc>
                <a:tc>
                  <a:txBody>
                    <a:bodyPr/>
                    <a:lstStyle/>
                    <a:p>
                      <a:pPr>
                        <a:defRPr sz="950">
                          <a:solidFill>
                            <a:srgbClr val="A5ACB9"/>
                          </a:solidFill>
                          <a:latin typeface="Calibri"/>
                        </a:defRPr>
                      </a:pPr>
                      <a:r>
                        <a:t>NO</a:t>
                      </a:r>
                    </a:p>
                  </a:txBody>
                  <a:tcPr anchor="ctr">
                    <a:solidFill>
                      <a:srgbClr val="13161C"/>
                    </a:solidFill>
                  </a:tcPr>
                </a:tc>
                <a:tc>
                  <a:txBody>
                    <a:bodyPr/>
                    <a:lstStyle/>
                    <a:p>
                      <a:pPr>
                        <a:defRPr sz="950">
                          <a:solidFill>
                            <a:srgbClr val="A5ACB9"/>
                          </a:solidFill>
                          <a:latin typeface="Calibri"/>
                        </a:defRPr>
                      </a:pPr>
                      <a:r>
                        <a:t>Internship contract commencement date</a:t>
                      </a:r>
                    </a:p>
                  </a:txBody>
                  <a:tcPr anchor="ctr">
                    <a:solidFill>
                      <a:srgbClr val="13161C"/>
                    </a:solidFill>
                  </a:tcPr>
                </a:tc>
                <a:extLst>
                  <a:ext uri="{0D108BD9-81ED-4DB2-BD59-A6C34878D82A}">
                    <a16:rowId xmlns:a16="http://schemas.microsoft.com/office/drawing/2014/main" val="10004"/>
                  </a:ext>
                </a:extLst>
              </a:tr>
              <a:tr h="373380">
                <a:tc>
                  <a:txBody>
                    <a:bodyPr/>
                    <a:lstStyle/>
                    <a:p>
                      <a:pPr>
                        <a:defRPr sz="950" b="1">
                          <a:solidFill>
                            <a:srgbClr val="FFFFFF"/>
                          </a:solidFill>
                          <a:latin typeface="Calibri"/>
                        </a:defRPr>
                      </a:pPr>
                      <a:r>
                        <a:t>Assignments</a:t>
                      </a:r>
                    </a:p>
                  </a:txBody>
                  <a:tcPr anchor="ctr">
                    <a:solidFill>
                      <a:srgbClr val="181C24"/>
                    </a:solidFill>
                  </a:tcPr>
                </a:tc>
                <a:tc>
                  <a:txBody>
                    <a:bodyPr/>
                    <a:lstStyle/>
                    <a:p>
                      <a:pPr>
                        <a:defRPr sz="950">
                          <a:solidFill>
                            <a:srgbClr val="A5ACB9"/>
                          </a:solidFill>
                          <a:latin typeface="Calibri"/>
                        </a:defRPr>
                      </a:pPr>
                      <a:r>
                        <a:t>End_Date</a:t>
                      </a:r>
                    </a:p>
                  </a:txBody>
                  <a:tcPr anchor="ctr">
                    <a:solidFill>
                      <a:srgbClr val="181C24"/>
                    </a:solidFill>
                  </a:tcPr>
                </a:tc>
                <a:tc>
                  <a:txBody>
                    <a:bodyPr/>
                    <a:lstStyle/>
                    <a:p>
                      <a:pPr>
                        <a:defRPr sz="950">
                          <a:solidFill>
                            <a:srgbClr val="A5ACB9"/>
                          </a:solidFill>
                          <a:latin typeface="Calibri"/>
                        </a:defRPr>
                      </a:pPr>
                      <a:r>
                        <a:t>DATE</a:t>
                      </a:r>
                    </a:p>
                  </a:txBody>
                  <a:tcPr anchor="ctr">
                    <a:solidFill>
                      <a:srgbClr val="181C24"/>
                    </a:solidFill>
                  </a:tcPr>
                </a:tc>
                <a:tc>
                  <a:txBody>
                    <a:bodyPr/>
                    <a:lstStyle/>
                    <a:p>
                      <a:pPr>
                        <a:defRPr sz="950">
                          <a:solidFill>
                            <a:srgbClr val="A5ACB9"/>
                          </a:solidFill>
                          <a:latin typeface="Calibri"/>
                        </a:defRPr>
                      </a:pPr>
                      <a:r>
                        <a:t>NOT NULL</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Internship contract conclusion date</a:t>
                      </a:r>
                    </a:p>
                  </a:txBody>
                  <a:tcPr anchor="ctr">
                    <a:solidFill>
                      <a:srgbClr val="181C24"/>
                    </a:solidFill>
                  </a:tcPr>
                </a:tc>
                <a:extLst>
                  <a:ext uri="{0D108BD9-81ED-4DB2-BD59-A6C34878D82A}">
                    <a16:rowId xmlns:a16="http://schemas.microsoft.com/office/drawing/2014/main" val="10005"/>
                  </a:ext>
                </a:extLst>
              </a:tr>
              <a:tr h="373380">
                <a:tc>
                  <a:txBody>
                    <a:bodyPr/>
                    <a:lstStyle/>
                    <a:p>
                      <a:pPr>
                        <a:defRPr sz="950" b="1">
                          <a:solidFill>
                            <a:srgbClr val="FFFFFF"/>
                          </a:solidFill>
                          <a:latin typeface="Calibri"/>
                        </a:defRPr>
                      </a:pPr>
                      <a:r>
                        <a:t>Weekly_Logs</a:t>
                      </a:r>
                    </a:p>
                  </a:txBody>
                  <a:tcPr anchor="ctr">
                    <a:solidFill>
                      <a:srgbClr val="13161C"/>
                    </a:solidFill>
                  </a:tcPr>
                </a:tc>
                <a:tc>
                  <a:txBody>
                    <a:bodyPr/>
                    <a:lstStyle/>
                    <a:p>
                      <a:pPr>
                        <a:defRPr sz="950">
                          <a:solidFill>
                            <a:srgbClr val="A5ACB9"/>
                          </a:solidFill>
                          <a:latin typeface="Calibri"/>
                        </a:defRPr>
                      </a:pPr>
                      <a:r>
                        <a:t>Log_ID</a:t>
                      </a:r>
                    </a:p>
                  </a:txBody>
                  <a:tcPr anchor="ctr">
                    <a:solidFill>
                      <a:srgbClr val="13161C"/>
                    </a:solidFill>
                  </a:tcPr>
                </a:tc>
                <a:tc>
                  <a:txBody>
                    <a:bodyPr/>
                    <a:lstStyle/>
                    <a:p>
                      <a:pPr>
                        <a:defRPr sz="950">
                          <a:solidFill>
                            <a:srgbClr val="A5ACB9"/>
                          </a:solidFill>
                          <a:latin typeface="Calibri"/>
                        </a:defRPr>
                      </a:pPr>
                      <a:r>
                        <a:t>INT AUTO_INCREMENT</a:t>
                      </a:r>
                    </a:p>
                  </a:txBody>
                  <a:tcPr anchor="ctr">
                    <a:solidFill>
                      <a:srgbClr val="13161C"/>
                    </a:solidFill>
                  </a:tcPr>
                </a:tc>
                <a:tc>
                  <a:txBody>
                    <a:bodyPr/>
                    <a:lstStyle/>
                    <a:p>
                      <a:pPr>
                        <a:defRPr sz="950">
                          <a:solidFill>
                            <a:srgbClr val="A5ACB9"/>
                          </a:solidFill>
                          <a:latin typeface="Calibri"/>
                        </a:defRPr>
                      </a:pPr>
                      <a:r>
                        <a:t>PRIMARY KEY</a:t>
                      </a:r>
                    </a:p>
                  </a:txBody>
                  <a:tcPr anchor="ctr">
                    <a:solidFill>
                      <a:srgbClr val="13161C"/>
                    </a:solidFill>
                  </a:tcPr>
                </a:tc>
                <a:tc>
                  <a:txBody>
                    <a:bodyPr/>
                    <a:lstStyle/>
                    <a:p>
                      <a:pPr>
                        <a:defRPr sz="950">
                          <a:solidFill>
                            <a:srgbClr val="A5ACB9"/>
                          </a:solidFill>
                          <a:latin typeface="Calibri"/>
                        </a:defRPr>
                      </a:pPr>
                      <a:r>
                        <a:t>NO</a:t>
                      </a:r>
                    </a:p>
                  </a:txBody>
                  <a:tcPr anchor="ctr">
                    <a:solidFill>
                      <a:srgbClr val="13161C"/>
                    </a:solidFill>
                  </a:tcPr>
                </a:tc>
                <a:tc>
                  <a:txBody>
                    <a:bodyPr/>
                    <a:lstStyle/>
                    <a:p>
                      <a:pPr>
                        <a:defRPr sz="950">
                          <a:solidFill>
                            <a:srgbClr val="A5ACB9"/>
                          </a:solidFill>
                          <a:latin typeface="Calibri"/>
                        </a:defRPr>
                      </a:pPr>
                      <a:r>
                        <a:t>Weekly student submission tracking key</a:t>
                      </a:r>
                    </a:p>
                  </a:txBody>
                  <a:tcPr anchor="ctr">
                    <a:solidFill>
                      <a:srgbClr val="13161C"/>
                    </a:solidFill>
                  </a:tcPr>
                </a:tc>
                <a:extLst>
                  <a:ext uri="{0D108BD9-81ED-4DB2-BD59-A6C34878D82A}">
                    <a16:rowId xmlns:a16="http://schemas.microsoft.com/office/drawing/2014/main" val="10006"/>
                  </a:ext>
                </a:extLst>
              </a:tr>
              <a:tr h="373380">
                <a:tc>
                  <a:txBody>
                    <a:bodyPr/>
                    <a:lstStyle/>
                    <a:p>
                      <a:pPr>
                        <a:defRPr sz="950" b="1">
                          <a:solidFill>
                            <a:srgbClr val="FFFFFF"/>
                          </a:solidFill>
                          <a:latin typeface="Calibri"/>
                        </a:defRPr>
                      </a:pPr>
                      <a:r>
                        <a:t>Weekly_Logs</a:t>
                      </a:r>
                    </a:p>
                  </a:txBody>
                  <a:tcPr anchor="ctr">
                    <a:solidFill>
                      <a:srgbClr val="181C24"/>
                    </a:solidFill>
                  </a:tcPr>
                </a:tc>
                <a:tc>
                  <a:txBody>
                    <a:bodyPr/>
                    <a:lstStyle/>
                    <a:p>
                      <a:pPr>
                        <a:defRPr sz="950">
                          <a:solidFill>
                            <a:srgbClr val="A5ACB9"/>
                          </a:solidFill>
                          <a:latin typeface="Calibri"/>
                        </a:defRPr>
                      </a:pPr>
                      <a:r>
                        <a:t>Week_Number</a:t>
                      </a:r>
                    </a:p>
                  </a:txBody>
                  <a:tcPr anchor="ctr">
                    <a:solidFill>
                      <a:srgbClr val="181C24"/>
                    </a:solidFill>
                  </a:tcPr>
                </a:tc>
                <a:tc>
                  <a:txBody>
                    <a:bodyPr/>
                    <a:lstStyle/>
                    <a:p>
                      <a:pPr>
                        <a:defRPr sz="950">
                          <a:solidFill>
                            <a:srgbClr val="A5ACB9"/>
                          </a:solidFill>
                          <a:latin typeface="Calibri"/>
                        </a:defRPr>
                      </a:pPr>
                      <a:r>
                        <a:t>INT</a:t>
                      </a:r>
                    </a:p>
                  </a:txBody>
                  <a:tcPr anchor="ctr">
                    <a:solidFill>
                      <a:srgbClr val="181C24"/>
                    </a:solidFill>
                  </a:tcPr>
                </a:tc>
                <a:tc>
                  <a:txBody>
                    <a:bodyPr/>
                    <a:lstStyle/>
                    <a:p>
                      <a:pPr>
                        <a:defRPr sz="950">
                          <a:solidFill>
                            <a:srgbClr val="A5ACB9"/>
                          </a:solidFill>
                          <a:latin typeface="Calibri"/>
                        </a:defRPr>
                      </a:pPr>
                      <a:r>
                        <a:t>CHECK(Week_Number&gt;0)</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Chronological week sequence (1, 2, ... N)</a:t>
                      </a:r>
                    </a:p>
                  </a:txBody>
                  <a:tcPr anchor="ctr">
                    <a:solidFill>
                      <a:srgbClr val="181C24"/>
                    </a:solidFill>
                  </a:tcPr>
                </a:tc>
                <a:extLst>
                  <a:ext uri="{0D108BD9-81ED-4DB2-BD59-A6C34878D82A}">
                    <a16:rowId xmlns:a16="http://schemas.microsoft.com/office/drawing/2014/main" val="10007"/>
                  </a:ext>
                </a:extLst>
              </a:tr>
              <a:tr h="373380">
                <a:tc>
                  <a:txBody>
                    <a:bodyPr/>
                    <a:lstStyle/>
                    <a:p>
                      <a:pPr>
                        <a:defRPr sz="950" b="1">
                          <a:solidFill>
                            <a:srgbClr val="FFFFFF"/>
                          </a:solidFill>
                          <a:latin typeface="Calibri"/>
                        </a:defRPr>
                      </a:pPr>
                      <a:r>
                        <a:t>Evaluations</a:t>
                      </a:r>
                    </a:p>
                  </a:txBody>
                  <a:tcPr anchor="ctr">
                    <a:solidFill>
                      <a:srgbClr val="13161C"/>
                    </a:solidFill>
                  </a:tcPr>
                </a:tc>
                <a:tc>
                  <a:txBody>
                    <a:bodyPr/>
                    <a:lstStyle/>
                    <a:p>
                      <a:pPr>
                        <a:defRPr sz="950">
                          <a:solidFill>
                            <a:srgbClr val="A5ACB9"/>
                          </a:solidFill>
                          <a:latin typeface="Calibri"/>
                        </a:defRPr>
                      </a:pPr>
                      <a:r>
                        <a:t>Score</a:t>
                      </a:r>
                    </a:p>
                  </a:txBody>
                  <a:tcPr anchor="ctr">
                    <a:solidFill>
                      <a:srgbClr val="13161C"/>
                    </a:solidFill>
                  </a:tcPr>
                </a:tc>
                <a:tc>
                  <a:txBody>
                    <a:bodyPr/>
                    <a:lstStyle/>
                    <a:p>
                      <a:pPr>
                        <a:defRPr sz="950">
                          <a:solidFill>
                            <a:srgbClr val="A5ACB9"/>
                          </a:solidFill>
                          <a:latin typeface="Calibri"/>
                        </a:defRPr>
                      </a:pPr>
                      <a:r>
                        <a:t>DECIMAL(5,2)</a:t>
                      </a:r>
                    </a:p>
                  </a:txBody>
                  <a:tcPr anchor="ctr">
                    <a:solidFill>
                      <a:srgbClr val="13161C"/>
                    </a:solidFill>
                  </a:tcPr>
                </a:tc>
                <a:tc>
                  <a:txBody>
                    <a:bodyPr/>
                    <a:lstStyle/>
                    <a:p>
                      <a:pPr>
                        <a:defRPr sz="950">
                          <a:solidFill>
                            <a:srgbClr val="A5ACB9"/>
                          </a:solidFill>
                          <a:latin typeface="Calibri"/>
                        </a:defRPr>
                      </a:pPr>
                      <a:r>
                        <a:t>CHECK(Score BETWEEN 0 AND 100)</a:t>
                      </a:r>
                    </a:p>
                  </a:txBody>
                  <a:tcPr anchor="ctr">
                    <a:solidFill>
                      <a:srgbClr val="13161C"/>
                    </a:solidFill>
                  </a:tcPr>
                </a:tc>
                <a:tc>
                  <a:txBody>
                    <a:bodyPr/>
                    <a:lstStyle/>
                    <a:p>
                      <a:pPr>
                        <a:defRPr sz="950">
                          <a:solidFill>
                            <a:srgbClr val="A5ACB9"/>
                          </a:solidFill>
                          <a:latin typeface="Calibri"/>
                        </a:defRPr>
                      </a:pPr>
                      <a:r>
                        <a:t>NO</a:t>
                      </a:r>
                    </a:p>
                  </a:txBody>
                  <a:tcPr anchor="ctr">
                    <a:solidFill>
                      <a:srgbClr val="13161C"/>
                    </a:solidFill>
                  </a:tcPr>
                </a:tc>
                <a:tc>
                  <a:txBody>
                    <a:bodyPr/>
                    <a:lstStyle/>
                    <a:p>
                      <a:pPr>
                        <a:defRPr sz="950">
                          <a:solidFill>
                            <a:srgbClr val="A5ACB9"/>
                          </a:solidFill>
                          <a:latin typeface="Calibri"/>
                        </a:defRPr>
                      </a:pPr>
                      <a:r>
                        <a:t>Cumulative score evaluated by supervisor</a:t>
                      </a:r>
                    </a:p>
                  </a:txBody>
                  <a:tcPr anchor="ctr">
                    <a:solidFill>
                      <a:srgbClr val="13161C"/>
                    </a:solidFill>
                  </a:tcPr>
                </a:tc>
                <a:extLst>
                  <a:ext uri="{0D108BD9-81ED-4DB2-BD59-A6C34878D82A}">
                    <a16:rowId xmlns:a16="http://schemas.microsoft.com/office/drawing/2014/main" val="10008"/>
                  </a:ext>
                </a:extLst>
              </a:tr>
              <a:tr h="373380">
                <a:tc>
                  <a:txBody>
                    <a:bodyPr/>
                    <a:lstStyle/>
                    <a:p>
                      <a:pPr>
                        <a:defRPr sz="950" b="1">
                          <a:solidFill>
                            <a:srgbClr val="FFFFFF"/>
                          </a:solidFill>
                          <a:latin typeface="Calibri"/>
                        </a:defRPr>
                      </a:pPr>
                      <a:r>
                        <a:t>Certificates</a:t>
                      </a:r>
                    </a:p>
                  </a:txBody>
                  <a:tcPr anchor="ctr">
                    <a:solidFill>
                      <a:srgbClr val="181C24"/>
                    </a:solidFill>
                  </a:tcPr>
                </a:tc>
                <a:tc>
                  <a:txBody>
                    <a:bodyPr/>
                    <a:lstStyle/>
                    <a:p>
                      <a:pPr>
                        <a:defRPr sz="950">
                          <a:solidFill>
                            <a:srgbClr val="A5ACB9"/>
                          </a:solidFill>
                          <a:latin typeface="Calibri"/>
                        </a:defRPr>
                      </a:pPr>
                      <a:r>
                        <a:t>Cert_ID</a:t>
                      </a:r>
                    </a:p>
                  </a:txBody>
                  <a:tcPr anchor="ctr">
                    <a:solidFill>
                      <a:srgbClr val="181C24"/>
                    </a:solidFill>
                  </a:tcPr>
                </a:tc>
                <a:tc>
                  <a:txBody>
                    <a:bodyPr/>
                    <a:lstStyle/>
                    <a:p>
                      <a:pPr>
                        <a:defRPr sz="950">
                          <a:solidFill>
                            <a:srgbClr val="A5ACB9"/>
                          </a:solidFill>
                          <a:latin typeface="Calibri"/>
                        </a:defRPr>
                      </a:pPr>
                      <a:r>
                        <a:t>INT AUTO_INCREMENT</a:t>
                      </a:r>
                    </a:p>
                  </a:txBody>
                  <a:tcPr anchor="ctr">
                    <a:solidFill>
                      <a:srgbClr val="181C24"/>
                    </a:solidFill>
                  </a:tcPr>
                </a:tc>
                <a:tc>
                  <a:txBody>
                    <a:bodyPr/>
                    <a:lstStyle/>
                    <a:p>
                      <a:pPr>
                        <a:defRPr sz="950">
                          <a:solidFill>
                            <a:srgbClr val="A5ACB9"/>
                          </a:solidFill>
                          <a:latin typeface="Calibri"/>
                        </a:defRPr>
                      </a:pPr>
                      <a:r>
                        <a:t>PRIMARY KEY</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Official completion certificate identifier</a:t>
                      </a:r>
                    </a:p>
                  </a:txBody>
                  <a:tcPr anchor="ctr">
                    <a:solidFill>
                      <a:srgbClr val="181C24"/>
                    </a:solidFill>
                  </a:tcPr>
                </a:tc>
                <a:extLst>
                  <a:ext uri="{0D108BD9-81ED-4DB2-BD59-A6C34878D82A}">
                    <a16:rowId xmlns:a16="http://schemas.microsoft.com/office/drawing/2014/main" val="10009"/>
                  </a:ext>
                </a:extLst>
              </a:tr>
              <a:tr h="373380">
                <a:tc>
                  <a:txBody>
                    <a:bodyPr/>
                    <a:lstStyle/>
                    <a:p>
                      <a:pPr>
                        <a:defRPr sz="950" b="1">
                          <a:solidFill>
                            <a:srgbClr val="FFFFFF"/>
                          </a:solidFill>
                          <a:latin typeface="Calibri"/>
                        </a:defRPr>
                      </a:pPr>
                      <a:r>
                        <a:t>Certificates</a:t>
                      </a:r>
                    </a:p>
                  </a:txBody>
                  <a:tcPr anchor="ctr">
                    <a:solidFill>
                      <a:srgbClr val="13161C"/>
                    </a:solidFill>
                  </a:tcPr>
                </a:tc>
                <a:tc>
                  <a:txBody>
                    <a:bodyPr/>
                    <a:lstStyle/>
                    <a:p>
                      <a:pPr>
                        <a:defRPr sz="950">
                          <a:solidFill>
                            <a:srgbClr val="A5ACB9"/>
                          </a:solidFill>
                          <a:latin typeface="Calibri"/>
                        </a:defRPr>
                      </a:pPr>
                      <a:r>
                        <a:t>Verification_Code</a:t>
                      </a:r>
                    </a:p>
                  </a:txBody>
                  <a:tcPr anchor="ctr">
                    <a:solidFill>
                      <a:srgbClr val="13161C"/>
                    </a:solidFill>
                  </a:tcPr>
                </a:tc>
                <a:tc>
                  <a:txBody>
                    <a:bodyPr/>
                    <a:lstStyle/>
                    <a:p>
                      <a:pPr>
                        <a:defRPr sz="950">
                          <a:solidFill>
                            <a:srgbClr val="A5ACB9"/>
                          </a:solidFill>
                          <a:latin typeface="Calibri"/>
                        </a:defRPr>
                      </a:pPr>
                      <a:r>
                        <a:t>VARCHAR(64)</a:t>
                      </a:r>
                    </a:p>
                  </a:txBody>
                  <a:tcPr anchor="ctr">
                    <a:solidFill>
                      <a:srgbClr val="13161C"/>
                    </a:solidFill>
                  </a:tcPr>
                </a:tc>
                <a:tc>
                  <a:txBody>
                    <a:bodyPr/>
                    <a:lstStyle/>
                    <a:p>
                      <a:pPr>
                        <a:defRPr sz="950">
                          <a:solidFill>
                            <a:srgbClr val="A5ACB9"/>
                          </a:solidFill>
                          <a:latin typeface="Calibri"/>
                        </a:defRPr>
                      </a:pPr>
                      <a:r>
                        <a:t>UNIQUE, NOT NULL</a:t>
                      </a:r>
                    </a:p>
                  </a:txBody>
                  <a:tcPr anchor="ctr">
                    <a:solidFill>
                      <a:srgbClr val="13161C"/>
                    </a:solidFill>
                  </a:tcPr>
                </a:tc>
                <a:tc>
                  <a:txBody>
                    <a:bodyPr/>
                    <a:lstStyle/>
                    <a:p>
                      <a:pPr>
                        <a:defRPr sz="950">
                          <a:solidFill>
                            <a:srgbClr val="A5ACB9"/>
                          </a:solidFill>
                          <a:latin typeface="Calibri"/>
                        </a:defRPr>
                      </a:pPr>
                      <a:r>
                        <a:t>NO</a:t>
                      </a:r>
                    </a:p>
                  </a:txBody>
                  <a:tcPr anchor="ctr">
                    <a:solidFill>
                      <a:srgbClr val="13161C"/>
                    </a:solidFill>
                  </a:tcPr>
                </a:tc>
                <a:tc>
                  <a:txBody>
                    <a:bodyPr/>
                    <a:lstStyle/>
                    <a:p>
                      <a:pPr>
                        <a:defRPr sz="950">
                          <a:solidFill>
                            <a:srgbClr val="A5ACB9"/>
                          </a:solidFill>
                          <a:latin typeface="Calibri"/>
                        </a:defRPr>
                      </a:pPr>
                      <a:r>
                        <a:t>Cryptographic alphanumeric verification hash</a:t>
                      </a:r>
                    </a:p>
                  </a:txBody>
                  <a:tcPr anchor="ctr">
                    <a:solidFill>
                      <a:srgbClr val="13161C"/>
                    </a:solidFill>
                  </a:tcPr>
                </a:tc>
                <a:extLst>
                  <a:ext uri="{0D108BD9-81ED-4DB2-BD59-A6C34878D82A}">
                    <a16:rowId xmlns:a16="http://schemas.microsoft.com/office/drawing/2014/main" val="10010"/>
                  </a:ext>
                </a:extLst>
              </a:tr>
              <a:tr h="373380">
                <a:tc>
                  <a:txBody>
                    <a:bodyPr/>
                    <a:lstStyle/>
                    <a:p>
                      <a:pPr>
                        <a:defRPr sz="950" b="1">
                          <a:solidFill>
                            <a:srgbClr val="FFFFFF"/>
                          </a:solidFill>
                          <a:latin typeface="Calibri"/>
                        </a:defRPr>
                      </a:pPr>
                      <a:r>
                        <a:t>Feedback</a:t>
                      </a:r>
                    </a:p>
                  </a:txBody>
                  <a:tcPr anchor="ctr">
                    <a:solidFill>
                      <a:srgbClr val="181C24"/>
                    </a:solidFill>
                  </a:tcPr>
                </a:tc>
                <a:tc>
                  <a:txBody>
                    <a:bodyPr/>
                    <a:lstStyle/>
                    <a:p>
                      <a:pPr>
                        <a:defRPr sz="950">
                          <a:solidFill>
                            <a:srgbClr val="A5ACB9"/>
                          </a:solidFill>
                          <a:latin typeface="Calibri"/>
                        </a:defRPr>
                      </a:pPr>
                      <a:r>
                        <a:t>Feedback_ID</a:t>
                      </a:r>
                    </a:p>
                  </a:txBody>
                  <a:tcPr anchor="ctr">
                    <a:solidFill>
                      <a:srgbClr val="181C24"/>
                    </a:solidFill>
                  </a:tcPr>
                </a:tc>
                <a:tc>
                  <a:txBody>
                    <a:bodyPr/>
                    <a:lstStyle/>
                    <a:p>
                      <a:pPr>
                        <a:defRPr sz="950">
                          <a:solidFill>
                            <a:srgbClr val="A5ACB9"/>
                          </a:solidFill>
                          <a:latin typeface="Calibri"/>
                        </a:defRPr>
                      </a:pPr>
                      <a:r>
                        <a:t>INT AUTO_INCREMENT</a:t>
                      </a:r>
                    </a:p>
                  </a:txBody>
                  <a:tcPr anchor="ctr">
                    <a:solidFill>
                      <a:srgbClr val="181C24"/>
                    </a:solidFill>
                  </a:tcPr>
                </a:tc>
                <a:tc>
                  <a:txBody>
                    <a:bodyPr/>
                    <a:lstStyle/>
                    <a:p>
                      <a:pPr>
                        <a:defRPr sz="950">
                          <a:solidFill>
                            <a:srgbClr val="A5ACB9"/>
                          </a:solidFill>
                          <a:latin typeface="Calibri"/>
                        </a:defRPr>
                      </a:pPr>
                      <a:r>
                        <a:t>PRIMARY KEY</a:t>
                      </a:r>
                    </a:p>
                  </a:txBody>
                  <a:tcPr anchor="ctr">
                    <a:solidFill>
                      <a:srgbClr val="181C24"/>
                    </a:solidFill>
                  </a:tcPr>
                </a:tc>
                <a:tc>
                  <a:txBody>
                    <a:bodyPr/>
                    <a:lstStyle/>
                    <a:p>
                      <a:pPr>
                        <a:defRPr sz="950">
                          <a:solidFill>
                            <a:srgbClr val="A5ACB9"/>
                          </a:solidFill>
                          <a:latin typeface="Calibri"/>
                        </a:defRPr>
                      </a:pPr>
                      <a:r>
                        <a:t>NO</a:t>
                      </a:r>
                    </a:p>
                  </a:txBody>
                  <a:tcPr anchor="ctr">
                    <a:solidFill>
                      <a:srgbClr val="181C24"/>
                    </a:solidFill>
                  </a:tcPr>
                </a:tc>
                <a:tc>
                  <a:txBody>
                    <a:bodyPr/>
                    <a:lstStyle/>
                    <a:p>
                      <a:pPr>
                        <a:defRPr sz="950">
                          <a:solidFill>
                            <a:srgbClr val="A5ACB9"/>
                          </a:solidFill>
                          <a:latin typeface="Calibri"/>
                        </a:defRPr>
                      </a:pPr>
                      <a:r>
                        <a:t>Stakeholder qualitative feedback record</a:t>
                      </a:r>
                    </a:p>
                  </a:txBody>
                  <a:tcPr anchor="ctr">
                    <a:solidFill>
                      <a:srgbClr val="181C24"/>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2 • INTEGRITY CONSTRAINTS</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Five Mandated Business Rules &amp; Integrity Constraints</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Integrity Constraints</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8" name="TextBox 7"/>
          <p:cNvSpPr txBox="1"/>
          <p:nvPr/>
        </p:nvSpPr>
        <p:spPr>
          <a:xfrm>
            <a:off x="10515600" y="6473952"/>
            <a:ext cx="914400" cy="274320"/>
          </a:xfrm>
          <a:prstGeom prst="rect">
            <a:avLst/>
          </a:prstGeom>
          <a:noFill/>
        </p:spPr>
        <p:txBody>
          <a:bodyPr wrap="none" lIns="0" tIns="0" rIns="0" bIns="0">
            <a:spAutoFit/>
          </a:bodyPr>
          <a:lstStyle/>
          <a:p>
            <a:pPr algn="r">
              <a:defRPr sz="850">
                <a:solidFill>
                  <a:srgbClr val="737A87"/>
                </a:solidFill>
                <a:latin typeface="Calibri"/>
              </a:defRPr>
            </a:pPr>
            <a:r>
              <a:t>17 / 32</a:t>
            </a:r>
          </a:p>
        </p:txBody>
      </p:sp>
      <p:graphicFrame>
        <p:nvGraphicFramePr>
          <p:cNvPr id="9" name="Table 8"/>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4693615">
                  <a:extLst>
                    <a:ext uri="{9D8B030D-6E8A-4147-A177-3AD203B41FA5}">
                      <a16:colId xmlns:a16="http://schemas.microsoft.com/office/drawing/2014/main" val="20003"/>
                    </a:ext>
                  </a:extLst>
                </a:gridCol>
              </a:tblGrid>
              <a:tr h="746760">
                <a:tc>
                  <a:txBody>
                    <a:bodyPr/>
                    <a:lstStyle/>
                    <a:p>
                      <a:pPr>
                        <a:defRPr sz="1000" b="1">
                          <a:solidFill>
                            <a:srgbClr val="E5A93C"/>
                          </a:solidFill>
                          <a:latin typeface="Calibri"/>
                        </a:defRPr>
                      </a:pPr>
                      <a:r>
                        <a:t>No.</a:t>
                      </a:r>
                    </a:p>
                  </a:txBody>
                  <a:tcPr marT="54864" marB="54864" anchor="ctr">
                    <a:solidFill>
                      <a:srgbClr val="222834"/>
                    </a:solidFill>
                  </a:tcPr>
                </a:tc>
                <a:tc>
                  <a:txBody>
                    <a:bodyPr/>
                    <a:lstStyle/>
                    <a:p>
                      <a:pPr>
                        <a:defRPr sz="1000" b="1">
                          <a:solidFill>
                            <a:srgbClr val="E5A93C"/>
                          </a:solidFill>
                          <a:latin typeface="Calibri"/>
                        </a:defRPr>
                      </a:pPr>
                      <a:r>
                        <a:t>Mandated Business Rule</a:t>
                      </a:r>
                    </a:p>
                  </a:txBody>
                  <a:tcPr marT="54864" marB="54864" anchor="ctr">
                    <a:solidFill>
                      <a:srgbClr val="222834"/>
                    </a:solidFill>
                  </a:tcPr>
                </a:tc>
                <a:tc>
                  <a:txBody>
                    <a:bodyPr/>
                    <a:lstStyle/>
                    <a:p>
                      <a:pPr>
                        <a:defRPr sz="1000" b="1">
                          <a:solidFill>
                            <a:srgbClr val="E5A93C"/>
                          </a:solidFill>
                          <a:latin typeface="Calibri"/>
                        </a:defRPr>
                      </a:pPr>
                      <a:r>
                        <a:t>Integrity Enforcement Mechanism</a:t>
                      </a:r>
                    </a:p>
                  </a:txBody>
                  <a:tcPr marT="54864" marB="54864" anchor="ctr">
                    <a:solidFill>
                      <a:srgbClr val="222834"/>
                    </a:solidFill>
                  </a:tcPr>
                </a:tc>
                <a:tc>
                  <a:txBody>
                    <a:bodyPr/>
                    <a:lstStyle/>
                    <a:p>
                      <a:pPr>
                        <a:defRPr sz="1000" b="1">
                          <a:solidFill>
                            <a:srgbClr val="E5A93C"/>
                          </a:solidFill>
                          <a:latin typeface="Calibri"/>
                        </a:defRPr>
                      </a:pPr>
                      <a:r>
                        <a:t>Relational &amp; SQL Implementation</a:t>
                      </a:r>
                    </a:p>
                  </a:txBody>
                  <a:tcPr marT="54864" marB="54864" anchor="ctr">
                    <a:solidFill>
                      <a:srgbClr val="222834"/>
                    </a:solidFill>
                  </a:tcPr>
                </a:tc>
                <a:extLst>
                  <a:ext uri="{0D108BD9-81ED-4DB2-BD59-A6C34878D82A}">
                    <a16:rowId xmlns:a16="http://schemas.microsoft.com/office/drawing/2014/main" val="10000"/>
                  </a:ext>
                </a:extLst>
              </a:tr>
              <a:tr h="746760">
                <a:tc>
                  <a:txBody>
                    <a:bodyPr/>
                    <a:lstStyle/>
                    <a:p>
                      <a:pPr>
                        <a:defRPr sz="950" b="1">
                          <a:solidFill>
                            <a:srgbClr val="FFFFFF"/>
                          </a:solidFill>
                          <a:latin typeface="Calibri"/>
                        </a:defRPr>
                      </a:pPr>
                      <a:r>
                        <a:t>1</a:t>
                      </a:r>
                    </a:p>
                  </a:txBody>
                  <a:tcPr anchor="ctr">
                    <a:solidFill>
                      <a:srgbClr val="181C24"/>
                    </a:solidFill>
                  </a:tcPr>
                </a:tc>
                <a:tc>
                  <a:txBody>
                    <a:bodyPr/>
                    <a:lstStyle/>
                    <a:p>
                      <a:pPr>
                        <a:defRPr sz="950">
                          <a:solidFill>
                            <a:srgbClr val="A5ACB9"/>
                          </a:solidFill>
                          <a:latin typeface="Calibri"/>
                        </a:defRPr>
                      </a:pPr>
                      <a:r>
                        <a:t>No Overlapping Active Internships</a:t>
                      </a:r>
                    </a:p>
                  </a:txBody>
                  <a:tcPr anchor="ctr">
                    <a:solidFill>
                      <a:srgbClr val="181C24"/>
                    </a:solidFill>
                  </a:tcPr>
                </a:tc>
                <a:tc>
                  <a:txBody>
                    <a:bodyPr/>
                    <a:lstStyle/>
                    <a:p>
                      <a:pPr>
                        <a:defRPr sz="950">
                          <a:solidFill>
                            <a:srgbClr val="A5ACB9"/>
                          </a:solidFill>
                          <a:latin typeface="Calibri"/>
                        </a:defRPr>
                      </a:pPr>
                      <a:r>
                        <a:t>DB Trigger / Exclusion Check</a:t>
                      </a:r>
                    </a:p>
                  </a:txBody>
                  <a:tcPr anchor="ctr">
                    <a:solidFill>
                      <a:srgbClr val="181C24"/>
                    </a:solidFill>
                  </a:tcPr>
                </a:tc>
                <a:tc>
                  <a:txBody>
                    <a:bodyPr/>
                    <a:lstStyle/>
                    <a:p>
                      <a:pPr>
                        <a:defRPr sz="950">
                          <a:solidFill>
                            <a:srgbClr val="A5ACB9"/>
                          </a:solidFill>
                          <a:latin typeface="Calibri"/>
                        </a:defRPr>
                      </a:pPr>
                      <a:r>
                        <a:t>BEFORE INSERT trigger on Assignments asserts student has no concurrent active assignment in date window.</a:t>
                      </a:r>
                    </a:p>
                  </a:txBody>
                  <a:tcPr anchor="ctr">
                    <a:solidFill>
                      <a:srgbClr val="181C24"/>
                    </a:solidFill>
                  </a:tcPr>
                </a:tc>
                <a:extLst>
                  <a:ext uri="{0D108BD9-81ED-4DB2-BD59-A6C34878D82A}">
                    <a16:rowId xmlns:a16="http://schemas.microsoft.com/office/drawing/2014/main" val="10001"/>
                  </a:ext>
                </a:extLst>
              </a:tr>
              <a:tr h="746760">
                <a:tc>
                  <a:txBody>
                    <a:bodyPr/>
                    <a:lstStyle/>
                    <a:p>
                      <a:pPr>
                        <a:defRPr sz="950" b="1">
                          <a:solidFill>
                            <a:srgbClr val="FFFFFF"/>
                          </a:solidFill>
                          <a:latin typeface="Calibri"/>
                        </a:defRPr>
                      </a:pPr>
                      <a:r>
                        <a:t>2</a:t>
                      </a:r>
                    </a:p>
                  </a:txBody>
                  <a:tcPr anchor="ctr">
                    <a:solidFill>
                      <a:srgbClr val="13161C"/>
                    </a:solidFill>
                  </a:tcPr>
                </a:tc>
                <a:tc>
                  <a:txBody>
                    <a:bodyPr/>
                    <a:lstStyle/>
                    <a:p>
                      <a:pPr>
                        <a:defRPr sz="950">
                          <a:solidFill>
                            <a:srgbClr val="A5ACB9"/>
                          </a:solidFill>
                          <a:latin typeface="Calibri"/>
                        </a:defRPr>
                      </a:pPr>
                      <a:r>
                        <a:t>Approval Before Assignment</a:t>
                      </a:r>
                    </a:p>
                  </a:txBody>
                  <a:tcPr anchor="ctr">
                    <a:solidFill>
                      <a:srgbClr val="13161C"/>
                    </a:solidFill>
                  </a:tcPr>
                </a:tc>
                <a:tc>
                  <a:txBody>
                    <a:bodyPr/>
                    <a:lstStyle/>
                    <a:p>
                      <a:pPr>
                        <a:defRPr sz="950">
                          <a:solidFill>
                            <a:srgbClr val="A5ACB9"/>
                          </a:solidFill>
                          <a:latin typeface="Calibri"/>
                        </a:defRPr>
                      </a:pPr>
                      <a:r>
                        <a:t>Referential + Status Check</a:t>
                      </a:r>
                    </a:p>
                  </a:txBody>
                  <a:tcPr anchor="ctr">
                    <a:solidFill>
                      <a:srgbClr val="13161C"/>
                    </a:solidFill>
                  </a:tcPr>
                </a:tc>
                <a:tc>
                  <a:txBody>
                    <a:bodyPr/>
                    <a:lstStyle/>
                    <a:p>
                      <a:pPr>
                        <a:defRPr sz="950">
                          <a:solidFill>
                            <a:srgbClr val="A5ACB9"/>
                          </a:solidFill>
                          <a:latin typeface="Calibri"/>
                        </a:defRPr>
                      </a:pPr>
                      <a:r>
                        <a:t>Assignment foreign key references Approvals; trigger asserts Approvals.Approval_Status = 'Approved'.</a:t>
                      </a:r>
                    </a:p>
                  </a:txBody>
                  <a:tcPr anchor="ctr">
                    <a:solidFill>
                      <a:srgbClr val="13161C"/>
                    </a:solidFill>
                  </a:tcPr>
                </a:tc>
                <a:extLst>
                  <a:ext uri="{0D108BD9-81ED-4DB2-BD59-A6C34878D82A}">
                    <a16:rowId xmlns:a16="http://schemas.microsoft.com/office/drawing/2014/main" val="10002"/>
                  </a:ext>
                </a:extLst>
              </a:tr>
              <a:tr h="746760">
                <a:tc>
                  <a:txBody>
                    <a:bodyPr/>
                    <a:lstStyle/>
                    <a:p>
                      <a:pPr>
                        <a:defRPr sz="950" b="1">
                          <a:solidFill>
                            <a:srgbClr val="FFFFFF"/>
                          </a:solidFill>
                          <a:latin typeface="Calibri"/>
                        </a:defRPr>
                      </a:pPr>
                      <a:r>
                        <a:t>3</a:t>
                      </a:r>
                    </a:p>
                  </a:txBody>
                  <a:tcPr anchor="ctr">
                    <a:solidFill>
                      <a:srgbClr val="181C24"/>
                    </a:solidFill>
                  </a:tcPr>
                </a:tc>
                <a:tc>
                  <a:txBody>
                    <a:bodyPr/>
                    <a:lstStyle/>
                    <a:p>
                      <a:pPr>
                        <a:defRPr sz="950">
                          <a:solidFill>
                            <a:srgbClr val="A5ACB9"/>
                          </a:solidFill>
                          <a:latin typeface="Calibri"/>
                        </a:defRPr>
                      </a:pPr>
                      <a:r>
                        <a:t>Log Dates Within Internship Period</a:t>
                      </a:r>
                    </a:p>
                  </a:txBody>
                  <a:tcPr anchor="ctr">
                    <a:solidFill>
                      <a:srgbClr val="181C24"/>
                    </a:solidFill>
                  </a:tcPr>
                </a:tc>
                <a:tc>
                  <a:txBody>
                    <a:bodyPr/>
                    <a:lstStyle/>
                    <a:p>
                      <a:pPr>
                        <a:defRPr sz="950">
                          <a:solidFill>
                            <a:srgbClr val="A5ACB9"/>
                          </a:solidFill>
                          <a:latin typeface="Calibri"/>
                        </a:defRPr>
                      </a:pPr>
                      <a:r>
                        <a:t>Date Boundary Trigger / CHECK</a:t>
                      </a:r>
                    </a:p>
                  </a:txBody>
                  <a:tcPr anchor="ctr">
                    <a:solidFill>
                      <a:srgbClr val="181C24"/>
                    </a:solidFill>
                  </a:tcPr>
                </a:tc>
                <a:tc>
                  <a:txBody>
                    <a:bodyPr/>
                    <a:lstStyle/>
                    <a:p>
                      <a:pPr>
                        <a:defRPr sz="950">
                          <a:solidFill>
                            <a:srgbClr val="A5ACB9"/>
                          </a:solidFill>
                          <a:latin typeface="Calibri"/>
                        </a:defRPr>
                      </a:pPr>
                      <a:r>
                        <a:t>BEFORE INSERT trigger on Weekly_Logs asserts Submission_Date BETWEEN Start_Date AND End_Date.</a:t>
                      </a:r>
                    </a:p>
                  </a:txBody>
                  <a:tcPr anchor="ctr">
                    <a:solidFill>
                      <a:srgbClr val="181C24"/>
                    </a:solidFill>
                  </a:tcPr>
                </a:tc>
                <a:extLst>
                  <a:ext uri="{0D108BD9-81ED-4DB2-BD59-A6C34878D82A}">
                    <a16:rowId xmlns:a16="http://schemas.microsoft.com/office/drawing/2014/main" val="10003"/>
                  </a:ext>
                </a:extLst>
              </a:tr>
              <a:tr h="746760">
                <a:tc>
                  <a:txBody>
                    <a:bodyPr/>
                    <a:lstStyle/>
                    <a:p>
                      <a:pPr>
                        <a:defRPr sz="950" b="1">
                          <a:solidFill>
                            <a:srgbClr val="FFFFFF"/>
                          </a:solidFill>
                          <a:latin typeface="Calibri"/>
                        </a:defRPr>
                      </a:pPr>
                      <a:r>
                        <a:t>4</a:t>
                      </a:r>
                    </a:p>
                  </a:txBody>
                  <a:tcPr anchor="ctr">
                    <a:solidFill>
                      <a:srgbClr val="13161C"/>
                    </a:solidFill>
                  </a:tcPr>
                </a:tc>
                <a:tc>
                  <a:txBody>
                    <a:bodyPr/>
                    <a:lstStyle/>
                    <a:p>
                      <a:pPr>
                        <a:defRPr sz="950">
                          <a:solidFill>
                            <a:srgbClr val="A5ACB9"/>
                          </a:solidFill>
                          <a:latin typeface="Calibri"/>
                        </a:defRPr>
                      </a:pPr>
                      <a:r>
                        <a:t>Valid Evaluation Scores</a:t>
                      </a:r>
                    </a:p>
                  </a:txBody>
                  <a:tcPr anchor="ctr">
                    <a:solidFill>
                      <a:srgbClr val="13161C"/>
                    </a:solidFill>
                  </a:tcPr>
                </a:tc>
                <a:tc>
                  <a:txBody>
                    <a:bodyPr/>
                    <a:lstStyle/>
                    <a:p>
                      <a:pPr>
                        <a:defRPr sz="950">
                          <a:solidFill>
                            <a:srgbClr val="A5ACB9"/>
                          </a:solidFill>
                          <a:latin typeface="Calibri"/>
                        </a:defRPr>
                      </a:pPr>
                      <a:r>
                        <a:t>Domain CHECK Constraint</a:t>
                      </a:r>
                    </a:p>
                  </a:txBody>
                  <a:tcPr anchor="ctr">
                    <a:solidFill>
                      <a:srgbClr val="13161C"/>
                    </a:solidFill>
                  </a:tcPr>
                </a:tc>
                <a:tc>
                  <a:txBody>
                    <a:bodyPr/>
                    <a:lstStyle/>
                    <a:p>
                      <a:pPr>
                        <a:defRPr sz="950">
                          <a:solidFill>
                            <a:srgbClr val="A5ACB9"/>
                          </a:solidFill>
                          <a:latin typeface="Calibri"/>
                        </a:defRPr>
                      </a:pPr>
                      <a:r>
                        <a:t>CHECK (Score &gt;= 0.0 AND Score &lt;= 100.0) strictly enforced at table definition.</a:t>
                      </a:r>
                    </a:p>
                  </a:txBody>
                  <a:tcPr anchor="ctr">
                    <a:solidFill>
                      <a:srgbClr val="13161C"/>
                    </a:solidFill>
                  </a:tcPr>
                </a:tc>
                <a:extLst>
                  <a:ext uri="{0D108BD9-81ED-4DB2-BD59-A6C34878D82A}">
                    <a16:rowId xmlns:a16="http://schemas.microsoft.com/office/drawing/2014/main" val="10004"/>
                  </a:ext>
                </a:extLst>
              </a:tr>
              <a:tr h="746760">
                <a:tc>
                  <a:txBody>
                    <a:bodyPr/>
                    <a:lstStyle/>
                    <a:p>
                      <a:pPr>
                        <a:defRPr sz="950" b="1">
                          <a:solidFill>
                            <a:srgbClr val="FFFFFF"/>
                          </a:solidFill>
                          <a:latin typeface="Calibri"/>
                        </a:defRPr>
                      </a:pPr>
                      <a:r>
                        <a:t>5</a:t>
                      </a:r>
                    </a:p>
                  </a:txBody>
                  <a:tcPr anchor="ctr">
                    <a:solidFill>
                      <a:srgbClr val="181C24"/>
                    </a:solidFill>
                  </a:tcPr>
                </a:tc>
                <a:tc>
                  <a:txBody>
                    <a:bodyPr/>
                    <a:lstStyle/>
                    <a:p>
                      <a:pPr>
                        <a:defRPr sz="950">
                          <a:solidFill>
                            <a:srgbClr val="A5ACB9"/>
                          </a:solidFill>
                          <a:latin typeface="Calibri"/>
                        </a:defRPr>
                      </a:pPr>
                      <a:r>
                        <a:t>Completion Before Certification</a:t>
                      </a:r>
                    </a:p>
                  </a:txBody>
                  <a:tcPr anchor="ctr">
                    <a:solidFill>
                      <a:srgbClr val="181C24"/>
                    </a:solidFill>
                  </a:tcPr>
                </a:tc>
                <a:tc>
                  <a:txBody>
                    <a:bodyPr/>
                    <a:lstStyle/>
                    <a:p>
                      <a:pPr>
                        <a:defRPr sz="950">
                          <a:solidFill>
                            <a:srgbClr val="A5ACB9"/>
                          </a:solidFill>
                          <a:latin typeface="Calibri"/>
                        </a:defRPr>
                      </a:pPr>
                      <a:r>
                        <a:t>Multi-Condition Verification Trigger</a:t>
                      </a:r>
                    </a:p>
                  </a:txBody>
                  <a:tcPr anchor="ctr">
                    <a:solidFill>
                      <a:srgbClr val="181C24"/>
                    </a:solidFill>
                  </a:tcPr>
                </a:tc>
                <a:tc>
                  <a:txBody>
                    <a:bodyPr/>
                    <a:lstStyle/>
                    <a:p>
                      <a:pPr>
                        <a:defRPr sz="950">
                          <a:solidFill>
                            <a:srgbClr val="A5ACB9"/>
                          </a:solidFill>
                          <a:latin typeface="Calibri"/>
                        </a:defRPr>
                      </a:pPr>
                      <a:r>
                        <a:t>BEFORE INSERT trigger on Certificates asserts Evaluation exists AND minimum required weekly logs submitted.</a:t>
                      </a:r>
                    </a:p>
                  </a:txBody>
                  <a:tcPr anchor="ctr">
                    <a:solidFill>
                      <a:srgbClr val="181C24"/>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2 • PERFORMANCE TUNING</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Strategic Indexing &amp; Query Performance Optimization</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Indexing</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8" name="TextBox 7"/>
          <p:cNvSpPr txBox="1"/>
          <p:nvPr/>
        </p:nvSpPr>
        <p:spPr>
          <a:xfrm>
            <a:off x="10515600" y="6473952"/>
            <a:ext cx="914400" cy="274320"/>
          </a:xfrm>
          <a:prstGeom prst="rect">
            <a:avLst/>
          </a:prstGeom>
          <a:noFill/>
        </p:spPr>
        <p:txBody>
          <a:bodyPr wrap="none" lIns="0" tIns="0" rIns="0" bIns="0">
            <a:spAutoFit/>
          </a:bodyPr>
          <a:lstStyle/>
          <a:p>
            <a:pPr algn="r">
              <a:defRPr sz="850">
                <a:solidFill>
                  <a:srgbClr val="737A87"/>
                </a:solidFill>
                <a:latin typeface="Calibri"/>
              </a:defRPr>
            </a:pPr>
            <a:r>
              <a:t>24 / 32</a:t>
            </a:r>
          </a:p>
        </p:txBody>
      </p:sp>
      <p:graphicFrame>
        <p:nvGraphicFramePr>
          <p:cNvPr id="9" name="Table 8"/>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3322015">
                  <a:extLst>
                    <a:ext uri="{9D8B030D-6E8A-4147-A177-3AD203B41FA5}">
                      <a16:colId xmlns:a16="http://schemas.microsoft.com/office/drawing/2014/main" val="20004"/>
                    </a:ext>
                  </a:extLst>
                </a:gridCol>
              </a:tblGrid>
              <a:tr h="640080">
                <a:tc>
                  <a:txBody>
                    <a:bodyPr/>
                    <a:lstStyle/>
                    <a:p>
                      <a:pPr>
                        <a:defRPr sz="1000" b="1">
                          <a:solidFill>
                            <a:srgbClr val="E5A93C"/>
                          </a:solidFill>
                          <a:latin typeface="Calibri"/>
                        </a:defRPr>
                      </a:pPr>
                      <a:r>
                        <a:t>Target Table</a:t>
                      </a:r>
                    </a:p>
                  </a:txBody>
                  <a:tcPr marT="54864" marB="54864" anchor="ctr">
                    <a:solidFill>
                      <a:srgbClr val="222834"/>
                    </a:solidFill>
                  </a:tcPr>
                </a:tc>
                <a:tc>
                  <a:txBody>
                    <a:bodyPr/>
                    <a:lstStyle/>
                    <a:p>
                      <a:pPr>
                        <a:defRPr sz="1000" b="1">
                          <a:solidFill>
                            <a:srgbClr val="E5A93C"/>
                          </a:solidFill>
                          <a:latin typeface="Calibri"/>
                        </a:defRPr>
                      </a:pPr>
                      <a:r>
                        <a:t>Index Name</a:t>
                      </a:r>
                    </a:p>
                  </a:txBody>
                  <a:tcPr marT="54864" marB="54864" anchor="ctr">
                    <a:solidFill>
                      <a:srgbClr val="222834"/>
                    </a:solidFill>
                  </a:tcPr>
                </a:tc>
                <a:tc>
                  <a:txBody>
                    <a:bodyPr/>
                    <a:lstStyle/>
                    <a:p>
                      <a:pPr>
                        <a:defRPr sz="1000" b="1">
                          <a:solidFill>
                            <a:srgbClr val="E5A93C"/>
                          </a:solidFill>
                          <a:latin typeface="Calibri"/>
                        </a:defRPr>
                      </a:pPr>
                      <a:r>
                        <a:t>Indexed Column(s)</a:t>
                      </a:r>
                    </a:p>
                  </a:txBody>
                  <a:tcPr marT="54864" marB="54864" anchor="ctr">
                    <a:solidFill>
                      <a:srgbClr val="222834"/>
                    </a:solidFill>
                  </a:tcPr>
                </a:tc>
                <a:tc>
                  <a:txBody>
                    <a:bodyPr/>
                    <a:lstStyle/>
                    <a:p>
                      <a:pPr>
                        <a:defRPr sz="1000" b="1">
                          <a:solidFill>
                            <a:srgbClr val="E5A93C"/>
                          </a:solidFill>
                          <a:latin typeface="Calibri"/>
                        </a:defRPr>
                      </a:pPr>
                      <a:r>
                        <a:t>Index Type</a:t>
                      </a:r>
                    </a:p>
                  </a:txBody>
                  <a:tcPr marT="54864" marB="54864" anchor="ctr">
                    <a:solidFill>
                      <a:srgbClr val="222834"/>
                    </a:solidFill>
                  </a:tcPr>
                </a:tc>
                <a:tc>
                  <a:txBody>
                    <a:bodyPr/>
                    <a:lstStyle/>
                    <a:p>
                      <a:pPr>
                        <a:defRPr sz="1000" b="1">
                          <a:solidFill>
                            <a:srgbClr val="E5A93C"/>
                          </a:solidFill>
                          <a:latin typeface="Calibri"/>
                        </a:defRPr>
                      </a:pPr>
                      <a:r>
                        <a:t>Target Query Workload &amp; Performance Gain</a:t>
                      </a:r>
                    </a:p>
                  </a:txBody>
                  <a:tcPr marT="54864" marB="54864" anchor="ctr">
                    <a:solidFill>
                      <a:srgbClr val="222834"/>
                    </a:solidFill>
                  </a:tcPr>
                </a:tc>
                <a:extLst>
                  <a:ext uri="{0D108BD9-81ED-4DB2-BD59-A6C34878D82A}">
                    <a16:rowId xmlns:a16="http://schemas.microsoft.com/office/drawing/2014/main" val="10000"/>
                  </a:ext>
                </a:extLst>
              </a:tr>
              <a:tr h="640080">
                <a:tc>
                  <a:txBody>
                    <a:bodyPr/>
                    <a:lstStyle/>
                    <a:p>
                      <a:pPr>
                        <a:defRPr sz="950" b="1">
                          <a:solidFill>
                            <a:srgbClr val="FFFFFF"/>
                          </a:solidFill>
                          <a:latin typeface="Calibri"/>
                        </a:defRPr>
                      </a:pPr>
                      <a:r>
                        <a:t>Students</a:t>
                      </a:r>
                    </a:p>
                  </a:txBody>
                  <a:tcPr anchor="ctr">
                    <a:solidFill>
                      <a:srgbClr val="181C24"/>
                    </a:solidFill>
                  </a:tcPr>
                </a:tc>
                <a:tc>
                  <a:txBody>
                    <a:bodyPr/>
                    <a:lstStyle/>
                    <a:p>
                      <a:pPr>
                        <a:defRPr sz="950">
                          <a:solidFill>
                            <a:srgbClr val="A5ACB9"/>
                          </a:solidFill>
                          <a:latin typeface="Calibri"/>
                        </a:defRPr>
                      </a:pPr>
                      <a:r>
                        <a:t>idx_student_email</a:t>
                      </a:r>
                    </a:p>
                  </a:txBody>
                  <a:tcPr anchor="ctr">
                    <a:solidFill>
                      <a:srgbClr val="181C24"/>
                    </a:solidFill>
                  </a:tcPr>
                </a:tc>
                <a:tc>
                  <a:txBody>
                    <a:bodyPr/>
                    <a:lstStyle/>
                    <a:p>
                      <a:pPr>
                        <a:defRPr sz="950">
                          <a:solidFill>
                            <a:srgbClr val="A5ACB9"/>
                          </a:solidFill>
                          <a:latin typeface="Calibri"/>
                        </a:defRPr>
                      </a:pPr>
                      <a:r>
                        <a:t>Email</a:t>
                      </a:r>
                    </a:p>
                  </a:txBody>
                  <a:tcPr anchor="ctr">
                    <a:solidFill>
                      <a:srgbClr val="181C24"/>
                    </a:solidFill>
                  </a:tcPr>
                </a:tc>
                <a:tc>
                  <a:txBody>
                    <a:bodyPr/>
                    <a:lstStyle/>
                    <a:p>
                      <a:pPr>
                        <a:defRPr sz="950">
                          <a:solidFill>
                            <a:srgbClr val="A5ACB9"/>
                          </a:solidFill>
                          <a:latin typeface="Calibri"/>
                        </a:defRPr>
                      </a:pPr>
                      <a:r>
                        <a:t>UNIQUE B-Tree</a:t>
                      </a:r>
                    </a:p>
                  </a:txBody>
                  <a:tcPr anchor="ctr">
                    <a:solidFill>
                      <a:srgbClr val="181C24"/>
                    </a:solidFill>
                  </a:tcPr>
                </a:tc>
                <a:tc>
                  <a:txBody>
                    <a:bodyPr/>
                    <a:lstStyle/>
                    <a:p>
                      <a:pPr>
                        <a:defRPr sz="950">
                          <a:solidFill>
                            <a:srgbClr val="A5ACB9"/>
                          </a:solidFill>
                          <a:latin typeface="Calibri"/>
                        </a:defRPr>
                      </a:pPr>
                      <a:r>
                        <a:t>O(log N) student login lookup &amp; authentication speedup</a:t>
                      </a:r>
                    </a:p>
                  </a:txBody>
                  <a:tcPr anchor="ctr">
                    <a:solidFill>
                      <a:srgbClr val="181C24"/>
                    </a:solidFill>
                  </a:tcPr>
                </a:tc>
                <a:extLst>
                  <a:ext uri="{0D108BD9-81ED-4DB2-BD59-A6C34878D82A}">
                    <a16:rowId xmlns:a16="http://schemas.microsoft.com/office/drawing/2014/main" val="10001"/>
                  </a:ext>
                </a:extLst>
              </a:tr>
              <a:tr h="640080">
                <a:tc>
                  <a:txBody>
                    <a:bodyPr/>
                    <a:lstStyle/>
                    <a:p>
                      <a:pPr>
                        <a:defRPr sz="950" b="1">
                          <a:solidFill>
                            <a:srgbClr val="FFFFFF"/>
                          </a:solidFill>
                          <a:latin typeface="Calibri"/>
                        </a:defRPr>
                      </a:pPr>
                      <a:r>
                        <a:t>Opportunities</a:t>
                      </a:r>
                    </a:p>
                  </a:txBody>
                  <a:tcPr anchor="ctr">
                    <a:solidFill>
                      <a:srgbClr val="13161C"/>
                    </a:solidFill>
                  </a:tcPr>
                </a:tc>
                <a:tc>
                  <a:txBody>
                    <a:bodyPr/>
                    <a:lstStyle/>
                    <a:p>
                      <a:pPr>
                        <a:defRPr sz="950">
                          <a:solidFill>
                            <a:srgbClr val="A5ACB9"/>
                          </a:solidFill>
                          <a:latin typeface="Calibri"/>
                        </a:defRPr>
                      </a:pPr>
                      <a:r>
                        <a:t>idx_opp_org</a:t>
                      </a:r>
                    </a:p>
                  </a:txBody>
                  <a:tcPr anchor="ctr">
                    <a:solidFill>
                      <a:srgbClr val="13161C"/>
                    </a:solidFill>
                  </a:tcPr>
                </a:tc>
                <a:tc>
                  <a:txBody>
                    <a:bodyPr/>
                    <a:lstStyle/>
                    <a:p>
                      <a:pPr>
                        <a:defRPr sz="950">
                          <a:solidFill>
                            <a:srgbClr val="A5ACB9"/>
                          </a:solidFill>
                          <a:latin typeface="Calibri"/>
                        </a:defRPr>
                      </a:pPr>
                      <a:r>
                        <a:t>Org_ID</a:t>
                      </a:r>
                    </a:p>
                  </a:txBody>
                  <a:tcPr anchor="ctr">
                    <a:solidFill>
                      <a:srgbClr val="13161C"/>
                    </a:solidFill>
                  </a:tcPr>
                </a:tc>
                <a:tc>
                  <a:txBody>
                    <a:bodyPr/>
                    <a:lstStyle/>
                    <a:p>
                      <a:pPr>
                        <a:defRPr sz="950">
                          <a:solidFill>
                            <a:srgbClr val="A5ACB9"/>
                          </a:solidFill>
                          <a:latin typeface="Calibri"/>
                        </a:defRPr>
                      </a:pPr>
                      <a:r>
                        <a:t>B-Tree</a:t>
                      </a:r>
                    </a:p>
                  </a:txBody>
                  <a:tcPr anchor="ctr">
                    <a:solidFill>
                      <a:srgbClr val="13161C"/>
                    </a:solidFill>
                  </a:tcPr>
                </a:tc>
                <a:tc>
                  <a:txBody>
                    <a:bodyPr/>
                    <a:lstStyle/>
                    <a:p>
                      <a:pPr>
                        <a:defRPr sz="950">
                          <a:solidFill>
                            <a:srgbClr val="A5ACB9"/>
                          </a:solidFill>
                          <a:latin typeface="Calibri"/>
                        </a:defRPr>
                      </a:pPr>
                      <a:r>
                        <a:t>Accelerates filtering opportunities posted by specific companies</a:t>
                      </a:r>
                    </a:p>
                  </a:txBody>
                  <a:tcPr anchor="ctr">
                    <a:solidFill>
                      <a:srgbClr val="13161C"/>
                    </a:solidFill>
                  </a:tcPr>
                </a:tc>
                <a:extLst>
                  <a:ext uri="{0D108BD9-81ED-4DB2-BD59-A6C34878D82A}">
                    <a16:rowId xmlns:a16="http://schemas.microsoft.com/office/drawing/2014/main" val="10002"/>
                  </a:ext>
                </a:extLst>
              </a:tr>
              <a:tr h="640080">
                <a:tc>
                  <a:txBody>
                    <a:bodyPr/>
                    <a:lstStyle/>
                    <a:p>
                      <a:pPr>
                        <a:defRPr sz="950" b="1">
                          <a:solidFill>
                            <a:srgbClr val="FFFFFF"/>
                          </a:solidFill>
                          <a:latin typeface="Calibri"/>
                        </a:defRPr>
                      </a:pPr>
                      <a:r>
                        <a:t>Applications</a:t>
                      </a:r>
                    </a:p>
                  </a:txBody>
                  <a:tcPr anchor="ctr">
                    <a:solidFill>
                      <a:srgbClr val="181C24"/>
                    </a:solidFill>
                  </a:tcPr>
                </a:tc>
                <a:tc>
                  <a:txBody>
                    <a:bodyPr/>
                    <a:lstStyle/>
                    <a:p>
                      <a:pPr>
                        <a:defRPr sz="950">
                          <a:solidFill>
                            <a:srgbClr val="A5ACB9"/>
                          </a:solidFill>
                          <a:latin typeface="Calibri"/>
                        </a:defRPr>
                      </a:pPr>
                      <a:r>
                        <a:t>idx_app_student_status</a:t>
                      </a:r>
                    </a:p>
                  </a:txBody>
                  <a:tcPr anchor="ctr">
                    <a:solidFill>
                      <a:srgbClr val="181C24"/>
                    </a:solidFill>
                  </a:tcPr>
                </a:tc>
                <a:tc>
                  <a:txBody>
                    <a:bodyPr/>
                    <a:lstStyle/>
                    <a:p>
                      <a:pPr>
                        <a:defRPr sz="950">
                          <a:solidFill>
                            <a:srgbClr val="A5ACB9"/>
                          </a:solidFill>
                          <a:latin typeface="Calibri"/>
                        </a:defRPr>
                      </a:pPr>
                      <a:r>
                        <a:t>Student_ID, Status</a:t>
                      </a:r>
                    </a:p>
                  </a:txBody>
                  <a:tcPr anchor="ctr">
                    <a:solidFill>
                      <a:srgbClr val="181C24"/>
                    </a:solidFill>
                  </a:tcPr>
                </a:tc>
                <a:tc>
                  <a:txBody>
                    <a:bodyPr/>
                    <a:lstStyle/>
                    <a:p>
                      <a:pPr>
                        <a:defRPr sz="950">
                          <a:solidFill>
                            <a:srgbClr val="A5ACB9"/>
                          </a:solidFill>
                          <a:latin typeface="Calibri"/>
                        </a:defRPr>
                      </a:pPr>
                      <a:r>
                        <a:t>Composite B-Tree</a:t>
                      </a:r>
                    </a:p>
                  </a:txBody>
                  <a:tcPr anchor="ctr">
                    <a:solidFill>
                      <a:srgbClr val="181C24"/>
                    </a:solidFill>
                  </a:tcPr>
                </a:tc>
                <a:tc>
                  <a:txBody>
                    <a:bodyPr/>
                    <a:lstStyle/>
                    <a:p>
                      <a:pPr>
                        <a:defRPr sz="950">
                          <a:solidFill>
                            <a:srgbClr val="A5ACB9"/>
                          </a:solidFill>
                          <a:latin typeface="Calibri"/>
                        </a:defRPr>
                      </a:pPr>
                      <a:r>
                        <a:t>Fast retrieval of active applications per student dashboard</a:t>
                      </a:r>
                    </a:p>
                  </a:txBody>
                  <a:tcPr anchor="ctr">
                    <a:solidFill>
                      <a:srgbClr val="181C24"/>
                    </a:solidFill>
                  </a:tcPr>
                </a:tc>
                <a:extLst>
                  <a:ext uri="{0D108BD9-81ED-4DB2-BD59-A6C34878D82A}">
                    <a16:rowId xmlns:a16="http://schemas.microsoft.com/office/drawing/2014/main" val="10003"/>
                  </a:ext>
                </a:extLst>
              </a:tr>
              <a:tr h="640080">
                <a:tc>
                  <a:txBody>
                    <a:bodyPr/>
                    <a:lstStyle/>
                    <a:p>
                      <a:pPr>
                        <a:defRPr sz="950" b="1">
                          <a:solidFill>
                            <a:srgbClr val="FFFFFF"/>
                          </a:solidFill>
                          <a:latin typeface="Calibri"/>
                        </a:defRPr>
                      </a:pPr>
                      <a:r>
                        <a:t>Assignments</a:t>
                      </a:r>
                    </a:p>
                  </a:txBody>
                  <a:tcPr anchor="ctr">
                    <a:solidFill>
                      <a:srgbClr val="13161C"/>
                    </a:solidFill>
                  </a:tcPr>
                </a:tc>
                <a:tc>
                  <a:txBody>
                    <a:bodyPr/>
                    <a:lstStyle/>
                    <a:p>
                      <a:pPr>
                        <a:defRPr sz="950">
                          <a:solidFill>
                            <a:srgbClr val="A5ACB9"/>
                          </a:solidFill>
                          <a:latin typeface="Calibri"/>
                        </a:defRPr>
                      </a:pPr>
                      <a:r>
                        <a:t>idx_asg_dates</a:t>
                      </a:r>
                    </a:p>
                  </a:txBody>
                  <a:tcPr anchor="ctr">
                    <a:solidFill>
                      <a:srgbClr val="13161C"/>
                    </a:solidFill>
                  </a:tcPr>
                </a:tc>
                <a:tc>
                  <a:txBody>
                    <a:bodyPr/>
                    <a:lstStyle/>
                    <a:p>
                      <a:pPr>
                        <a:defRPr sz="950">
                          <a:solidFill>
                            <a:srgbClr val="A5ACB9"/>
                          </a:solidFill>
                          <a:latin typeface="Calibri"/>
                        </a:defRPr>
                      </a:pPr>
                      <a:r>
                        <a:t>Start_Date, End_Date</a:t>
                      </a:r>
                    </a:p>
                  </a:txBody>
                  <a:tcPr anchor="ctr">
                    <a:solidFill>
                      <a:srgbClr val="13161C"/>
                    </a:solidFill>
                  </a:tcPr>
                </a:tc>
                <a:tc>
                  <a:txBody>
                    <a:bodyPr/>
                    <a:lstStyle/>
                    <a:p>
                      <a:pPr>
                        <a:defRPr sz="950">
                          <a:solidFill>
                            <a:srgbClr val="A5ACB9"/>
                          </a:solidFill>
                          <a:latin typeface="Calibri"/>
                        </a:defRPr>
                      </a:pPr>
                      <a:r>
                        <a:t>B-Tree Range</a:t>
                      </a:r>
                    </a:p>
                  </a:txBody>
                  <a:tcPr anchor="ctr">
                    <a:solidFill>
                      <a:srgbClr val="13161C"/>
                    </a:solidFill>
                  </a:tcPr>
                </a:tc>
                <a:tc>
                  <a:txBody>
                    <a:bodyPr/>
                    <a:lstStyle/>
                    <a:p>
                      <a:pPr>
                        <a:defRPr sz="950">
                          <a:solidFill>
                            <a:srgbClr val="A5ACB9"/>
                          </a:solidFill>
                          <a:latin typeface="Calibri"/>
                        </a:defRPr>
                      </a:pPr>
                      <a:r>
                        <a:t>High-speed filtering for active internship views &amp; overlap triggers</a:t>
                      </a:r>
                    </a:p>
                  </a:txBody>
                  <a:tcPr anchor="ctr">
                    <a:solidFill>
                      <a:srgbClr val="13161C"/>
                    </a:solidFill>
                  </a:tcPr>
                </a:tc>
                <a:extLst>
                  <a:ext uri="{0D108BD9-81ED-4DB2-BD59-A6C34878D82A}">
                    <a16:rowId xmlns:a16="http://schemas.microsoft.com/office/drawing/2014/main" val="10004"/>
                  </a:ext>
                </a:extLst>
              </a:tr>
              <a:tr h="640080">
                <a:tc>
                  <a:txBody>
                    <a:bodyPr/>
                    <a:lstStyle/>
                    <a:p>
                      <a:pPr>
                        <a:defRPr sz="950" b="1">
                          <a:solidFill>
                            <a:srgbClr val="FFFFFF"/>
                          </a:solidFill>
                          <a:latin typeface="Calibri"/>
                        </a:defRPr>
                      </a:pPr>
                      <a:r>
                        <a:t>Weekly_Logs</a:t>
                      </a:r>
                    </a:p>
                  </a:txBody>
                  <a:tcPr anchor="ctr">
                    <a:solidFill>
                      <a:srgbClr val="181C24"/>
                    </a:solidFill>
                  </a:tcPr>
                </a:tc>
                <a:tc>
                  <a:txBody>
                    <a:bodyPr/>
                    <a:lstStyle/>
                    <a:p>
                      <a:pPr>
                        <a:defRPr sz="950">
                          <a:solidFill>
                            <a:srgbClr val="A5ACB9"/>
                          </a:solidFill>
                          <a:latin typeface="Calibri"/>
                        </a:defRPr>
                      </a:pPr>
                      <a:r>
                        <a:t>idx_log_asg_week</a:t>
                      </a:r>
                    </a:p>
                  </a:txBody>
                  <a:tcPr anchor="ctr">
                    <a:solidFill>
                      <a:srgbClr val="181C24"/>
                    </a:solidFill>
                  </a:tcPr>
                </a:tc>
                <a:tc>
                  <a:txBody>
                    <a:bodyPr/>
                    <a:lstStyle/>
                    <a:p>
                      <a:pPr>
                        <a:defRPr sz="950">
                          <a:solidFill>
                            <a:srgbClr val="A5ACB9"/>
                          </a:solidFill>
                          <a:latin typeface="Calibri"/>
                        </a:defRPr>
                      </a:pPr>
                      <a:r>
                        <a:t>Assignment_ID, Week_Number</a:t>
                      </a:r>
                    </a:p>
                  </a:txBody>
                  <a:tcPr anchor="ctr">
                    <a:solidFill>
                      <a:srgbClr val="181C24"/>
                    </a:solidFill>
                  </a:tcPr>
                </a:tc>
                <a:tc>
                  <a:txBody>
                    <a:bodyPr/>
                    <a:lstStyle/>
                    <a:p>
                      <a:pPr>
                        <a:defRPr sz="950">
                          <a:solidFill>
                            <a:srgbClr val="A5ACB9"/>
                          </a:solidFill>
                          <a:latin typeface="Calibri"/>
                        </a:defRPr>
                      </a:pPr>
                      <a:r>
                        <a:t>Composite B-Tree</a:t>
                      </a:r>
                    </a:p>
                  </a:txBody>
                  <a:tcPr anchor="ctr">
                    <a:solidFill>
                      <a:srgbClr val="181C24"/>
                    </a:solidFill>
                  </a:tcPr>
                </a:tc>
                <a:tc>
                  <a:txBody>
                    <a:bodyPr/>
                    <a:lstStyle/>
                    <a:p>
                      <a:pPr>
                        <a:defRPr sz="950">
                          <a:solidFill>
                            <a:srgbClr val="A5ACB9"/>
                          </a:solidFill>
                          <a:latin typeface="Calibri"/>
                        </a:defRPr>
                      </a:pPr>
                      <a:r>
                        <a:t>Immediate detection of missing weekly submissions per intern</a:t>
                      </a:r>
                    </a:p>
                  </a:txBody>
                  <a:tcPr anchor="ctr">
                    <a:solidFill>
                      <a:srgbClr val="181C24"/>
                    </a:solidFill>
                  </a:tcPr>
                </a:tc>
                <a:extLst>
                  <a:ext uri="{0D108BD9-81ED-4DB2-BD59-A6C34878D82A}">
                    <a16:rowId xmlns:a16="http://schemas.microsoft.com/office/drawing/2014/main" val="10005"/>
                  </a:ext>
                </a:extLst>
              </a:tr>
              <a:tr h="640080">
                <a:tc>
                  <a:txBody>
                    <a:bodyPr/>
                    <a:lstStyle/>
                    <a:p>
                      <a:pPr>
                        <a:defRPr sz="950" b="1">
                          <a:solidFill>
                            <a:srgbClr val="FFFFFF"/>
                          </a:solidFill>
                          <a:latin typeface="Calibri"/>
                        </a:defRPr>
                      </a:pPr>
                      <a:r>
                        <a:t>Certificates</a:t>
                      </a:r>
                    </a:p>
                  </a:txBody>
                  <a:tcPr anchor="ctr">
                    <a:solidFill>
                      <a:srgbClr val="13161C"/>
                    </a:solidFill>
                  </a:tcPr>
                </a:tc>
                <a:tc>
                  <a:txBody>
                    <a:bodyPr/>
                    <a:lstStyle/>
                    <a:p>
                      <a:pPr>
                        <a:defRPr sz="950">
                          <a:solidFill>
                            <a:srgbClr val="A5ACB9"/>
                          </a:solidFill>
                          <a:latin typeface="Calibri"/>
                        </a:defRPr>
                      </a:pPr>
                      <a:r>
                        <a:t>idx_cert_hash</a:t>
                      </a:r>
                    </a:p>
                  </a:txBody>
                  <a:tcPr anchor="ctr">
                    <a:solidFill>
                      <a:srgbClr val="13161C"/>
                    </a:solidFill>
                  </a:tcPr>
                </a:tc>
                <a:tc>
                  <a:txBody>
                    <a:bodyPr/>
                    <a:lstStyle/>
                    <a:p>
                      <a:pPr>
                        <a:defRPr sz="950">
                          <a:solidFill>
                            <a:srgbClr val="A5ACB9"/>
                          </a:solidFill>
                          <a:latin typeface="Calibri"/>
                        </a:defRPr>
                      </a:pPr>
                      <a:r>
                        <a:t>Verification_Code</a:t>
                      </a:r>
                    </a:p>
                  </a:txBody>
                  <a:tcPr anchor="ctr">
                    <a:solidFill>
                      <a:srgbClr val="13161C"/>
                    </a:solidFill>
                  </a:tcPr>
                </a:tc>
                <a:tc>
                  <a:txBody>
                    <a:bodyPr/>
                    <a:lstStyle/>
                    <a:p>
                      <a:pPr>
                        <a:defRPr sz="950">
                          <a:solidFill>
                            <a:srgbClr val="A5ACB9"/>
                          </a:solidFill>
                          <a:latin typeface="Calibri"/>
                        </a:defRPr>
                      </a:pPr>
                      <a:r>
                        <a:t>UNIQUE B-Tree</a:t>
                      </a:r>
                    </a:p>
                  </a:txBody>
                  <a:tcPr anchor="ctr">
                    <a:solidFill>
                      <a:srgbClr val="13161C"/>
                    </a:solidFill>
                  </a:tcPr>
                </a:tc>
                <a:tc>
                  <a:txBody>
                    <a:bodyPr/>
                    <a:lstStyle/>
                    <a:p>
                      <a:pPr>
                        <a:defRPr sz="950">
                          <a:solidFill>
                            <a:srgbClr val="A5ACB9"/>
                          </a:solidFill>
                          <a:latin typeface="Calibri"/>
                        </a:defRPr>
                      </a:pPr>
                      <a:r>
                        <a:t>Instantaneous QR/hash validation on public portal</a:t>
                      </a:r>
                    </a:p>
                  </a:txBody>
                  <a:tcPr anchor="ctr">
                    <a:solidFill>
                      <a:srgbClr val="13161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3 • SOFTWARE ARCHITECTURE</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Full-Stack Application Architecture &amp; Tech Stack</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Tech Stack</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8" name="TextBox 7"/>
          <p:cNvSpPr txBox="1"/>
          <p:nvPr/>
        </p:nvSpPr>
        <p:spPr>
          <a:xfrm>
            <a:off x="10515600" y="6473952"/>
            <a:ext cx="914400" cy="274320"/>
          </a:xfrm>
          <a:prstGeom prst="rect">
            <a:avLst/>
          </a:prstGeom>
          <a:noFill/>
        </p:spPr>
        <p:txBody>
          <a:bodyPr wrap="none" lIns="0" tIns="0" rIns="0" bIns="0">
            <a:spAutoFit/>
          </a:bodyPr>
          <a:lstStyle/>
          <a:p>
            <a:pPr algn="r">
              <a:defRPr sz="850">
                <a:solidFill>
                  <a:srgbClr val="737A87"/>
                </a:solidFill>
                <a:latin typeface="Calibri"/>
              </a:defRPr>
            </a:pPr>
            <a:r>
              <a:t>25 / 32</a:t>
            </a:r>
          </a:p>
        </p:txBody>
      </p:sp>
      <p:sp>
        <p:nvSpPr>
          <p:cNvPr id="9" name="Rounded Rectangle 8"/>
          <p:cNvSpPr/>
          <p:nvPr/>
        </p:nvSpPr>
        <p:spPr>
          <a:xfrm>
            <a:off x="731520" y="1645920"/>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56920" y="1511554"/>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810512"/>
            <a:ext cx="2962656" cy="4224528"/>
          </a:xfrm>
          <a:prstGeom prst="rect">
            <a:avLst/>
          </a:prstGeom>
          <a:noFill/>
        </p:spPr>
        <p:txBody>
          <a:bodyPr wrap="square" lIns="0" tIns="0" rIns="0" bIns="0">
            <a:spAutoFit/>
          </a:bodyPr>
          <a:lstStyle/>
          <a:p>
            <a:pPr>
              <a:spcAft>
                <a:spcPts val="600"/>
              </a:spcAft>
              <a:defRPr sz="1300" b="1">
                <a:solidFill>
                  <a:srgbClr val="FFD778"/>
                </a:solidFill>
                <a:latin typeface="Georgia"/>
              </a:defRPr>
            </a:pPr>
            <a:r>
              <a:t>Presentation Layer (UI)</a:t>
            </a:r>
          </a:p>
          <a:p>
            <a:pPr>
              <a:spcAft>
                <a:spcPts val="400"/>
              </a:spcAft>
            </a:pPr>
            <a:r>
              <a:rPr sz="1050" b="1">
                <a:solidFill>
                  <a:srgbClr val="FFFFFF"/>
                </a:solidFill>
                <a:latin typeface="Calibri"/>
              </a:rPr>
              <a:t>• Technology Stack: </a:t>
            </a:r>
            <a:r>
              <a:rPr sz="1000">
                <a:solidFill>
                  <a:srgbClr val="A5ACB9"/>
                </a:solidFill>
                <a:latin typeface="Calibri"/>
              </a:rPr>
              <a:t>Python 3.10+ GUI (Tkinter / PyQt) &amp; Flask Web</a:t>
            </a:r>
          </a:p>
          <a:p>
            <a:pPr>
              <a:spcAft>
                <a:spcPts val="400"/>
              </a:spcAft>
            </a:pPr>
            <a:r>
              <a:rPr sz="1050" b="1">
                <a:solidFill>
                  <a:srgbClr val="FFFFFF"/>
                </a:solidFill>
                <a:latin typeface="Calibri"/>
              </a:rPr>
              <a:t>• Role-Based Dashboards: </a:t>
            </a:r>
            <a:r>
              <a:rPr sz="1000">
                <a:solidFill>
                  <a:srgbClr val="A5ACB9"/>
                </a:solidFill>
                <a:latin typeface="Calibri"/>
              </a:rPr>
              <a:t>Customized views for Student, Faculty, Supervisor, Admin.</a:t>
            </a:r>
          </a:p>
          <a:p>
            <a:pPr>
              <a:spcAft>
                <a:spcPts val="400"/>
              </a:spcAft>
            </a:pPr>
            <a:r>
              <a:rPr sz="1050" b="1">
                <a:solidFill>
                  <a:srgbClr val="FFFFFF"/>
                </a:solidFill>
                <a:latin typeface="Calibri"/>
              </a:rPr>
              <a:t>• Form Validation: </a:t>
            </a:r>
            <a:r>
              <a:rPr sz="1000">
                <a:solidFill>
                  <a:srgbClr val="A5ACB9"/>
                </a:solidFill>
                <a:latin typeface="Calibri"/>
              </a:rPr>
              <a:t>Client-side regex checking on emails, dates, and score boundaries.</a:t>
            </a:r>
          </a:p>
          <a:p>
            <a:pPr>
              <a:spcAft>
                <a:spcPts val="400"/>
              </a:spcAft>
            </a:pPr>
            <a:r>
              <a:rPr sz="1050" b="1">
                <a:solidFill>
                  <a:srgbClr val="FFFFFF"/>
                </a:solidFill>
                <a:latin typeface="Calibri"/>
              </a:rPr>
              <a:t>• Dynamic Tables: </a:t>
            </a:r>
            <a:r>
              <a:rPr sz="1000">
                <a:solidFill>
                  <a:srgbClr val="A5ACB9"/>
                </a:solidFill>
                <a:latin typeface="Calibri"/>
              </a:rPr>
              <a:t>Treeview grid components for real-time table rendering.</a:t>
            </a:r>
          </a:p>
        </p:txBody>
      </p:sp>
      <p:sp>
        <p:nvSpPr>
          <p:cNvPr id="12" name="Rounded Rectangle 11"/>
          <p:cNvSpPr/>
          <p:nvPr/>
        </p:nvSpPr>
        <p:spPr>
          <a:xfrm>
            <a:off x="4425696" y="1645920"/>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388430" y="1537721"/>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576" y="1810512"/>
            <a:ext cx="2962656" cy="4224528"/>
          </a:xfrm>
          <a:prstGeom prst="rect">
            <a:avLst/>
          </a:prstGeom>
          <a:noFill/>
        </p:spPr>
        <p:txBody>
          <a:bodyPr wrap="square" lIns="0" tIns="0" rIns="0" bIns="0">
            <a:spAutoFit/>
          </a:bodyPr>
          <a:lstStyle/>
          <a:p>
            <a:pPr>
              <a:spcAft>
                <a:spcPts val="600"/>
              </a:spcAft>
              <a:defRPr sz="1300" b="1">
                <a:solidFill>
                  <a:srgbClr val="FFD778"/>
                </a:solidFill>
                <a:latin typeface="Georgia"/>
              </a:defRPr>
            </a:pPr>
            <a:r>
              <a:t>Business Logic Layer (Python)</a:t>
            </a:r>
          </a:p>
          <a:p>
            <a:pPr>
              <a:spcAft>
                <a:spcPts val="400"/>
              </a:spcAft>
            </a:pPr>
            <a:r>
              <a:rPr sz="1050" b="1">
                <a:solidFill>
                  <a:srgbClr val="FFFFFF"/>
                </a:solidFill>
                <a:latin typeface="Calibri"/>
              </a:rPr>
              <a:t>• Controller Routing: </a:t>
            </a:r>
            <a:r>
              <a:rPr sz="1000">
                <a:solidFill>
                  <a:srgbClr val="A5ACB9"/>
                </a:solidFill>
                <a:latin typeface="Calibri"/>
              </a:rPr>
              <a:t>Centralized dispatch of user actions to database services.</a:t>
            </a:r>
          </a:p>
          <a:p>
            <a:pPr>
              <a:spcAft>
                <a:spcPts val="400"/>
              </a:spcAft>
            </a:pPr>
            <a:r>
              <a:rPr sz="1050" b="1">
                <a:solidFill>
                  <a:srgbClr val="FFFFFF"/>
                </a:solidFill>
                <a:latin typeface="Calibri"/>
              </a:rPr>
              <a:t>• Security Guardrails: </a:t>
            </a:r>
            <a:r>
              <a:rPr sz="1000">
                <a:solidFill>
                  <a:srgbClr val="A5ACB9"/>
                </a:solidFill>
                <a:latin typeface="Calibri"/>
              </a:rPr>
              <a:t>Parameterized queries preventing SQL Injection vulnerabilities.</a:t>
            </a:r>
          </a:p>
          <a:p>
            <a:pPr>
              <a:spcAft>
                <a:spcPts val="400"/>
              </a:spcAft>
            </a:pPr>
            <a:r>
              <a:rPr sz="1050" b="1">
                <a:solidFill>
                  <a:srgbClr val="FFFFFF"/>
                </a:solidFill>
                <a:latin typeface="Calibri"/>
              </a:rPr>
              <a:t>• Transaction Scoping: </a:t>
            </a:r>
            <a:r>
              <a:rPr sz="1000">
                <a:solidFill>
                  <a:srgbClr val="A5ACB9"/>
                </a:solidFill>
                <a:latin typeface="Calibri"/>
              </a:rPr>
              <a:t>Explicit ACID boundaries ensuring atomicity across multi-table writes.</a:t>
            </a:r>
          </a:p>
          <a:p>
            <a:pPr>
              <a:spcAft>
                <a:spcPts val="400"/>
              </a:spcAft>
            </a:pPr>
            <a:r>
              <a:rPr sz="1050" b="1">
                <a:solidFill>
                  <a:srgbClr val="FFFFFF"/>
                </a:solidFill>
                <a:latin typeface="Calibri"/>
              </a:rPr>
              <a:t>• Hash Generation: </a:t>
            </a:r>
            <a:r>
              <a:rPr sz="1000">
                <a:solidFill>
                  <a:srgbClr val="A5ACB9"/>
                </a:solidFill>
                <a:latin typeface="Calibri"/>
              </a:rPr>
              <a:t>SHA-256 cryptographic token generation for certificates.</a:t>
            </a:r>
          </a:p>
        </p:txBody>
      </p:sp>
      <p:sp>
        <p:nvSpPr>
          <p:cNvPr id="15" name="Rounded Rectangle 14"/>
          <p:cNvSpPr/>
          <p:nvPr/>
        </p:nvSpPr>
        <p:spPr>
          <a:xfrm>
            <a:off x="8119872" y="1645920"/>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19872" y="1519902"/>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1810512"/>
            <a:ext cx="2962656" cy="4224528"/>
          </a:xfrm>
          <a:prstGeom prst="rect">
            <a:avLst/>
          </a:prstGeom>
          <a:noFill/>
        </p:spPr>
        <p:txBody>
          <a:bodyPr wrap="square" lIns="0" tIns="0" rIns="0" bIns="0">
            <a:spAutoFit/>
          </a:bodyPr>
          <a:lstStyle/>
          <a:p>
            <a:pPr>
              <a:spcAft>
                <a:spcPts val="600"/>
              </a:spcAft>
              <a:defRPr sz="1300" b="1">
                <a:solidFill>
                  <a:srgbClr val="FFD778"/>
                </a:solidFill>
                <a:latin typeface="Georgia"/>
              </a:defRPr>
            </a:pPr>
            <a:r>
              <a:t>Data Access Layer (RDBMS)</a:t>
            </a:r>
          </a:p>
          <a:p>
            <a:pPr>
              <a:spcAft>
                <a:spcPts val="400"/>
              </a:spcAft>
            </a:pPr>
            <a:r>
              <a:rPr sz="1050" b="1">
                <a:solidFill>
                  <a:srgbClr val="FFFFFF"/>
                </a:solidFill>
                <a:latin typeface="Calibri"/>
              </a:rPr>
              <a:t>• Storage Engine: </a:t>
            </a:r>
            <a:r>
              <a:rPr sz="1000">
                <a:solidFill>
                  <a:srgbClr val="A5ACB9"/>
                </a:solidFill>
                <a:latin typeface="Calibri"/>
              </a:rPr>
              <a:t>MySQL 8.0 InnoDB (ACID compliant) / PostgreSQL</a:t>
            </a:r>
          </a:p>
          <a:p>
            <a:pPr>
              <a:spcAft>
                <a:spcPts val="400"/>
              </a:spcAft>
            </a:pPr>
            <a:r>
              <a:rPr sz="1050" b="1">
                <a:solidFill>
                  <a:srgbClr val="FFFFFF"/>
                </a:solidFill>
                <a:latin typeface="Calibri"/>
              </a:rPr>
              <a:t>• Connector: </a:t>
            </a:r>
            <a:r>
              <a:rPr sz="1000">
                <a:solidFill>
                  <a:srgbClr val="A5ACB9"/>
                </a:solidFill>
                <a:latin typeface="Calibri"/>
              </a:rPr>
              <a:t>Native mysql-connector-python with pooled connections.</a:t>
            </a:r>
          </a:p>
          <a:p>
            <a:pPr>
              <a:spcAft>
                <a:spcPts val="400"/>
              </a:spcAft>
            </a:pPr>
            <a:r>
              <a:rPr sz="1050" b="1">
                <a:solidFill>
                  <a:srgbClr val="FFFFFF"/>
                </a:solidFill>
                <a:latin typeface="Calibri"/>
              </a:rPr>
              <a:t>• Constraint Checking: </a:t>
            </a:r>
            <a:r>
              <a:rPr sz="1000">
                <a:solidFill>
                  <a:srgbClr val="A5ACB9"/>
                </a:solidFill>
                <a:latin typeface="Calibri"/>
              </a:rPr>
              <a:t>Primary, foreign, unique, and check constraint integrity.</a:t>
            </a:r>
          </a:p>
          <a:p>
            <a:pPr>
              <a:spcAft>
                <a:spcPts val="400"/>
              </a:spcAft>
            </a:pPr>
            <a:r>
              <a:rPr sz="1050" b="1">
                <a:solidFill>
                  <a:srgbClr val="FFFFFF"/>
                </a:solidFill>
                <a:latin typeface="Calibri"/>
              </a:rPr>
              <a:t>• Trigger Execution: </a:t>
            </a:r>
            <a:r>
              <a:rPr sz="1000">
                <a:solidFill>
                  <a:srgbClr val="A5ACB9"/>
                </a:solidFill>
                <a:latin typeface="Calibri"/>
              </a:rPr>
              <a:t>Automated server-side rule verification.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REVIEW 3 • QUALITY ASSURANCE</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System Testing &amp; Test Case Verification Matrix</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rPr lang="en-US" dirty="0"/>
              <a:t>Test Cases </a:t>
            </a:r>
            <a:endParaRPr dirty="0"/>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8" name="TextBox 7"/>
          <p:cNvSpPr txBox="1"/>
          <p:nvPr/>
        </p:nvSpPr>
        <p:spPr>
          <a:xfrm>
            <a:off x="10515600" y="6473952"/>
            <a:ext cx="914400" cy="274320"/>
          </a:xfrm>
          <a:prstGeom prst="rect">
            <a:avLst/>
          </a:prstGeom>
          <a:noFill/>
        </p:spPr>
        <p:txBody>
          <a:bodyPr wrap="none" lIns="0" tIns="0" rIns="0" bIns="0">
            <a:spAutoFit/>
          </a:bodyPr>
          <a:lstStyle/>
          <a:p>
            <a:pPr algn="r">
              <a:defRPr sz="850">
                <a:solidFill>
                  <a:srgbClr val="737A87"/>
                </a:solidFill>
                <a:latin typeface="Calibri"/>
              </a:defRPr>
            </a:pPr>
            <a:r>
              <a:t>30 / 32</a:t>
            </a:r>
          </a:p>
        </p:txBody>
      </p:sp>
      <p:graphicFrame>
        <p:nvGraphicFramePr>
          <p:cNvPr id="9" name="Table 8"/>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944575">
                  <a:extLst>
                    <a:ext uri="{9D8B030D-6E8A-4147-A177-3AD203B41FA5}">
                      <a16:colId xmlns:a16="http://schemas.microsoft.com/office/drawing/2014/main" val="20004"/>
                    </a:ext>
                  </a:extLst>
                </a:gridCol>
              </a:tblGrid>
              <a:tr h="560070">
                <a:tc>
                  <a:txBody>
                    <a:bodyPr/>
                    <a:lstStyle/>
                    <a:p>
                      <a:pPr>
                        <a:defRPr sz="1000" b="1">
                          <a:solidFill>
                            <a:srgbClr val="E5A93C"/>
                          </a:solidFill>
                          <a:latin typeface="Calibri"/>
                        </a:defRPr>
                      </a:pPr>
                      <a:r>
                        <a:t>Test ID</a:t>
                      </a:r>
                    </a:p>
                  </a:txBody>
                  <a:tcPr marT="54864" marB="54864" anchor="ctr">
                    <a:solidFill>
                      <a:srgbClr val="222834"/>
                    </a:solidFill>
                  </a:tcPr>
                </a:tc>
                <a:tc>
                  <a:txBody>
                    <a:bodyPr/>
                    <a:lstStyle/>
                    <a:p>
                      <a:pPr>
                        <a:defRPr sz="1000" b="1">
                          <a:solidFill>
                            <a:srgbClr val="E5A93C"/>
                          </a:solidFill>
                          <a:latin typeface="Calibri"/>
                        </a:defRPr>
                      </a:pPr>
                      <a:r>
                        <a:t>Feature / Condition Tested</a:t>
                      </a:r>
                    </a:p>
                  </a:txBody>
                  <a:tcPr marT="54864" marB="54864" anchor="ctr">
                    <a:solidFill>
                      <a:srgbClr val="222834"/>
                    </a:solidFill>
                  </a:tcPr>
                </a:tc>
                <a:tc>
                  <a:txBody>
                    <a:bodyPr/>
                    <a:lstStyle/>
                    <a:p>
                      <a:pPr>
                        <a:defRPr sz="1000" b="1">
                          <a:solidFill>
                            <a:srgbClr val="E5A93C"/>
                          </a:solidFill>
                          <a:latin typeface="Calibri"/>
                        </a:defRPr>
                      </a:pPr>
                      <a:r>
                        <a:t>Input Data / Scenario</a:t>
                      </a:r>
                    </a:p>
                  </a:txBody>
                  <a:tcPr marT="54864" marB="54864" anchor="ctr">
                    <a:solidFill>
                      <a:srgbClr val="222834"/>
                    </a:solidFill>
                  </a:tcPr>
                </a:tc>
                <a:tc>
                  <a:txBody>
                    <a:bodyPr/>
                    <a:lstStyle/>
                    <a:p>
                      <a:pPr>
                        <a:defRPr sz="1000" b="1">
                          <a:solidFill>
                            <a:srgbClr val="E5A93C"/>
                          </a:solidFill>
                          <a:latin typeface="Calibri"/>
                        </a:defRPr>
                      </a:pPr>
                      <a:r>
                        <a:t>Expected System Response</a:t>
                      </a:r>
                    </a:p>
                  </a:txBody>
                  <a:tcPr marT="54864" marB="54864" anchor="ctr">
                    <a:solidFill>
                      <a:srgbClr val="222834"/>
                    </a:solidFill>
                  </a:tcPr>
                </a:tc>
                <a:tc>
                  <a:txBody>
                    <a:bodyPr/>
                    <a:lstStyle/>
                    <a:p>
                      <a:pPr>
                        <a:defRPr sz="1000" b="1">
                          <a:solidFill>
                            <a:srgbClr val="E5A93C"/>
                          </a:solidFill>
                          <a:latin typeface="Calibri"/>
                        </a:defRPr>
                      </a:pPr>
                      <a:r>
                        <a:t>Status</a:t>
                      </a:r>
                    </a:p>
                  </a:txBody>
                  <a:tcPr marT="54864" marB="54864" anchor="ctr">
                    <a:solidFill>
                      <a:srgbClr val="222834"/>
                    </a:solidFill>
                  </a:tcPr>
                </a:tc>
                <a:extLst>
                  <a:ext uri="{0D108BD9-81ED-4DB2-BD59-A6C34878D82A}">
                    <a16:rowId xmlns:a16="http://schemas.microsoft.com/office/drawing/2014/main" val="10000"/>
                  </a:ext>
                </a:extLst>
              </a:tr>
              <a:tr h="560070">
                <a:tc>
                  <a:txBody>
                    <a:bodyPr/>
                    <a:lstStyle/>
                    <a:p>
                      <a:pPr>
                        <a:defRPr sz="950" b="1">
                          <a:solidFill>
                            <a:srgbClr val="FFFFFF"/>
                          </a:solidFill>
                          <a:latin typeface="Calibri"/>
                        </a:defRPr>
                      </a:pPr>
                      <a:r>
                        <a:t>TC-01</a:t>
                      </a:r>
                    </a:p>
                  </a:txBody>
                  <a:tcPr anchor="ctr">
                    <a:solidFill>
                      <a:srgbClr val="181C24"/>
                    </a:solidFill>
                  </a:tcPr>
                </a:tc>
                <a:tc>
                  <a:txBody>
                    <a:bodyPr/>
                    <a:lstStyle/>
                    <a:p>
                      <a:pPr>
                        <a:defRPr sz="950">
                          <a:solidFill>
                            <a:srgbClr val="A5ACB9"/>
                          </a:solidFill>
                          <a:latin typeface="Calibri"/>
                        </a:defRPr>
                      </a:pPr>
                      <a:r>
                        <a:t>Duplicate Application</a:t>
                      </a:r>
                    </a:p>
                  </a:txBody>
                  <a:tcPr anchor="ctr">
                    <a:solidFill>
                      <a:srgbClr val="181C24"/>
                    </a:solidFill>
                  </a:tcPr>
                </a:tc>
                <a:tc>
                  <a:txBody>
                    <a:bodyPr/>
                    <a:lstStyle/>
                    <a:p>
                      <a:pPr>
                        <a:defRPr sz="950">
                          <a:solidFill>
                            <a:srgbClr val="A5ACB9"/>
                          </a:solidFill>
                          <a:latin typeface="Calibri"/>
                        </a:defRPr>
                      </a:pPr>
                      <a:r>
                        <a:t>Student re-applies to same Opp_ID</a:t>
                      </a:r>
                    </a:p>
                  </a:txBody>
                  <a:tcPr anchor="ctr">
                    <a:solidFill>
                      <a:srgbClr val="181C24"/>
                    </a:solidFill>
                  </a:tcPr>
                </a:tc>
                <a:tc>
                  <a:txBody>
                    <a:bodyPr/>
                    <a:lstStyle/>
                    <a:p>
                      <a:pPr>
                        <a:defRPr sz="950">
                          <a:solidFill>
                            <a:srgbClr val="A5ACB9"/>
                          </a:solidFill>
                          <a:latin typeface="Calibri"/>
                        </a:defRPr>
                      </a:pPr>
                      <a:r>
                        <a:t>Reject: UNIQUE constraint violation</a:t>
                      </a:r>
                    </a:p>
                  </a:txBody>
                  <a:tcPr anchor="ctr">
                    <a:solidFill>
                      <a:srgbClr val="181C24"/>
                    </a:solidFill>
                  </a:tcPr>
                </a:tc>
                <a:tc>
                  <a:txBody>
                    <a:bodyPr/>
                    <a:lstStyle/>
                    <a:p>
                      <a:pPr>
                        <a:defRPr sz="950">
                          <a:solidFill>
                            <a:srgbClr val="A5ACB9"/>
                          </a:solidFill>
                          <a:latin typeface="Calibri"/>
                        </a:defRPr>
                      </a:pPr>
                      <a:r>
                        <a:t>PASS</a:t>
                      </a:r>
                    </a:p>
                  </a:txBody>
                  <a:tcPr anchor="ctr">
                    <a:solidFill>
                      <a:srgbClr val="181C24"/>
                    </a:solidFill>
                  </a:tcPr>
                </a:tc>
                <a:extLst>
                  <a:ext uri="{0D108BD9-81ED-4DB2-BD59-A6C34878D82A}">
                    <a16:rowId xmlns:a16="http://schemas.microsoft.com/office/drawing/2014/main" val="10001"/>
                  </a:ext>
                </a:extLst>
              </a:tr>
              <a:tr h="560070">
                <a:tc>
                  <a:txBody>
                    <a:bodyPr/>
                    <a:lstStyle/>
                    <a:p>
                      <a:pPr>
                        <a:defRPr sz="950" b="1">
                          <a:solidFill>
                            <a:srgbClr val="FFFFFF"/>
                          </a:solidFill>
                          <a:latin typeface="Calibri"/>
                        </a:defRPr>
                      </a:pPr>
                      <a:r>
                        <a:t>TC-02</a:t>
                      </a:r>
                    </a:p>
                  </a:txBody>
                  <a:tcPr anchor="ctr">
                    <a:solidFill>
                      <a:srgbClr val="13161C"/>
                    </a:solidFill>
                  </a:tcPr>
                </a:tc>
                <a:tc>
                  <a:txBody>
                    <a:bodyPr/>
                    <a:lstStyle/>
                    <a:p>
                      <a:pPr>
                        <a:defRPr sz="950">
                          <a:solidFill>
                            <a:srgbClr val="A5ACB9"/>
                          </a:solidFill>
                          <a:latin typeface="Calibri"/>
                        </a:defRPr>
                      </a:pPr>
                      <a:r>
                        <a:t>Overlapping Internship</a:t>
                      </a:r>
                    </a:p>
                  </a:txBody>
                  <a:tcPr anchor="ctr">
                    <a:solidFill>
                      <a:srgbClr val="13161C"/>
                    </a:solidFill>
                  </a:tcPr>
                </a:tc>
                <a:tc>
                  <a:txBody>
                    <a:bodyPr/>
                    <a:lstStyle/>
                    <a:p>
                      <a:pPr>
                        <a:defRPr sz="950">
                          <a:solidFill>
                            <a:srgbClr val="A5ACB9"/>
                          </a:solidFill>
                          <a:latin typeface="Calibri"/>
                        </a:defRPr>
                      </a:pPr>
                      <a:r>
                        <a:t>New assignment overlapping active dates</a:t>
                      </a:r>
                    </a:p>
                  </a:txBody>
                  <a:tcPr anchor="ctr">
                    <a:solidFill>
                      <a:srgbClr val="13161C"/>
                    </a:solidFill>
                  </a:tcPr>
                </a:tc>
                <a:tc>
                  <a:txBody>
                    <a:bodyPr/>
                    <a:lstStyle/>
                    <a:p>
                      <a:pPr>
                        <a:defRPr sz="950">
                          <a:solidFill>
                            <a:srgbClr val="A5ACB9"/>
                          </a:solidFill>
                          <a:latin typeface="Calibri"/>
                        </a:defRPr>
                      </a:pPr>
                      <a:r>
                        <a:t>Reject: Trigger raises SQLSTATE 45000</a:t>
                      </a:r>
                    </a:p>
                  </a:txBody>
                  <a:tcPr anchor="ctr">
                    <a:solidFill>
                      <a:srgbClr val="13161C"/>
                    </a:solidFill>
                  </a:tcPr>
                </a:tc>
                <a:tc>
                  <a:txBody>
                    <a:bodyPr/>
                    <a:lstStyle/>
                    <a:p>
                      <a:pPr>
                        <a:defRPr sz="950">
                          <a:solidFill>
                            <a:srgbClr val="A5ACB9"/>
                          </a:solidFill>
                          <a:latin typeface="Calibri"/>
                        </a:defRPr>
                      </a:pPr>
                      <a:r>
                        <a:t>PASS</a:t>
                      </a:r>
                    </a:p>
                  </a:txBody>
                  <a:tcPr anchor="ctr">
                    <a:solidFill>
                      <a:srgbClr val="13161C"/>
                    </a:solidFill>
                  </a:tcPr>
                </a:tc>
                <a:extLst>
                  <a:ext uri="{0D108BD9-81ED-4DB2-BD59-A6C34878D82A}">
                    <a16:rowId xmlns:a16="http://schemas.microsoft.com/office/drawing/2014/main" val="10002"/>
                  </a:ext>
                </a:extLst>
              </a:tr>
              <a:tr h="560070">
                <a:tc>
                  <a:txBody>
                    <a:bodyPr/>
                    <a:lstStyle/>
                    <a:p>
                      <a:pPr>
                        <a:defRPr sz="950" b="1">
                          <a:solidFill>
                            <a:srgbClr val="FFFFFF"/>
                          </a:solidFill>
                          <a:latin typeface="Calibri"/>
                        </a:defRPr>
                      </a:pPr>
                      <a:r>
                        <a:t>TC-03</a:t>
                      </a:r>
                    </a:p>
                  </a:txBody>
                  <a:tcPr anchor="ctr">
                    <a:solidFill>
                      <a:srgbClr val="181C24"/>
                    </a:solidFill>
                  </a:tcPr>
                </a:tc>
                <a:tc>
                  <a:txBody>
                    <a:bodyPr/>
                    <a:lstStyle/>
                    <a:p>
                      <a:pPr>
                        <a:defRPr sz="950">
                          <a:solidFill>
                            <a:srgbClr val="A5ACB9"/>
                          </a:solidFill>
                          <a:latin typeface="Calibri"/>
                        </a:defRPr>
                      </a:pPr>
                      <a:r>
                        <a:t>Invalid Log Submission Date</a:t>
                      </a:r>
                    </a:p>
                  </a:txBody>
                  <a:tcPr anchor="ctr">
                    <a:solidFill>
                      <a:srgbClr val="181C24"/>
                    </a:solidFill>
                  </a:tcPr>
                </a:tc>
                <a:tc>
                  <a:txBody>
                    <a:bodyPr/>
                    <a:lstStyle/>
                    <a:p>
                      <a:pPr>
                        <a:defRPr sz="950">
                          <a:solidFill>
                            <a:srgbClr val="A5ACB9"/>
                          </a:solidFill>
                          <a:latin typeface="Calibri"/>
                        </a:defRPr>
                      </a:pPr>
                      <a:r>
                        <a:t>Log date outside [Start_Date, End_Date]</a:t>
                      </a:r>
                    </a:p>
                  </a:txBody>
                  <a:tcPr anchor="ctr">
                    <a:solidFill>
                      <a:srgbClr val="181C24"/>
                    </a:solidFill>
                  </a:tcPr>
                </a:tc>
                <a:tc>
                  <a:txBody>
                    <a:bodyPr/>
                    <a:lstStyle/>
                    <a:p>
                      <a:pPr>
                        <a:defRPr sz="950">
                          <a:solidFill>
                            <a:srgbClr val="A5ACB9"/>
                          </a:solidFill>
                          <a:latin typeface="Calibri"/>
                        </a:defRPr>
                      </a:pPr>
                      <a:r>
                        <a:t>Reject: Boundary validation error</a:t>
                      </a:r>
                    </a:p>
                  </a:txBody>
                  <a:tcPr anchor="ctr">
                    <a:solidFill>
                      <a:srgbClr val="181C24"/>
                    </a:solidFill>
                  </a:tcPr>
                </a:tc>
                <a:tc>
                  <a:txBody>
                    <a:bodyPr/>
                    <a:lstStyle/>
                    <a:p>
                      <a:pPr>
                        <a:defRPr sz="950">
                          <a:solidFill>
                            <a:srgbClr val="A5ACB9"/>
                          </a:solidFill>
                          <a:latin typeface="Calibri"/>
                        </a:defRPr>
                      </a:pPr>
                      <a:r>
                        <a:t>PASS</a:t>
                      </a:r>
                    </a:p>
                  </a:txBody>
                  <a:tcPr anchor="ctr">
                    <a:solidFill>
                      <a:srgbClr val="181C24"/>
                    </a:solidFill>
                  </a:tcPr>
                </a:tc>
                <a:extLst>
                  <a:ext uri="{0D108BD9-81ED-4DB2-BD59-A6C34878D82A}">
                    <a16:rowId xmlns:a16="http://schemas.microsoft.com/office/drawing/2014/main" val="10003"/>
                  </a:ext>
                </a:extLst>
              </a:tr>
              <a:tr h="560070">
                <a:tc>
                  <a:txBody>
                    <a:bodyPr/>
                    <a:lstStyle/>
                    <a:p>
                      <a:pPr>
                        <a:defRPr sz="950" b="1">
                          <a:solidFill>
                            <a:srgbClr val="FFFFFF"/>
                          </a:solidFill>
                          <a:latin typeface="Calibri"/>
                        </a:defRPr>
                      </a:pPr>
                      <a:r>
                        <a:t>TC-04</a:t>
                      </a:r>
                    </a:p>
                  </a:txBody>
                  <a:tcPr anchor="ctr">
                    <a:solidFill>
                      <a:srgbClr val="13161C"/>
                    </a:solidFill>
                  </a:tcPr>
                </a:tc>
                <a:tc>
                  <a:txBody>
                    <a:bodyPr/>
                    <a:lstStyle/>
                    <a:p>
                      <a:pPr>
                        <a:defRPr sz="950">
                          <a:solidFill>
                            <a:srgbClr val="A5ACB9"/>
                          </a:solidFill>
                          <a:latin typeface="Calibri"/>
                        </a:defRPr>
                      </a:pPr>
                      <a:r>
                        <a:t>Evaluation Score Boundary</a:t>
                      </a:r>
                    </a:p>
                  </a:txBody>
                  <a:tcPr anchor="ctr">
                    <a:solidFill>
                      <a:srgbClr val="13161C"/>
                    </a:solidFill>
                  </a:tcPr>
                </a:tc>
                <a:tc>
                  <a:txBody>
                    <a:bodyPr/>
                    <a:lstStyle/>
                    <a:p>
                      <a:pPr>
                        <a:defRPr sz="950">
                          <a:solidFill>
                            <a:srgbClr val="A5ACB9"/>
                          </a:solidFill>
                          <a:latin typeface="Calibri"/>
                        </a:defRPr>
                      </a:pPr>
                      <a:r>
                        <a:t>Supervisor inputs Score = 105.0</a:t>
                      </a:r>
                    </a:p>
                  </a:txBody>
                  <a:tcPr anchor="ctr">
                    <a:solidFill>
                      <a:srgbClr val="13161C"/>
                    </a:solidFill>
                  </a:tcPr>
                </a:tc>
                <a:tc>
                  <a:txBody>
                    <a:bodyPr/>
                    <a:lstStyle/>
                    <a:p>
                      <a:pPr>
                        <a:defRPr sz="950">
                          <a:solidFill>
                            <a:srgbClr val="A5ACB9"/>
                          </a:solidFill>
                          <a:latin typeface="Calibri"/>
                        </a:defRPr>
                      </a:pPr>
                      <a:r>
                        <a:t>Reject: CHECK constraint violation</a:t>
                      </a:r>
                    </a:p>
                  </a:txBody>
                  <a:tcPr anchor="ctr">
                    <a:solidFill>
                      <a:srgbClr val="13161C"/>
                    </a:solidFill>
                  </a:tcPr>
                </a:tc>
                <a:tc>
                  <a:txBody>
                    <a:bodyPr/>
                    <a:lstStyle/>
                    <a:p>
                      <a:pPr>
                        <a:defRPr sz="950">
                          <a:solidFill>
                            <a:srgbClr val="A5ACB9"/>
                          </a:solidFill>
                          <a:latin typeface="Calibri"/>
                        </a:defRPr>
                      </a:pPr>
                      <a:r>
                        <a:t>PASS</a:t>
                      </a:r>
                    </a:p>
                  </a:txBody>
                  <a:tcPr anchor="ctr">
                    <a:solidFill>
                      <a:srgbClr val="13161C"/>
                    </a:solidFill>
                  </a:tcPr>
                </a:tc>
                <a:extLst>
                  <a:ext uri="{0D108BD9-81ED-4DB2-BD59-A6C34878D82A}">
                    <a16:rowId xmlns:a16="http://schemas.microsoft.com/office/drawing/2014/main" val="10004"/>
                  </a:ext>
                </a:extLst>
              </a:tr>
              <a:tr h="560070">
                <a:tc>
                  <a:txBody>
                    <a:bodyPr/>
                    <a:lstStyle/>
                    <a:p>
                      <a:pPr>
                        <a:defRPr sz="950" b="1">
                          <a:solidFill>
                            <a:srgbClr val="FFFFFF"/>
                          </a:solidFill>
                          <a:latin typeface="Calibri"/>
                        </a:defRPr>
                      </a:pPr>
                      <a:r>
                        <a:t>TC-05</a:t>
                      </a:r>
                    </a:p>
                  </a:txBody>
                  <a:tcPr anchor="ctr">
                    <a:solidFill>
                      <a:srgbClr val="181C24"/>
                    </a:solidFill>
                  </a:tcPr>
                </a:tc>
                <a:tc>
                  <a:txBody>
                    <a:bodyPr/>
                    <a:lstStyle/>
                    <a:p>
                      <a:pPr>
                        <a:defRPr sz="950">
                          <a:solidFill>
                            <a:srgbClr val="A5ACB9"/>
                          </a:solidFill>
                          <a:latin typeface="Calibri"/>
                        </a:defRPr>
                      </a:pPr>
                      <a:r>
                        <a:t>Premature Certificate Issue</a:t>
                      </a:r>
                    </a:p>
                  </a:txBody>
                  <a:tcPr anchor="ctr">
                    <a:solidFill>
                      <a:srgbClr val="181C24"/>
                    </a:solidFill>
                  </a:tcPr>
                </a:tc>
                <a:tc>
                  <a:txBody>
                    <a:bodyPr/>
                    <a:lstStyle/>
                    <a:p>
                      <a:pPr>
                        <a:defRPr sz="950">
                          <a:solidFill>
                            <a:srgbClr val="A5ACB9"/>
                          </a:solidFill>
                          <a:latin typeface="Calibri"/>
                        </a:defRPr>
                      </a:pPr>
                      <a:r>
                        <a:t>Issue certificate without evaluation score</a:t>
                      </a:r>
                    </a:p>
                  </a:txBody>
                  <a:tcPr anchor="ctr">
                    <a:solidFill>
                      <a:srgbClr val="181C24"/>
                    </a:solidFill>
                  </a:tcPr>
                </a:tc>
                <a:tc>
                  <a:txBody>
                    <a:bodyPr/>
                    <a:lstStyle/>
                    <a:p>
                      <a:pPr>
                        <a:defRPr sz="950">
                          <a:solidFill>
                            <a:srgbClr val="A5ACB9"/>
                          </a:solidFill>
                          <a:latin typeface="Calibri"/>
                        </a:defRPr>
                      </a:pPr>
                      <a:r>
                        <a:t>Reject: Completion prerequisite check</a:t>
                      </a:r>
                    </a:p>
                  </a:txBody>
                  <a:tcPr anchor="ctr">
                    <a:solidFill>
                      <a:srgbClr val="181C24"/>
                    </a:solidFill>
                  </a:tcPr>
                </a:tc>
                <a:tc>
                  <a:txBody>
                    <a:bodyPr/>
                    <a:lstStyle/>
                    <a:p>
                      <a:pPr>
                        <a:defRPr sz="950">
                          <a:solidFill>
                            <a:srgbClr val="A5ACB9"/>
                          </a:solidFill>
                          <a:latin typeface="Calibri"/>
                        </a:defRPr>
                      </a:pPr>
                      <a:r>
                        <a:t>PASS</a:t>
                      </a:r>
                    </a:p>
                  </a:txBody>
                  <a:tcPr anchor="ctr">
                    <a:solidFill>
                      <a:srgbClr val="181C24"/>
                    </a:solidFill>
                  </a:tcPr>
                </a:tc>
                <a:extLst>
                  <a:ext uri="{0D108BD9-81ED-4DB2-BD59-A6C34878D82A}">
                    <a16:rowId xmlns:a16="http://schemas.microsoft.com/office/drawing/2014/main" val="10005"/>
                  </a:ext>
                </a:extLst>
              </a:tr>
              <a:tr h="560070">
                <a:tc>
                  <a:txBody>
                    <a:bodyPr/>
                    <a:lstStyle/>
                    <a:p>
                      <a:pPr>
                        <a:defRPr sz="950" b="1">
                          <a:solidFill>
                            <a:srgbClr val="FFFFFF"/>
                          </a:solidFill>
                          <a:latin typeface="Calibri"/>
                        </a:defRPr>
                      </a:pPr>
                      <a:r>
                        <a:t>TC-06</a:t>
                      </a:r>
                    </a:p>
                  </a:txBody>
                  <a:tcPr anchor="ctr">
                    <a:solidFill>
                      <a:srgbClr val="13161C"/>
                    </a:solidFill>
                  </a:tcPr>
                </a:tc>
                <a:tc>
                  <a:txBody>
                    <a:bodyPr/>
                    <a:lstStyle/>
                    <a:p>
                      <a:pPr>
                        <a:defRPr sz="950">
                          <a:solidFill>
                            <a:srgbClr val="A5ACB9"/>
                          </a:solidFill>
                          <a:latin typeface="Calibri"/>
                        </a:defRPr>
                      </a:pPr>
                      <a:r>
                        <a:t>SQL Injection Resistance</a:t>
                      </a:r>
                    </a:p>
                  </a:txBody>
                  <a:tcPr anchor="ctr">
                    <a:solidFill>
                      <a:srgbClr val="13161C"/>
                    </a:solidFill>
                  </a:tcPr>
                </a:tc>
                <a:tc>
                  <a:txBody>
                    <a:bodyPr/>
                    <a:lstStyle/>
                    <a:p>
                      <a:pPr>
                        <a:defRPr sz="950">
                          <a:solidFill>
                            <a:srgbClr val="A5ACB9"/>
                          </a:solidFill>
                          <a:latin typeface="Calibri"/>
                        </a:defRPr>
                      </a:pPr>
                      <a:r>
                        <a:t>Input: ' OR 1=1; -- in student login</a:t>
                      </a:r>
                    </a:p>
                  </a:txBody>
                  <a:tcPr anchor="ctr">
                    <a:solidFill>
                      <a:srgbClr val="13161C"/>
                    </a:solidFill>
                  </a:tcPr>
                </a:tc>
                <a:tc>
                  <a:txBody>
                    <a:bodyPr/>
                    <a:lstStyle/>
                    <a:p>
                      <a:pPr>
                        <a:defRPr sz="950">
                          <a:solidFill>
                            <a:srgbClr val="A5ACB9"/>
                          </a:solidFill>
                          <a:latin typeface="Calibri"/>
                        </a:defRPr>
                      </a:pPr>
                      <a:r>
                        <a:t>Reject: Parameterized query escapes input</a:t>
                      </a:r>
                    </a:p>
                  </a:txBody>
                  <a:tcPr anchor="ctr">
                    <a:solidFill>
                      <a:srgbClr val="13161C"/>
                    </a:solidFill>
                  </a:tcPr>
                </a:tc>
                <a:tc>
                  <a:txBody>
                    <a:bodyPr/>
                    <a:lstStyle/>
                    <a:p>
                      <a:pPr>
                        <a:defRPr sz="950">
                          <a:solidFill>
                            <a:srgbClr val="A5ACB9"/>
                          </a:solidFill>
                          <a:latin typeface="Calibri"/>
                        </a:defRPr>
                      </a:pPr>
                      <a:r>
                        <a:t>PASS</a:t>
                      </a:r>
                    </a:p>
                  </a:txBody>
                  <a:tcPr anchor="ctr">
                    <a:solidFill>
                      <a:srgbClr val="13161C"/>
                    </a:solidFill>
                  </a:tcPr>
                </a:tc>
                <a:extLst>
                  <a:ext uri="{0D108BD9-81ED-4DB2-BD59-A6C34878D82A}">
                    <a16:rowId xmlns:a16="http://schemas.microsoft.com/office/drawing/2014/main" val="10006"/>
                  </a:ext>
                </a:extLst>
              </a:tr>
              <a:tr h="560070">
                <a:tc>
                  <a:txBody>
                    <a:bodyPr/>
                    <a:lstStyle/>
                    <a:p>
                      <a:pPr>
                        <a:defRPr sz="950" b="1">
                          <a:solidFill>
                            <a:srgbClr val="FFFFFF"/>
                          </a:solidFill>
                          <a:latin typeface="Calibri"/>
                        </a:defRPr>
                      </a:pPr>
                      <a:r>
                        <a:t>TC-07</a:t>
                      </a:r>
                    </a:p>
                  </a:txBody>
                  <a:tcPr anchor="ctr">
                    <a:solidFill>
                      <a:srgbClr val="181C24"/>
                    </a:solidFill>
                  </a:tcPr>
                </a:tc>
                <a:tc>
                  <a:txBody>
                    <a:bodyPr/>
                    <a:lstStyle/>
                    <a:p>
                      <a:pPr>
                        <a:defRPr sz="950">
                          <a:solidFill>
                            <a:srgbClr val="A5ACB9"/>
                          </a:solidFill>
                          <a:latin typeface="Calibri"/>
                        </a:defRPr>
                      </a:pPr>
                      <a:r>
                        <a:t>End-to-End Successful Flow</a:t>
                      </a:r>
                    </a:p>
                  </a:txBody>
                  <a:tcPr anchor="ctr">
                    <a:solidFill>
                      <a:srgbClr val="181C24"/>
                    </a:solidFill>
                  </a:tcPr>
                </a:tc>
                <a:tc>
                  <a:txBody>
                    <a:bodyPr/>
                    <a:lstStyle/>
                    <a:p>
                      <a:pPr>
                        <a:defRPr sz="950">
                          <a:solidFill>
                            <a:srgbClr val="A5ACB9"/>
                          </a:solidFill>
                          <a:latin typeface="Calibri"/>
                        </a:defRPr>
                      </a:pPr>
                      <a:r>
                        <a:t>Valid workflow through all 6 modules</a:t>
                      </a:r>
                    </a:p>
                  </a:txBody>
                  <a:tcPr anchor="ctr">
                    <a:solidFill>
                      <a:srgbClr val="181C24"/>
                    </a:solidFill>
                  </a:tcPr>
                </a:tc>
                <a:tc>
                  <a:txBody>
                    <a:bodyPr/>
                    <a:lstStyle/>
                    <a:p>
                      <a:pPr>
                        <a:defRPr sz="950">
                          <a:solidFill>
                            <a:srgbClr val="A5ACB9"/>
                          </a:solidFill>
                          <a:latin typeface="Calibri"/>
                        </a:defRPr>
                      </a:pPr>
                      <a:r>
                        <a:t>Successful certificate &amp; hash generation</a:t>
                      </a:r>
                    </a:p>
                  </a:txBody>
                  <a:tcPr anchor="ctr">
                    <a:solidFill>
                      <a:srgbClr val="181C24"/>
                    </a:solidFill>
                  </a:tcPr>
                </a:tc>
                <a:tc>
                  <a:txBody>
                    <a:bodyPr/>
                    <a:lstStyle/>
                    <a:p>
                      <a:pPr>
                        <a:defRPr sz="950">
                          <a:solidFill>
                            <a:srgbClr val="A5ACB9"/>
                          </a:solidFill>
                          <a:latin typeface="Calibri"/>
                        </a:defRPr>
                      </a:pPr>
                      <a:r>
                        <a:t>PASS</a:t>
                      </a:r>
                    </a:p>
                  </a:txBody>
                  <a:tcPr anchor="ctr">
                    <a:solidFill>
                      <a:srgbClr val="181C24"/>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7772400" cy="320040"/>
          </a:xfrm>
          <a:prstGeom prst="rect">
            <a:avLst/>
          </a:prstGeom>
          <a:noFill/>
        </p:spPr>
        <p:txBody>
          <a:bodyPr wrap="square" lIns="0" tIns="0" rIns="0" bIns="0">
            <a:spAutoFit/>
          </a:bodyPr>
          <a:lstStyle/>
          <a:p>
            <a:pPr>
              <a:defRPr sz="950" b="1">
                <a:solidFill>
                  <a:srgbClr val="E5A93C"/>
                </a:solidFill>
                <a:latin typeface="Calibri"/>
              </a:defRPr>
            </a:pPr>
            <a:r>
              <a:t>PROJECT 35 • FINAL SUMMARY</a:t>
            </a:r>
          </a:p>
        </p:txBody>
      </p:sp>
      <p:sp>
        <p:nvSpPr>
          <p:cNvPr id="4" name="TextBox 3"/>
          <p:cNvSpPr txBox="1"/>
          <p:nvPr/>
        </p:nvSpPr>
        <p:spPr>
          <a:xfrm>
            <a:off x="731520" y="658368"/>
            <a:ext cx="8229600" cy="640080"/>
          </a:xfrm>
          <a:prstGeom prst="rect">
            <a:avLst/>
          </a:prstGeom>
          <a:noFill/>
        </p:spPr>
        <p:txBody>
          <a:bodyPr wrap="square" lIns="0" tIns="0" rIns="0" bIns="0">
            <a:spAutoFit/>
          </a:bodyPr>
          <a:lstStyle/>
          <a:p>
            <a:pPr>
              <a:defRPr sz="2100" b="1">
                <a:solidFill>
                  <a:srgbClr val="FFFFFF"/>
                </a:solidFill>
                <a:latin typeface="Georgia"/>
              </a:defRPr>
            </a:pPr>
            <a:r>
              <a:t>Conclusion &amp; Future Enhancements</a:t>
            </a:r>
          </a:p>
        </p:txBody>
      </p:sp>
      <p:sp>
        <p:nvSpPr>
          <p:cNvPr id="5" name="Rounded Rectangle 4"/>
          <p:cNvSpPr/>
          <p:nvPr/>
        </p:nvSpPr>
        <p:spPr>
          <a:xfrm>
            <a:off x="8991295" y="502920"/>
            <a:ext cx="2468880" cy="329184"/>
          </a:xfrm>
          <a:prstGeom prst="roundRect">
            <a:avLst/>
          </a:prstGeom>
          <a:solidFill>
            <a:srgbClr val="1C2028"/>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850" b="1">
                <a:solidFill>
                  <a:srgbClr val="FFD778"/>
                </a:solidFill>
                <a:latin typeface="Calibri"/>
              </a:defRPr>
            </a:pPr>
            <a:r>
              <a:t>CONCLUSION</a:t>
            </a:r>
          </a:p>
        </p:txBody>
      </p:sp>
      <p:sp>
        <p:nvSpPr>
          <p:cNvPr id="6" name="Rectangle 5"/>
          <p:cNvSpPr/>
          <p:nvPr/>
        </p:nvSpPr>
        <p:spPr>
          <a:xfrm>
            <a:off x="731520" y="1353312"/>
            <a:ext cx="10728655" cy="12700"/>
          </a:xfrm>
          <a:prstGeom prst="rect">
            <a:avLst/>
          </a:prstGeom>
          <a:solidFill>
            <a:srgbClr val="2E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8686800" cy="274320"/>
          </a:xfrm>
          <a:prstGeom prst="rect">
            <a:avLst/>
          </a:prstGeom>
          <a:noFill/>
        </p:spPr>
        <p:txBody>
          <a:bodyPr wrap="none" lIns="0" tIns="0" rIns="0" bIns="0">
            <a:spAutoFit/>
          </a:bodyPr>
          <a:lstStyle/>
          <a:p>
            <a:pPr>
              <a:defRPr sz="850">
                <a:solidFill>
                  <a:srgbClr val="737A87"/>
                </a:solidFill>
                <a:latin typeface="Calibri"/>
              </a:defRPr>
            </a:pPr>
            <a:r>
              <a:t>Harini Desharaj | 25WU0102093 | AIML Leopards 2025–29 | Advisor: Prof. Sahithi | Woxsen University</a:t>
            </a:r>
          </a:p>
        </p:txBody>
      </p:sp>
      <p:sp>
        <p:nvSpPr>
          <p:cNvPr id="9" name="Rounded Rectangle 8"/>
          <p:cNvSpPr/>
          <p:nvPr/>
        </p:nvSpPr>
        <p:spPr>
          <a:xfrm>
            <a:off x="731520" y="1645920"/>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56412" y="1510411"/>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6592" y="2523744"/>
            <a:ext cx="2962656" cy="2262158"/>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Deliverables Accomplished</a:t>
            </a:r>
          </a:p>
          <a:p>
            <a:pPr>
              <a:spcAft>
                <a:spcPts val="400"/>
              </a:spcAft>
            </a:pPr>
            <a:r>
              <a:rPr sz="1100" b="1" dirty="0">
                <a:solidFill>
                  <a:srgbClr val="FFFFFF"/>
                </a:solidFill>
                <a:latin typeface="Calibri"/>
              </a:rPr>
              <a:t>• Review 1: </a:t>
            </a:r>
            <a:r>
              <a:rPr sz="1100" dirty="0">
                <a:solidFill>
                  <a:srgbClr val="A5ACB9"/>
                </a:solidFill>
                <a:latin typeface="Calibri"/>
              </a:rPr>
              <a:t>Complete SRS, user roles, 12-entity ER Diagram, and initial relational schema.</a:t>
            </a:r>
          </a:p>
          <a:p>
            <a:pPr>
              <a:spcAft>
                <a:spcPts val="400"/>
              </a:spcAft>
            </a:pPr>
            <a:r>
              <a:rPr sz="1100" b="1" dirty="0">
                <a:solidFill>
                  <a:srgbClr val="FFFFFF"/>
                </a:solidFill>
                <a:latin typeface="Calibri"/>
              </a:rPr>
              <a:t>• Review 2: </a:t>
            </a:r>
            <a:r>
              <a:rPr sz="1100" dirty="0">
                <a:solidFill>
                  <a:srgbClr val="A5ACB9"/>
                </a:solidFill>
                <a:latin typeface="Calibri"/>
              </a:rPr>
              <a:t>Formal FDs, 3NF normalization, concise data dictionary, 5 integrity rules, and advanced SQL suite.</a:t>
            </a:r>
          </a:p>
          <a:p>
            <a:pPr>
              <a:spcAft>
                <a:spcPts val="400"/>
              </a:spcAft>
            </a:pPr>
            <a:r>
              <a:rPr sz="1100" b="1" dirty="0">
                <a:solidFill>
                  <a:srgbClr val="FFFFFF"/>
                </a:solidFill>
                <a:latin typeface="Calibri"/>
              </a:rPr>
              <a:t>• Review 3: </a:t>
            </a:r>
            <a:r>
              <a:rPr sz="1100" dirty="0">
                <a:solidFill>
                  <a:srgbClr val="A5ACB9"/>
                </a:solidFill>
                <a:latin typeface="Calibri"/>
              </a:rPr>
              <a:t>Full-stack Python CRUD application, ACID transaction handling, and comprehensive system testing.</a:t>
            </a:r>
          </a:p>
          <a:p>
            <a:pPr>
              <a:spcAft>
                <a:spcPts val="400"/>
              </a:spcAft>
            </a:pPr>
            <a:r>
              <a:rPr sz="1100" b="1" dirty="0">
                <a:solidFill>
                  <a:srgbClr val="FFFFFF"/>
                </a:solidFill>
                <a:latin typeface="Calibri"/>
              </a:rPr>
              <a:t>• Impact: </a:t>
            </a:r>
            <a:r>
              <a:rPr sz="1100" dirty="0">
                <a:solidFill>
                  <a:srgbClr val="A5ACB9"/>
                </a:solidFill>
                <a:latin typeface="Calibri"/>
              </a:rPr>
              <a:t>Eliminated paperwork delays, prevented overlapping enrollments, and secured digital certificates.</a:t>
            </a:r>
          </a:p>
        </p:txBody>
      </p:sp>
      <p:sp>
        <p:nvSpPr>
          <p:cNvPr id="12" name="Rounded Rectangle 11"/>
          <p:cNvSpPr/>
          <p:nvPr/>
        </p:nvSpPr>
        <p:spPr>
          <a:xfrm>
            <a:off x="4425696" y="1645920"/>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07239" y="1517142"/>
            <a:ext cx="3303016" cy="38100"/>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93920" y="2523744"/>
            <a:ext cx="2962656" cy="2431435"/>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Future Roadmap</a:t>
            </a:r>
          </a:p>
          <a:p>
            <a:pPr>
              <a:spcAft>
                <a:spcPts val="400"/>
              </a:spcAft>
            </a:pPr>
            <a:r>
              <a:rPr sz="1100" b="1" dirty="0">
                <a:solidFill>
                  <a:srgbClr val="FFFFFF"/>
                </a:solidFill>
                <a:latin typeface="Calibri"/>
              </a:rPr>
              <a:t>• Mobile App Support: </a:t>
            </a:r>
            <a:r>
              <a:rPr sz="1100" dirty="0">
                <a:solidFill>
                  <a:srgbClr val="A5ACB9"/>
                </a:solidFill>
                <a:latin typeface="Calibri"/>
              </a:rPr>
              <a:t>Native Flutter / React Native client for instant student and mentor push notifications.</a:t>
            </a:r>
          </a:p>
          <a:p>
            <a:pPr>
              <a:spcAft>
                <a:spcPts val="400"/>
              </a:spcAft>
            </a:pPr>
            <a:r>
              <a:rPr sz="1100" b="1" dirty="0">
                <a:solidFill>
                  <a:srgbClr val="FFFFFF"/>
                </a:solidFill>
                <a:latin typeface="Calibri"/>
              </a:rPr>
              <a:t>• AI Resume Matching: </a:t>
            </a:r>
            <a:r>
              <a:rPr sz="1100" dirty="0">
                <a:solidFill>
                  <a:srgbClr val="A5ACB9"/>
                </a:solidFill>
                <a:latin typeface="Calibri"/>
              </a:rPr>
              <a:t>Vector search matching student skillsets with recruiter opportunity requirements.</a:t>
            </a:r>
          </a:p>
          <a:p>
            <a:pPr>
              <a:spcAft>
                <a:spcPts val="400"/>
              </a:spcAft>
            </a:pPr>
            <a:r>
              <a:rPr sz="1100" b="1" dirty="0">
                <a:solidFill>
                  <a:srgbClr val="FFFFFF"/>
                </a:solidFill>
                <a:latin typeface="Calibri"/>
              </a:rPr>
              <a:t>• Automated Attendance: </a:t>
            </a:r>
            <a:r>
              <a:rPr sz="1100" dirty="0">
                <a:solidFill>
                  <a:srgbClr val="A5ACB9"/>
                </a:solidFill>
                <a:latin typeface="Calibri"/>
              </a:rPr>
              <a:t>Geofencing or biometric check-ins integrated directly into weekly progress logs.</a:t>
            </a:r>
          </a:p>
          <a:p>
            <a:pPr>
              <a:spcAft>
                <a:spcPts val="400"/>
              </a:spcAft>
            </a:pPr>
            <a:r>
              <a:rPr sz="1100" b="1" dirty="0">
                <a:solidFill>
                  <a:srgbClr val="FFFFFF"/>
                </a:solidFill>
                <a:latin typeface="Calibri"/>
              </a:rPr>
              <a:t>• Blockchain Certificates: </a:t>
            </a:r>
            <a:r>
              <a:rPr sz="1100" dirty="0">
                <a:solidFill>
                  <a:srgbClr val="A5ACB9"/>
                </a:solidFill>
                <a:latin typeface="Calibri"/>
              </a:rPr>
              <a:t>Decentralized ledger integration for immutable tamper-proof academic credentials.</a:t>
            </a:r>
          </a:p>
        </p:txBody>
      </p:sp>
      <p:sp>
        <p:nvSpPr>
          <p:cNvPr id="15" name="Rounded Rectangle 14"/>
          <p:cNvSpPr/>
          <p:nvPr/>
        </p:nvSpPr>
        <p:spPr>
          <a:xfrm>
            <a:off x="8131759" y="1679702"/>
            <a:ext cx="3328416" cy="4480560"/>
          </a:xfrm>
          <a:prstGeom prst="roundRect">
            <a:avLst/>
          </a:prstGeom>
          <a:solidFill>
            <a:srgbClr val="1C2028"/>
          </a:solidFill>
          <a:ln w="12700">
            <a:solidFill>
              <a:srgbClr val="2E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66098" y="1529461"/>
            <a:ext cx="3239855" cy="51562"/>
          </a:xfrm>
          <a:prstGeom prst="round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2523744"/>
            <a:ext cx="2962656" cy="1754326"/>
          </a:xfrm>
          <a:prstGeom prst="rect">
            <a:avLst/>
          </a:prstGeom>
          <a:noFill/>
        </p:spPr>
        <p:txBody>
          <a:bodyPr wrap="square" lIns="0" tIns="0" rIns="0" bIns="0">
            <a:spAutoFit/>
          </a:bodyPr>
          <a:lstStyle/>
          <a:p>
            <a:pPr>
              <a:spcAft>
                <a:spcPts val="600"/>
              </a:spcAft>
              <a:defRPr sz="1300" b="1">
                <a:solidFill>
                  <a:srgbClr val="FFD778"/>
                </a:solidFill>
                <a:latin typeface="Georgia"/>
              </a:defRPr>
            </a:pPr>
            <a:r>
              <a:rPr sz="1100" dirty="0"/>
              <a:t>Acknowledgments &amp; Q&amp;A</a:t>
            </a:r>
          </a:p>
          <a:p>
            <a:pPr>
              <a:spcAft>
                <a:spcPts val="400"/>
              </a:spcAft>
            </a:pPr>
            <a:r>
              <a:rPr sz="1100" b="1" dirty="0">
                <a:solidFill>
                  <a:srgbClr val="FFFFFF"/>
                </a:solidFill>
                <a:latin typeface="Calibri"/>
              </a:rPr>
              <a:t>• Academic Guide: </a:t>
            </a:r>
            <a:r>
              <a:rPr sz="1100" dirty="0">
                <a:solidFill>
                  <a:srgbClr val="A5ACB9"/>
                </a:solidFill>
                <a:latin typeface="Calibri"/>
              </a:rPr>
              <a:t>Sincere gratitude to Prof. Sahithi for continuous mentorship and invaluable guidance.</a:t>
            </a:r>
          </a:p>
          <a:p>
            <a:pPr>
              <a:spcAft>
                <a:spcPts val="400"/>
              </a:spcAft>
            </a:pPr>
            <a:r>
              <a:rPr sz="1100" b="1" dirty="0">
                <a:solidFill>
                  <a:srgbClr val="FFFFFF"/>
                </a:solidFill>
                <a:latin typeface="Calibri"/>
              </a:rPr>
              <a:t>• Department: </a:t>
            </a:r>
            <a:r>
              <a:rPr sz="1100" dirty="0">
                <a:solidFill>
                  <a:srgbClr val="A5ACB9"/>
                </a:solidFill>
                <a:latin typeface="Calibri"/>
              </a:rPr>
              <a:t>School of Technology (SOT), Woxsen University, </a:t>
            </a:r>
            <a:r>
              <a:rPr sz="1100" dirty="0" err="1">
                <a:solidFill>
                  <a:srgbClr val="A5ACB9"/>
                </a:solidFill>
                <a:latin typeface="Calibri"/>
              </a:rPr>
              <a:t>Kamkole</a:t>
            </a:r>
            <a:r>
              <a:rPr sz="1100" dirty="0">
                <a:solidFill>
                  <a:srgbClr val="A5ACB9"/>
                </a:solidFill>
                <a:latin typeface="Calibri"/>
              </a:rPr>
              <a:t>.</a:t>
            </a:r>
          </a:p>
          <a:p>
            <a:pPr>
              <a:spcAft>
                <a:spcPts val="400"/>
              </a:spcAft>
            </a:pPr>
            <a:r>
              <a:rPr sz="1100" b="1" dirty="0">
                <a:solidFill>
                  <a:srgbClr val="FFFFFF"/>
                </a:solidFill>
                <a:latin typeface="Calibri"/>
              </a:rPr>
              <a:t>• Candidate: </a:t>
            </a:r>
            <a:r>
              <a:rPr sz="1100" dirty="0">
                <a:solidFill>
                  <a:srgbClr val="A5ACB9"/>
                </a:solidFill>
                <a:latin typeface="Calibri"/>
              </a:rPr>
              <a:t>Harini Desharaj (Roll No: 25WU0102093 | AIML Leopards).</a:t>
            </a:r>
          </a:p>
          <a:p>
            <a:pPr>
              <a:spcAft>
                <a:spcPts val="400"/>
              </a:spcAft>
            </a:pPr>
            <a:r>
              <a:rPr sz="1100" b="1" dirty="0">
                <a:solidFill>
                  <a:srgbClr val="FFFFFF"/>
                </a:solidFill>
                <a:latin typeface="Calibri"/>
              </a:rPr>
              <a:t>• Interactive Defense: </a:t>
            </a:r>
            <a:r>
              <a:rPr sz="1100" dirty="0">
                <a:solidFill>
                  <a:srgbClr val="A5ACB9"/>
                </a:solidFill>
                <a:latin typeface="Calibri"/>
              </a:rPr>
              <a:t>Open to questions and feedback from the distinguished evaluation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TotalTime>
  <Words>5626</Words>
  <Application>Microsoft Office PowerPoint</Application>
  <PresentationFormat>Widescreen</PresentationFormat>
  <Paragraphs>709</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Harini Desharaj</dc:creator>
  <cp:keywords/>
  <dc:description>generated using python-pptx</dc:description>
  <cp:lastModifiedBy>VAMSI KRISHNA DESHARAJ</cp:lastModifiedBy>
  <cp:revision>9</cp:revision>
  <dcterms:created xsi:type="dcterms:W3CDTF">2013-01-27T09:14:16Z</dcterms:created>
  <dcterms:modified xsi:type="dcterms:W3CDTF">2026-10-13T10:53:57Z</dcterms:modified>
  <cp:category/>
</cp:coreProperties>
</file>